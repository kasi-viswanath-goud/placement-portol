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D4ED8"/>
          </a:solidFill>
          <a:ln/>
        </p:spPr>
      </p:sp>
      <p:sp>
        <p:nvSpPr>
          <p:cNvPr id="3" name="Shape 1"/>
          <p:cNvSpPr/>
          <p:nvPr/>
        </p:nvSpPr>
        <p:spPr>
          <a:xfrm>
            <a:off x="0" y="91440"/>
            <a:ext cx="5943600" cy="27432"/>
          </a:xfrm>
          <a:prstGeom prst="rect">
            <a:avLst/>
          </a:prstGeom>
          <a:solidFill>
            <a:srgbClr val="7C3AED"/>
          </a:solidFill>
          <a:ln/>
        </p:spPr>
      </p:sp>
      <p:sp>
        <p:nvSpPr>
          <p:cNvPr id="4" name="Shape 2"/>
          <p:cNvSpPr/>
          <p:nvPr/>
        </p:nvSpPr>
        <p:spPr>
          <a:xfrm>
            <a:off x="0" y="0"/>
            <a:ext cx="109728" cy="6858000"/>
          </a:xfrm>
          <a:prstGeom prst="rect">
            <a:avLst/>
          </a:prstGeom>
          <a:solidFill>
            <a:srgbClr val="1D4ED8"/>
          </a:solidFill>
          <a:ln/>
        </p:spPr>
      </p:sp>
      <p:sp>
        <p:nvSpPr>
          <p:cNvPr id="5" name="Shape 3"/>
          <p:cNvSpPr/>
          <p:nvPr/>
        </p:nvSpPr>
        <p:spPr>
          <a:xfrm>
            <a:off x="731520" y="548640"/>
            <a:ext cx="3474720" cy="384048"/>
          </a:xfrm>
          <a:prstGeom prst="roundRect">
            <a:avLst>
              <a:gd name="adj" fmla="val 14286"/>
            </a:avLst>
          </a:prstGeom>
          <a:solidFill>
            <a:srgbClr val="EFF6FF"/>
          </a:solidFill>
          <a:ln w="15240">
            <a:solidFill>
              <a:srgbClr val="1D4ED8"/>
            </a:solidFill>
            <a:prstDash val="solid"/>
          </a:ln>
        </p:spPr>
      </p:sp>
      <p:sp>
        <p:nvSpPr>
          <p:cNvPr id="6" name="Text 4"/>
          <p:cNvSpPr/>
          <p:nvPr/>
        </p:nvSpPr>
        <p:spPr>
          <a:xfrm>
            <a:off x="731520" y="548640"/>
            <a:ext cx="3474720" cy="384048"/>
          </a:xfrm>
          <a:prstGeom prst="rect">
            <a:avLst/>
          </a:prstGeom>
          <a:noFill/>
          <a:ln/>
        </p:spPr>
        <p:txBody>
          <a:bodyPr wrap="square" rtlCol="0" anchor="ctr"/>
          <a:lstStyle/>
          <a:p>
            <a:pPr algn="ctr" indent="0" marL="0">
              <a:buNone/>
            </a:pPr>
            <a:r>
              <a:rPr lang="en-US" sz="1000" b="1" spc="150" kern="0" dirty="0">
                <a:solidFill>
                  <a:srgbClr val="1D4ED8"/>
                </a:solidFill>
                <a:latin typeface="Calibri" pitchFamily="34" charset="0"/>
                <a:ea typeface="Calibri" pitchFamily="34" charset="-122"/>
                <a:cs typeface="Calibri" pitchFamily="34" charset="-120"/>
              </a:rPr>
              <a:t>ALTS | CAMPUS PLACEMENT PORTAL</a:t>
            </a:r>
            <a:endParaRPr lang="en-US" sz="1000" dirty="0"/>
          </a:p>
        </p:txBody>
      </p:sp>
      <p:sp>
        <p:nvSpPr>
          <p:cNvPr id="7" name="Text 5"/>
          <p:cNvSpPr/>
          <p:nvPr/>
        </p:nvSpPr>
        <p:spPr>
          <a:xfrm>
            <a:off x="731520" y="1097280"/>
            <a:ext cx="10515600" cy="1417320"/>
          </a:xfrm>
          <a:prstGeom prst="rect">
            <a:avLst/>
          </a:prstGeom>
          <a:noFill/>
          <a:ln/>
        </p:spPr>
        <p:txBody>
          <a:bodyPr wrap="square" rtlCol="0" anchor="ctr"/>
          <a:lstStyle/>
          <a:p>
            <a:pPr indent="0" marL="0">
              <a:lnSpc>
                <a:spcPct val="115000"/>
              </a:lnSpc>
              <a:buNone/>
            </a:pPr>
            <a:r>
              <a:rPr lang="en-US" sz="3800" b="1" dirty="0">
                <a:solidFill>
                  <a:srgbClr val="0F172A"/>
                </a:solidFill>
                <a:latin typeface="Calibri" pitchFamily="34" charset="0"/>
                <a:ea typeface="Calibri" pitchFamily="34" charset="-122"/>
                <a:cs typeface="Calibri" pitchFamily="34" charset="-120"/>
              </a:rPr>
              <a:t>ALTS: AI-Powered Campus</a:t>
            </a:r>
            <a:endParaRPr lang="en-US" sz="3800" dirty="0"/>
          </a:p>
          <a:p>
            <a:pPr indent="0" marL="0">
              <a:lnSpc>
                <a:spcPct val="115000"/>
              </a:lnSpc>
              <a:buNone/>
            </a:pPr>
            <a:r>
              <a:rPr lang="en-US" sz="3800" b="1" dirty="0">
                <a:solidFill>
                  <a:srgbClr val="0F172A"/>
                </a:solidFill>
                <a:latin typeface="Calibri" pitchFamily="34" charset="0"/>
                <a:ea typeface="Calibri" pitchFamily="34" charset="-122"/>
                <a:cs typeface="Calibri" pitchFamily="34" charset="-120"/>
              </a:rPr>
              <a:t>Placement Portal</a:t>
            </a:r>
            <a:endParaRPr lang="en-US" sz="3800" dirty="0"/>
          </a:p>
        </p:txBody>
      </p:sp>
      <p:sp>
        <p:nvSpPr>
          <p:cNvPr id="8" name="Text 6"/>
          <p:cNvSpPr/>
          <p:nvPr/>
        </p:nvSpPr>
        <p:spPr>
          <a:xfrm>
            <a:off x="731520" y="2606040"/>
            <a:ext cx="10515600" cy="731520"/>
          </a:xfrm>
          <a:prstGeom prst="rect">
            <a:avLst/>
          </a:prstGeom>
          <a:noFill/>
          <a:ln/>
        </p:spPr>
        <p:txBody>
          <a:bodyPr wrap="square" rtlCol="0" anchor="ctr"/>
          <a:lstStyle/>
          <a:p>
            <a:pPr indent="0" marL="0">
              <a:lnSpc>
                <a:spcPct val="130000"/>
              </a:lnSpc>
              <a:buNone/>
            </a:pPr>
            <a:r>
              <a:rPr lang="en-US" sz="1450" dirty="0">
                <a:solidFill>
                  <a:srgbClr val="334155"/>
                </a:solidFill>
                <a:latin typeface="Calibri" pitchFamily="34" charset="0"/>
                <a:ea typeface="Calibri" pitchFamily="34" charset="-122"/>
                <a:cs typeface="Calibri" pitchFamily="34" charset="-120"/>
              </a:rPr>
              <a:t>A Full-Stack MERN Application Featuring Intelligent Resume Matching,</a:t>
            </a:r>
            <a:endParaRPr lang="en-US" sz="1450" dirty="0"/>
          </a:p>
          <a:p>
            <a:pPr indent="0" marL="0">
              <a:lnSpc>
                <a:spcPct val="130000"/>
              </a:lnSpc>
              <a:buNone/>
            </a:pPr>
            <a:r>
              <a:rPr lang="en-US" sz="1450" dirty="0">
                <a:solidFill>
                  <a:srgbClr val="334155"/>
                </a:solidFill>
                <a:latin typeface="Calibri" pitchFamily="34" charset="0"/>
                <a:ea typeface="Calibri" pitchFamily="34" charset="-122"/>
                <a:cs typeface="Calibri" pitchFamily="34" charset="-120"/>
              </a:rPr>
              <a:t>Automated SMTP Email Workflows &amp; Interactive Placement Analytics</a:t>
            </a:r>
            <a:endParaRPr lang="en-US" sz="1450" dirty="0"/>
          </a:p>
        </p:txBody>
      </p:sp>
      <p:sp>
        <p:nvSpPr>
          <p:cNvPr id="9" name="Shape 7"/>
          <p:cNvSpPr/>
          <p:nvPr/>
        </p:nvSpPr>
        <p:spPr>
          <a:xfrm>
            <a:off x="731520" y="3520440"/>
            <a:ext cx="10515600" cy="16459"/>
          </a:xfrm>
          <a:prstGeom prst="rect">
            <a:avLst/>
          </a:prstGeom>
          <a:solidFill>
            <a:srgbClr val="E2E8F0"/>
          </a:solidFill>
          <a:ln/>
        </p:spPr>
      </p:sp>
      <p:sp>
        <p:nvSpPr>
          <p:cNvPr id="10" name="Shape 8"/>
          <p:cNvSpPr/>
          <p:nvPr/>
        </p:nvSpPr>
        <p:spPr>
          <a:xfrm>
            <a:off x="731520" y="3520440"/>
            <a:ext cx="2560320" cy="22860"/>
          </a:xfrm>
          <a:prstGeom prst="rect">
            <a:avLst/>
          </a:prstGeom>
          <a:solidFill>
            <a:srgbClr val="1D4ED8"/>
          </a:solidFill>
          <a:ln/>
        </p:spPr>
      </p:sp>
      <p:sp>
        <p:nvSpPr>
          <p:cNvPr id="11" name="Shape 9"/>
          <p:cNvSpPr/>
          <p:nvPr/>
        </p:nvSpPr>
        <p:spPr>
          <a:xfrm>
            <a:off x="731520" y="3749040"/>
            <a:ext cx="5120640" cy="2103120"/>
          </a:xfrm>
          <a:prstGeom prst="roundRect">
            <a:avLst>
              <a:gd name="adj" fmla="val 2609"/>
            </a:avLst>
          </a:prstGeom>
          <a:solidFill>
            <a:srgbClr val="F8FAFC"/>
          </a:solidFill>
          <a:ln w="12700">
            <a:solidFill>
              <a:srgbClr val="E2E8F0"/>
            </a:solidFill>
            <a:prstDash val="solid"/>
          </a:ln>
        </p:spPr>
      </p:sp>
      <p:sp>
        <p:nvSpPr>
          <p:cNvPr id="12" name="Shape 10"/>
          <p:cNvSpPr/>
          <p:nvPr/>
        </p:nvSpPr>
        <p:spPr>
          <a:xfrm>
            <a:off x="960120" y="3886200"/>
            <a:ext cx="1828800" cy="256032"/>
          </a:xfrm>
          <a:prstGeom prst="roundRect">
            <a:avLst>
              <a:gd name="adj" fmla="val 14286"/>
            </a:avLst>
          </a:prstGeom>
          <a:solidFill>
            <a:srgbClr val="DBEAFE"/>
          </a:solidFill>
          <a:ln w="7620">
            <a:solidFill>
              <a:srgbClr val="1D4ED8"/>
            </a:solidFill>
            <a:prstDash val="solid"/>
          </a:ln>
        </p:spPr>
      </p:sp>
      <p:sp>
        <p:nvSpPr>
          <p:cNvPr id="13" name="Text 11"/>
          <p:cNvSpPr/>
          <p:nvPr/>
        </p:nvSpPr>
        <p:spPr>
          <a:xfrm>
            <a:off x="960120" y="3886200"/>
            <a:ext cx="1828800" cy="256032"/>
          </a:xfrm>
          <a:prstGeom prst="rect">
            <a:avLst/>
          </a:prstGeom>
          <a:noFill/>
          <a:ln/>
        </p:spPr>
        <p:txBody>
          <a:bodyPr wrap="square" rtlCol="0" anchor="ctr"/>
          <a:lstStyle/>
          <a:p>
            <a:pPr algn="ctr" indent="0" marL="0">
              <a:buNone/>
            </a:pPr>
            <a:r>
              <a:rPr lang="en-US" sz="850" b="1" spc="200" kern="0" dirty="0">
                <a:solidFill>
                  <a:srgbClr val="1D4ED8"/>
                </a:solidFill>
                <a:latin typeface="Calibri" pitchFamily="34" charset="0"/>
                <a:ea typeface="Calibri" pitchFamily="34" charset="-122"/>
                <a:cs typeface="Calibri" pitchFamily="34" charset="-120"/>
              </a:rPr>
              <a:t>PROJECT TEAM</a:t>
            </a:r>
            <a:endParaRPr lang="en-US" sz="850" dirty="0"/>
          </a:p>
        </p:txBody>
      </p:sp>
      <p:sp>
        <p:nvSpPr>
          <p:cNvPr id="14" name="Text 12"/>
          <p:cNvSpPr/>
          <p:nvPr/>
        </p:nvSpPr>
        <p:spPr>
          <a:xfrm>
            <a:off x="960120" y="4251960"/>
            <a:ext cx="4663440" cy="1463040"/>
          </a:xfrm>
          <a:prstGeom prst="rect">
            <a:avLst/>
          </a:prstGeom>
          <a:noFill/>
          <a:ln/>
        </p:spPr>
        <p:txBody>
          <a:bodyPr wrap="square" rtlCol="0" anchor="ctr"/>
          <a:lstStyle/>
          <a:p>
            <a:pPr indent="0" marL="0">
              <a:lnSpc>
                <a:spcPct val="145000"/>
              </a:lnSpc>
              <a:buNone/>
            </a:pPr>
            <a:r>
              <a:rPr lang="en-US" sz="1250" dirty="0">
                <a:solidFill>
                  <a:srgbClr val="334155"/>
                </a:solidFill>
                <a:latin typeface="Calibri" pitchFamily="34" charset="0"/>
                <a:ea typeface="Calibri" pitchFamily="34" charset="-122"/>
                <a:cs typeface="Calibri" pitchFamily="34" charset="-120"/>
              </a:rPr>
              <a:t>1. [Student Name 1]  (Roll No: XXXXXX)</a:t>
            </a:r>
            <a:endParaRPr lang="en-US" sz="1250" dirty="0"/>
          </a:p>
          <a:p>
            <a:pPr indent="0" marL="0">
              <a:lnSpc>
                <a:spcPct val="145000"/>
              </a:lnSpc>
              <a:buNone/>
            </a:pPr>
            <a:r>
              <a:rPr lang="en-US" sz="1250" dirty="0">
                <a:solidFill>
                  <a:srgbClr val="334155"/>
                </a:solidFill>
                <a:latin typeface="Calibri" pitchFamily="34" charset="0"/>
                <a:ea typeface="Calibri" pitchFamily="34" charset="-122"/>
                <a:cs typeface="Calibri" pitchFamily="34" charset="-120"/>
              </a:rPr>
              <a:t>2. [Student Name 2]  (Roll No: XXXXXX)</a:t>
            </a:r>
            <a:endParaRPr lang="en-US" sz="1250" dirty="0"/>
          </a:p>
          <a:p>
            <a:pPr indent="0" marL="0">
              <a:lnSpc>
                <a:spcPct val="145000"/>
              </a:lnSpc>
              <a:buNone/>
            </a:pPr>
            <a:r>
              <a:rPr lang="en-US" sz="1250" dirty="0">
                <a:solidFill>
                  <a:srgbClr val="334155"/>
                </a:solidFill>
                <a:latin typeface="Calibri" pitchFamily="34" charset="0"/>
                <a:ea typeface="Calibri" pitchFamily="34" charset="-122"/>
                <a:cs typeface="Calibri" pitchFamily="34" charset="-120"/>
              </a:rPr>
              <a:t>3. [Student Name 3]  (Roll No: XXXXXX)</a:t>
            </a:r>
            <a:endParaRPr lang="en-US" sz="1250" dirty="0"/>
          </a:p>
          <a:p>
            <a:pPr indent="0" marL="0">
              <a:lnSpc>
                <a:spcPct val="145000"/>
              </a:lnSpc>
              <a:buNone/>
            </a:pPr>
            <a:r>
              <a:rPr lang="en-US" sz="1250" dirty="0">
                <a:solidFill>
                  <a:srgbClr val="334155"/>
                </a:solidFill>
                <a:latin typeface="Calibri" pitchFamily="34" charset="0"/>
                <a:ea typeface="Calibri" pitchFamily="34" charset="-122"/>
                <a:cs typeface="Calibri" pitchFamily="34" charset="-120"/>
              </a:rPr>
              <a:t>4. [Student Name 4]  (Roll No: XXXXXX)</a:t>
            </a:r>
            <a:endParaRPr lang="en-US" sz="1250" dirty="0"/>
          </a:p>
        </p:txBody>
      </p:sp>
      <p:sp>
        <p:nvSpPr>
          <p:cNvPr id="15" name="Shape 13"/>
          <p:cNvSpPr/>
          <p:nvPr/>
        </p:nvSpPr>
        <p:spPr>
          <a:xfrm>
            <a:off x="6126480" y="3749040"/>
            <a:ext cx="5303520" cy="2103120"/>
          </a:xfrm>
          <a:prstGeom prst="roundRect">
            <a:avLst>
              <a:gd name="adj" fmla="val 2609"/>
            </a:avLst>
          </a:prstGeom>
          <a:solidFill>
            <a:srgbClr val="F8FAFC"/>
          </a:solidFill>
          <a:ln w="12700">
            <a:solidFill>
              <a:srgbClr val="E2E8F0"/>
            </a:solidFill>
            <a:prstDash val="solid"/>
          </a:ln>
        </p:spPr>
      </p:sp>
      <p:sp>
        <p:nvSpPr>
          <p:cNvPr id="16" name="Shape 14"/>
          <p:cNvSpPr/>
          <p:nvPr/>
        </p:nvSpPr>
        <p:spPr>
          <a:xfrm>
            <a:off x="6355080" y="3886200"/>
            <a:ext cx="2011680" cy="256032"/>
          </a:xfrm>
          <a:prstGeom prst="roundRect">
            <a:avLst>
              <a:gd name="adj" fmla="val 14286"/>
            </a:avLst>
          </a:prstGeom>
          <a:solidFill>
            <a:srgbClr val="EDE9FE"/>
          </a:solidFill>
          <a:ln w="7620">
            <a:solidFill>
              <a:srgbClr val="7C3AED"/>
            </a:solidFill>
            <a:prstDash val="solid"/>
          </a:ln>
        </p:spPr>
      </p:sp>
      <p:sp>
        <p:nvSpPr>
          <p:cNvPr id="17" name="Text 15"/>
          <p:cNvSpPr/>
          <p:nvPr/>
        </p:nvSpPr>
        <p:spPr>
          <a:xfrm>
            <a:off x="6355080" y="3886200"/>
            <a:ext cx="2011680" cy="256032"/>
          </a:xfrm>
          <a:prstGeom prst="rect">
            <a:avLst/>
          </a:prstGeom>
          <a:noFill/>
          <a:ln/>
        </p:spPr>
        <p:txBody>
          <a:bodyPr wrap="square" rtlCol="0" anchor="ctr"/>
          <a:lstStyle/>
          <a:p>
            <a:pPr algn="ctr" indent="0" marL="0">
              <a:buNone/>
            </a:pPr>
            <a:r>
              <a:rPr lang="en-US" sz="850" b="1" spc="200" kern="0" dirty="0">
                <a:solidFill>
                  <a:srgbClr val="7C3AED"/>
                </a:solidFill>
                <a:latin typeface="Calibri" pitchFamily="34" charset="0"/>
                <a:ea typeface="Calibri" pitchFamily="34" charset="-122"/>
                <a:cs typeface="Calibri" pitchFamily="34" charset="-120"/>
              </a:rPr>
              <a:t>FACULTY GUIDE</a:t>
            </a:r>
            <a:endParaRPr lang="en-US" sz="850" dirty="0"/>
          </a:p>
        </p:txBody>
      </p:sp>
      <p:sp>
        <p:nvSpPr>
          <p:cNvPr id="18" name="Text 16"/>
          <p:cNvSpPr/>
          <p:nvPr/>
        </p:nvSpPr>
        <p:spPr>
          <a:xfrm>
            <a:off x="6355080" y="4206240"/>
            <a:ext cx="4846320" cy="502920"/>
          </a:xfrm>
          <a:prstGeom prst="rect">
            <a:avLst/>
          </a:prstGeom>
          <a:noFill/>
          <a:ln/>
        </p:spPr>
        <p:txBody>
          <a:bodyPr wrap="square" rtlCol="0" anchor="ctr"/>
          <a:lstStyle/>
          <a:p>
            <a:pPr indent="0" marL="0">
              <a:lnSpc>
                <a:spcPct val="130000"/>
              </a:lnSpc>
              <a:buNone/>
            </a:pPr>
            <a:r>
              <a:rPr lang="en-US" sz="1250" b="1" dirty="0">
                <a:solidFill>
                  <a:srgbClr val="0F172A"/>
                </a:solidFill>
                <a:latin typeface="Calibri" pitchFamily="34" charset="0"/>
                <a:ea typeface="Calibri" pitchFamily="34" charset="-122"/>
                <a:cs typeface="Calibri" pitchFamily="34" charset="-120"/>
              </a:rPr>
              <a:t>[Supervisor Name]</a:t>
            </a:r>
            <a:endParaRPr lang="en-US" sz="1250" dirty="0"/>
          </a:p>
          <a:p>
            <a:pPr indent="0" marL="0">
              <a:lnSpc>
                <a:spcPct val="130000"/>
              </a:lnSpc>
              <a:buNone/>
            </a:pPr>
            <a:r>
              <a:rPr lang="en-US" sz="1250" b="1" dirty="0">
                <a:solidFill>
                  <a:srgbClr val="0F172A"/>
                </a:solidFill>
                <a:latin typeface="Calibri" pitchFamily="34" charset="0"/>
                <a:ea typeface="Calibri" pitchFamily="34" charset="-122"/>
                <a:cs typeface="Calibri" pitchFamily="34" charset="-120"/>
              </a:rPr>
              <a:t>[Designation, Department of CSE]</a:t>
            </a:r>
            <a:endParaRPr lang="en-US" sz="1250" dirty="0"/>
          </a:p>
        </p:txBody>
      </p:sp>
      <p:sp>
        <p:nvSpPr>
          <p:cNvPr id="19" name="Shape 17"/>
          <p:cNvSpPr/>
          <p:nvPr/>
        </p:nvSpPr>
        <p:spPr>
          <a:xfrm>
            <a:off x="6355080" y="4846320"/>
            <a:ext cx="2377440" cy="256032"/>
          </a:xfrm>
          <a:prstGeom prst="roundRect">
            <a:avLst>
              <a:gd name="adj" fmla="val 14286"/>
            </a:avLst>
          </a:prstGeom>
          <a:solidFill>
            <a:srgbClr val="CCFBF1"/>
          </a:solidFill>
          <a:ln w="7620">
            <a:solidFill>
              <a:srgbClr val="0D9488"/>
            </a:solidFill>
            <a:prstDash val="solid"/>
          </a:ln>
        </p:spPr>
      </p:sp>
      <p:sp>
        <p:nvSpPr>
          <p:cNvPr id="20" name="Text 18"/>
          <p:cNvSpPr/>
          <p:nvPr/>
        </p:nvSpPr>
        <p:spPr>
          <a:xfrm>
            <a:off x="6355080" y="4846320"/>
            <a:ext cx="2377440" cy="256032"/>
          </a:xfrm>
          <a:prstGeom prst="rect">
            <a:avLst/>
          </a:prstGeom>
          <a:noFill/>
          <a:ln/>
        </p:spPr>
        <p:txBody>
          <a:bodyPr wrap="square" rtlCol="0" anchor="ctr"/>
          <a:lstStyle/>
          <a:p>
            <a:pPr algn="ctr" indent="0" marL="0">
              <a:buNone/>
            </a:pPr>
            <a:r>
              <a:rPr lang="en-US" sz="850" b="1" spc="200" kern="0" dirty="0">
                <a:solidFill>
                  <a:srgbClr val="0D9488"/>
                </a:solidFill>
                <a:latin typeface="Calibri" pitchFamily="34" charset="0"/>
                <a:ea typeface="Calibri" pitchFamily="34" charset="-122"/>
                <a:cs typeface="Calibri" pitchFamily="34" charset="-120"/>
              </a:rPr>
              <a:t>INSTITUTION / COLLEGE</a:t>
            </a:r>
            <a:endParaRPr lang="en-US" sz="850" dirty="0"/>
          </a:p>
        </p:txBody>
      </p:sp>
      <p:sp>
        <p:nvSpPr>
          <p:cNvPr id="21" name="Text 19"/>
          <p:cNvSpPr/>
          <p:nvPr/>
        </p:nvSpPr>
        <p:spPr>
          <a:xfrm>
            <a:off x="6355080" y="5166360"/>
            <a:ext cx="4846320" cy="548640"/>
          </a:xfrm>
          <a:prstGeom prst="rect">
            <a:avLst/>
          </a:prstGeom>
          <a:noFill/>
          <a:ln/>
        </p:spPr>
        <p:txBody>
          <a:bodyPr wrap="square" rtlCol="0" anchor="ctr"/>
          <a:lstStyle/>
          <a:p>
            <a:pPr indent="0" marL="0">
              <a:lnSpc>
                <a:spcPct val="130000"/>
              </a:lnSpc>
              <a:buNone/>
            </a:pPr>
            <a:r>
              <a:rPr lang="en-US" sz="1300" b="1" dirty="0">
                <a:solidFill>
                  <a:srgbClr val="1D4ED8"/>
                </a:solidFill>
                <a:latin typeface="Calibri" pitchFamily="34" charset="0"/>
                <a:ea typeface="Calibri" pitchFamily="34" charset="-122"/>
                <a:cs typeface="Calibri" pitchFamily="34" charset="-120"/>
              </a:rPr>
              <a:t>Department of Computer Science &amp; Engineering</a:t>
            </a:r>
            <a:endParaRPr lang="en-US" sz="1300" dirty="0"/>
          </a:p>
          <a:p>
            <a:pPr indent="0" marL="0">
              <a:lnSpc>
                <a:spcPct val="130000"/>
              </a:lnSpc>
              <a:buNone/>
            </a:pPr>
            <a:r>
              <a:rPr lang="en-US" sz="1300" b="1" dirty="0">
                <a:solidFill>
                  <a:srgbClr val="1D4ED8"/>
                </a:solidFill>
                <a:latin typeface="Calibri" pitchFamily="34" charset="0"/>
                <a:ea typeface="Calibri" pitchFamily="34" charset="-122"/>
                <a:cs typeface="Calibri" pitchFamily="34" charset="-120"/>
              </a:rPr>
              <a:t>ALTS</a:t>
            </a:r>
            <a:endParaRPr lang="en-US" sz="1300" dirty="0"/>
          </a:p>
        </p:txBody>
      </p:sp>
      <p:sp>
        <p:nvSpPr>
          <p:cNvPr id="22" name="Shape 20"/>
          <p:cNvSpPr/>
          <p:nvPr/>
        </p:nvSpPr>
        <p:spPr>
          <a:xfrm>
            <a:off x="731520" y="6035040"/>
            <a:ext cx="2194560" cy="365760"/>
          </a:xfrm>
          <a:prstGeom prst="roundRect">
            <a:avLst>
              <a:gd name="adj" fmla="val 15000"/>
            </a:avLst>
          </a:prstGeom>
          <a:solidFill>
            <a:srgbClr val="E0E7FF"/>
          </a:solidFill>
          <a:ln w="10160">
            <a:solidFill>
              <a:srgbClr val="4338CA"/>
            </a:solidFill>
            <a:prstDash val="solid"/>
          </a:ln>
        </p:spPr>
      </p:sp>
      <p:sp>
        <p:nvSpPr>
          <p:cNvPr id="23" name="Text 21"/>
          <p:cNvSpPr/>
          <p:nvPr/>
        </p:nvSpPr>
        <p:spPr>
          <a:xfrm>
            <a:off x="731520" y="6035040"/>
            <a:ext cx="2194560" cy="365760"/>
          </a:xfrm>
          <a:prstGeom prst="rect">
            <a:avLst/>
          </a:prstGeom>
          <a:noFill/>
          <a:ln/>
        </p:spPr>
        <p:txBody>
          <a:bodyPr wrap="square" rtlCol="0" anchor="ctr"/>
          <a:lstStyle/>
          <a:p>
            <a:pPr algn="ctr" indent="0" marL="0">
              <a:buNone/>
            </a:pPr>
            <a:r>
              <a:rPr lang="en-US" sz="950" b="1" dirty="0">
                <a:solidFill>
                  <a:srgbClr val="4338CA"/>
                </a:solidFill>
                <a:latin typeface="Calibri" pitchFamily="34" charset="0"/>
                <a:ea typeface="Calibri" pitchFamily="34" charset="-122"/>
                <a:cs typeface="Calibri" pitchFamily="34" charset="-120"/>
              </a:rPr>
              <a:t>Academic Year 2025–2026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338CA"/>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CCFBF1"/>
          </a:solidFill>
          <a:ln w="10160">
            <a:solidFill>
              <a:srgbClr val="4338CA"/>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4338CA"/>
                </a:solidFill>
                <a:latin typeface="Calibri" pitchFamily="34" charset="0"/>
                <a:ea typeface="Calibri" pitchFamily="34" charset="-122"/>
                <a:cs typeface="Calibri" pitchFamily="34" charset="-120"/>
              </a:rPr>
              <a:t>OVERVIEW</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Agenda &amp; Presentation Roadmap</a:t>
            </a:r>
            <a:endParaRPr lang="en-US" sz="2300" dirty="0"/>
          </a:p>
        </p:txBody>
      </p:sp>
      <p:sp>
        <p:nvSpPr>
          <p:cNvPr id="8" name="Shape 6"/>
          <p:cNvSpPr/>
          <p:nvPr/>
        </p:nvSpPr>
        <p:spPr>
          <a:xfrm>
            <a:off x="731520" y="1097280"/>
            <a:ext cx="2194560" cy="32004"/>
          </a:xfrm>
          <a:prstGeom prst="rect">
            <a:avLst/>
          </a:prstGeom>
          <a:solidFill>
            <a:srgbClr val="4338CA"/>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4338CA"/>
                </a:solidFill>
                <a:latin typeface="Calibri" pitchFamily="34" charset="0"/>
                <a:ea typeface="Calibri" pitchFamily="34" charset="-122"/>
                <a:cs typeface="Calibri" pitchFamily="34" charset="-120"/>
              </a:rPr>
              <a:t>01</a:t>
            </a:r>
            <a:endParaRPr lang="en-US" sz="950" dirty="0"/>
          </a:p>
        </p:txBody>
      </p:sp>
      <p:sp>
        <p:nvSpPr>
          <p:cNvPr id="11" name="Shape 9"/>
          <p:cNvSpPr/>
          <p:nvPr/>
        </p:nvSpPr>
        <p:spPr>
          <a:xfrm>
            <a:off x="731520" y="1325880"/>
            <a:ext cx="530352" cy="329184"/>
          </a:xfrm>
          <a:prstGeom prst="roundRect">
            <a:avLst>
              <a:gd name="adj" fmla="val 11111"/>
            </a:avLst>
          </a:prstGeom>
          <a:solidFill>
            <a:srgbClr val="DBEAFE"/>
          </a:solidFill>
          <a:ln w="10160">
            <a:solidFill>
              <a:srgbClr val="1D4ED8"/>
            </a:solidFill>
            <a:prstDash val="solid"/>
          </a:ln>
        </p:spPr>
      </p:sp>
      <p:sp>
        <p:nvSpPr>
          <p:cNvPr id="12" name="Text 10"/>
          <p:cNvSpPr/>
          <p:nvPr/>
        </p:nvSpPr>
        <p:spPr>
          <a:xfrm>
            <a:off x="731520" y="1325880"/>
            <a:ext cx="530352" cy="329184"/>
          </a:xfrm>
          <a:prstGeom prst="rect">
            <a:avLst/>
          </a:prstGeom>
          <a:noFill/>
          <a:ln/>
        </p:spPr>
        <p:txBody>
          <a:bodyPr wrap="square" rtlCol="0" anchor="ctr"/>
          <a:lstStyle/>
          <a:p>
            <a:pPr algn="ctr" indent="0" marL="0">
              <a:buNone/>
            </a:pPr>
            <a:r>
              <a:rPr lang="en-US" sz="1000" b="1" dirty="0">
                <a:solidFill>
                  <a:srgbClr val="1D4ED8"/>
                </a:solidFill>
                <a:latin typeface="Calibri" pitchFamily="34" charset="0"/>
                <a:ea typeface="Calibri" pitchFamily="34" charset="-122"/>
                <a:cs typeface="Calibri" pitchFamily="34" charset="-120"/>
              </a:rPr>
              <a:t>01</a:t>
            </a:r>
            <a:endParaRPr lang="en-US" sz="1000" dirty="0"/>
          </a:p>
        </p:txBody>
      </p:sp>
      <p:sp>
        <p:nvSpPr>
          <p:cNvPr id="13" name="Text 11"/>
          <p:cNvSpPr/>
          <p:nvPr/>
        </p:nvSpPr>
        <p:spPr>
          <a:xfrm>
            <a:off x="1417320" y="1325880"/>
            <a:ext cx="9601200" cy="329184"/>
          </a:xfrm>
          <a:prstGeom prst="rect">
            <a:avLst/>
          </a:prstGeom>
          <a:noFill/>
          <a:ln/>
        </p:spPr>
        <p:txBody>
          <a:bodyPr wrap="square" rtlCol="0" anchor="ctr"/>
          <a:lstStyle/>
          <a:p>
            <a:pPr indent="0" marL="0">
              <a:buNone/>
            </a:pPr>
            <a:r>
              <a:rPr lang="en-US" sz="1350" dirty="0">
                <a:solidFill>
                  <a:srgbClr val="0F172A"/>
                </a:solidFill>
                <a:latin typeface="Calibri" pitchFamily="34" charset="0"/>
                <a:ea typeface="Calibri" pitchFamily="34" charset="-122"/>
                <a:cs typeface="Calibri" pitchFamily="34" charset="-120"/>
              </a:rPr>
              <a:t>Abstract &amp; Motivation</a:t>
            </a:r>
            <a:endParaRPr lang="en-US" sz="1350" dirty="0"/>
          </a:p>
        </p:txBody>
      </p:sp>
      <p:sp>
        <p:nvSpPr>
          <p:cNvPr id="14" name="Shape 12"/>
          <p:cNvSpPr/>
          <p:nvPr/>
        </p:nvSpPr>
        <p:spPr>
          <a:xfrm>
            <a:off x="731520" y="1755648"/>
            <a:ext cx="530352" cy="329184"/>
          </a:xfrm>
          <a:prstGeom prst="roundRect">
            <a:avLst>
              <a:gd name="adj" fmla="val 11111"/>
            </a:avLst>
          </a:prstGeom>
          <a:solidFill>
            <a:srgbClr val="FFE4E6"/>
          </a:solidFill>
          <a:ln w="10160">
            <a:solidFill>
              <a:srgbClr val="E11D48"/>
            </a:solidFill>
            <a:prstDash val="solid"/>
          </a:ln>
        </p:spPr>
      </p:sp>
      <p:sp>
        <p:nvSpPr>
          <p:cNvPr id="15" name="Text 13"/>
          <p:cNvSpPr/>
          <p:nvPr/>
        </p:nvSpPr>
        <p:spPr>
          <a:xfrm>
            <a:off x="731520" y="1755648"/>
            <a:ext cx="530352" cy="329184"/>
          </a:xfrm>
          <a:prstGeom prst="rect">
            <a:avLst/>
          </a:prstGeom>
          <a:noFill/>
          <a:ln/>
        </p:spPr>
        <p:txBody>
          <a:bodyPr wrap="square" rtlCol="0" anchor="ctr"/>
          <a:lstStyle/>
          <a:p>
            <a:pPr algn="ctr" indent="0" marL="0">
              <a:buNone/>
            </a:pPr>
            <a:r>
              <a:rPr lang="en-US" sz="1000" b="1" dirty="0">
                <a:solidFill>
                  <a:srgbClr val="E11D48"/>
                </a:solidFill>
                <a:latin typeface="Calibri" pitchFamily="34" charset="0"/>
                <a:ea typeface="Calibri" pitchFamily="34" charset="-122"/>
                <a:cs typeface="Calibri" pitchFamily="34" charset="-120"/>
              </a:rPr>
              <a:t>02</a:t>
            </a:r>
            <a:endParaRPr lang="en-US" sz="1000" dirty="0"/>
          </a:p>
        </p:txBody>
      </p:sp>
      <p:sp>
        <p:nvSpPr>
          <p:cNvPr id="16" name="Text 14"/>
          <p:cNvSpPr/>
          <p:nvPr/>
        </p:nvSpPr>
        <p:spPr>
          <a:xfrm>
            <a:off x="1417320" y="1755648"/>
            <a:ext cx="9601200" cy="329184"/>
          </a:xfrm>
          <a:prstGeom prst="rect">
            <a:avLst/>
          </a:prstGeom>
          <a:noFill/>
          <a:ln/>
        </p:spPr>
        <p:txBody>
          <a:bodyPr wrap="square" rtlCol="0" anchor="ctr"/>
          <a:lstStyle/>
          <a:p>
            <a:pPr indent="0" marL="0">
              <a:buNone/>
            </a:pPr>
            <a:r>
              <a:rPr lang="en-US" sz="1350" dirty="0">
                <a:solidFill>
                  <a:srgbClr val="0F172A"/>
                </a:solidFill>
                <a:latin typeface="Calibri" pitchFamily="34" charset="0"/>
                <a:ea typeface="Calibri" pitchFamily="34" charset="-122"/>
                <a:cs typeface="Calibri" pitchFamily="34" charset="-120"/>
              </a:rPr>
              <a:t>Problem Statement &amp; Existing Bottlenecks</a:t>
            </a:r>
            <a:endParaRPr lang="en-US" sz="1350" dirty="0"/>
          </a:p>
        </p:txBody>
      </p:sp>
      <p:sp>
        <p:nvSpPr>
          <p:cNvPr id="17" name="Shape 15"/>
          <p:cNvSpPr/>
          <p:nvPr/>
        </p:nvSpPr>
        <p:spPr>
          <a:xfrm>
            <a:off x="731520" y="2185416"/>
            <a:ext cx="530352" cy="329184"/>
          </a:xfrm>
          <a:prstGeom prst="roundRect">
            <a:avLst>
              <a:gd name="adj" fmla="val 11111"/>
            </a:avLst>
          </a:prstGeom>
          <a:solidFill>
            <a:srgbClr val="D1FAE5"/>
          </a:solidFill>
          <a:ln w="10160">
            <a:solidFill>
              <a:srgbClr val="059669"/>
            </a:solidFill>
            <a:prstDash val="solid"/>
          </a:ln>
        </p:spPr>
      </p:sp>
      <p:sp>
        <p:nvSpPr>
          <p:cNvPr id="18" name="Text 16"/>
          <p:cNvSpPr/>
          <p:nvPr/>
        </p:nvSpPr>
        <p:spPr>
          <a:xfrm>
            <a:off x="731520" y="2185416"/>
            <a:ext cx="530352" cy="329184"/>
          </a:xfrm>
          <a:prstGeom prst="rect">
            <a:avLst/>
          </a:prstGeom>
          <a:noFill/>
          <a:ln/>
        </p:spPr>
        <p:txBody>
          <a:bodyPr wrap="square" rtlCol="0" anchor="ctr"/>
          <a:lstStyle/>
          <a:p>
            <a:pPr algn="ctr" indent="0" marL="0">
              <a:buNone/>
            </a:pPr>
            <a:r>
              <a:rPr lang="en-US" sz="1000" b="1" dirty="0">
                <a:solidFill>
                  <a:srgbClr val="059669"/>
                </a:solidFill>
                <a:latin typeface="Calibri" pitchFamily="34" charset="0"/>
                <a:ea typeface="Calibri" pitchFamily="34" charset="-122"/>
                <a:cs typeface="Calibri" pitchFamily="34" charset="-120"/>
              </a:rPr>
              <a:t>03</a:t>
            </a:r>
            <a:endParaRPr lang="en-US" sz="1000" dirty="0"/>
          </a:p>
        </p:txBody>
      </p:sp>
      <p:sp>
        <p:nvSpPr>
          <p:cNvPr id="19" name="Text 17"/>
          <p:cNvSpPr/>
          <p:nvPr/>
        </p:nvSpPr>
        <p:spPr>
          <a:xfrm>
            <a:off x="1417320" y="2185416"/>
            <a:ext cx="9601200" cy="329184"/>
          </a:xfrm>
          <a:prstGeom prst="rect">
            <a:avLst/>
          </a:prstGeom>
          <a:noFill/>
          <a:ln/>
        </p:spPr>
        <p:txBody>
          <a:bodyPr wrap="square" rtlCol="0" anchor="ctr"/>
          <a:lstStyle/>
          <a:p>
            <a:pPr indent="0" marL="0">
              <a:buNone/>
            </a:pPr>
            <a:r>
              <a:rPr lang="en-US" sz="1350" dirty="0">
                <a:solidFill>
                  <a:srgbClr val="0F172A"/>
                </a:solidFill>
                <a:latin typeface="Calibri" pitchFamily="34" charset="0"/>
                <a:ea typeface="Calibri" pitchFamily="34" charset="-122"/>
                <a:cs typeface="Calibri" pitchFamily="34" charset="-120"/>
              </a:rPr>
              <a:t>Project Objectives &amp; Target Scope</a:t>
            </a:r>
            <a:endParaRPr lang="en-US" sz="1350" dirty="0"/>
          </a:p>
        </p:txBody>
      </p:sp>
      <p:sp>
        <p:nvSpPr>
          <p:cNvPr id="20" name="Shape 18"/>
          <p:cNvSpPr/>
          <p:nvPr/>
        </p:nvSpPr>
        <p:spPr>
          <a:xfrm>
            <a:off x="731520" y="2615184"/>
            <a:ext cx="530352" cy="329184"/>
          </a:xfrm>
          <a:prstGeom prst="roundRect">
            <a:avLst>
              <a:gd name="adj" fmla="val 11111"/>
            </a:avLst>
          </a:prstGeom>
          <a:solidFill>
            <a:srgbClr val="FEF3C7"/>
          </a:solidFill>
          <a:ln w="10160">
            <a:solidFill>
              <a:srgbClr val="D97706"/>
            </a:solidFill>
            <a:prstDash val="solid"/>
          </a:ln>
        </p:spPr>
      </p:sp>
      <p:sp>
        <p:nvSpPr>
          <p:cNvPr id="21" name="Text 19"/>
          <p:cNvSpPr/>
          <p:nvPr/>
        </p:nvSpPr>
        <p:spPr>
          <a:xfrm>
            <a:off x="731520" y="2615184"/>
            <a:ext cx="530352" cy="329184"/>
          </a:xfrm>
          <a:prstGeom prst="rect">
            <a:avLst/>
          </a:prstGeom>
          <a:noFill/>
          <a:ln/>
        </p:spPr>
        <p:txBody>
          <a:bodyPr wrap="square" rtlCol="0" anchor="ctr"/>
          <a:lstStyle/>
          <a:p>
            <a:pPr algn="ctr" indent="0" marL="0">
              <a:buNone/>
            </a:pPr>
            <a:r>
              <a:rPr lang="en-US" sz="1000" b="1" dirty="0">
                <a:solidFill>
                  <a:srgbClr val="D97706"/>
                </a:solidFill>
                <a:latin typeface="Calibri" pitchFamily="34" charset="0"/>
                <a:ea typeface="Calibri" pitchFamily="34" charset="-122"/>
                <a:cs typeface="Calibri" pitchFamily="34" charset="-120"/>
              </a:rPr>
              <a:t>04</a:t>
            </a:r>
            <a:endParaRPr lang="en-US" sz="1000" dirty="0"/>
          </a:p>
        </p:txBody>
      </p:sp>
      <p:sp>
        <p:nvSpPr>
          <p:cNvPr id="22" name="Text 20"/>
          <p:cNvSpPr/>
          <p:nvPr/>
        </p:nvSpPr>
        <p:spPr>
          <a:xfrm>
            <a:off x="1417320" y="2615184"/>
            <a:ext cx="9601200" cy="329184"/>
          </a:xfrm>
          <a:prstGeom prst="rect">
            <a:avLst/>
          </a:prstGeom>
          <a:noFill/>
          <a:ln/>
        </p:spPr>
        <p:txBody>
          <a:bodyPr wrap="square" rtlCol="0" anchor="ctr"/>
          <a:lstStyle/>
          <a:p>
            <a:pPr indent="0" marL="0">
              <a:buNone/>
            </a:pPr>
            <a:r>
              <a:rPr lang="en-US" sz="1350" dirty="0">
                <a:solidFill>
                  <a:srgbClr val="0F172A"/>
                </a:solidFill>
                <a:latin typeface="Calibri" pitchFamily="34" charset="0"/>
                <a:ea typeface="Calibri" pitchFamily="34" charset="-122"/>
                <a:cs typeface="Calibri" pitchFamily="34" charset="-120"/>
              </a:rPr>
              <a:t>Literature Survey / Related Work &amp; Research Gap</a:t>
            </a:r>
            <a:endParaRPr lang="en-US" sz="1350" dirty="0"/>
          </a:p>
        </p:txBody>
      </p:sp>
      <p:sp>
        <p:nvSpPr>
          <p:cNvPr id="23" name="Shape 21"/>
          <p:cNvSpPr/>
          <p:nvPr/>
        </p:nvSpPr>
        <p:spPr>
          <a:xfrm>
            <a:off x="731520" y="3044952"/>
            <a:ext cx="530352" cy="329184"/>
          </a:xfrm>
          <a:prstGeom prst="roundRect">
            <a:avLst>
              <a:gd name="adj" fmla="val 11111"/>
            </a:avLst>
          </a:prstGeom>
          <a:solidFill>
            <a:srgbClr val="CCFBF1"/>
          </a:solidFill>
          <a:ln w="10160">
            <a:solidFill>
              <a:srgbClr val="0D9488"/>
            </a:solidFill>
            <a:prstDash val="solid"/>
          </a:ln>
        </p:spPr>
      </p:sp>
      <p:sp>
        <p:nvSpPr>
          <p:cNvPr id="24" name="Text 22"/>
          <p:cNvSpPr/>
          <p:nvPr/>
        </p:nvSpPr>
        <p:spPr>
          <a:xfrm>
            <a:off x="731520" y="3044952"/>
            <a:ext cx="530352" cy="329184"/>
          </a:xfrm>
          <a:prstGeom prst="rect">
            <a:avLst/>
          </a:prstGeom>
          <a:noFill/>
          <a:ln/>
        </p:spPr>
        <p:txBody>
          <a:bodyPr wrap="square"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05</a:t>
            </a:r>
            <a:endParaRPr lang="en-US" sz="1000" dirty="0"/>
          </a:p>
        </p:txBody>
      </p:sp>
      <p:sp>
        <p:nvSpPr>
          <p:cNvPr id="25" name="Text 23"/>
          <p:cNvSpPr/>
          <p:nvPr/>
        </p:nvSpPr>
        <p:spPr>
          <a:xfrm>
            <a:off x="1417320" y="3044952"/>
            <a:ext cx="9601200" cy="329184"/>
          </a:xfrm>
          <a:prstGeom prst="rect">
            <a:avLst/>
          </a:prstGeom>
          <a:noFill/>
          <a:ln/>
        </p:spPr>
        <p:txBody>
          <a:bodyPr wrap="square" rtlCol="0" anchor="ctr"/>
          <a:lstStyle/>
          <a:p>
            <a:pPr indent="0" marL="0">
              <a:buNone/>
            </a:pPr>
            <a:r>
              <a:rPr lang="en-US" sz="1350" dirty="0">
                <a:solidFill>
                  <a:srgbClr val="0F172A"/>
                </a:solidFill>
                <a:latin typeface="Calibri" pitchFamily="34" charset="0"/>
                <a:ea typeface="Calibri" pitchFamily="34" charset="-122"/>
                <a:cs typeface="Calibri" pitchFamily="34" charset="-120"/>
              </a:rPr>
              <a:t>System Architecture &amp; Component Interaction Flowchart</a:t>
            </a:r>
            <a:endParaRPr lang="en-US" sz="1350" dirty="0"/>
          </a:p>
        </p:txBody>
      </p:sp>
      <p:sp>
        <p:nvSpPr>
          <p:cNvPr id="26" name="Shape 24"/>
          <p:cNvSpPr/>
          <p:nvPr/>
        </p:nvSpPr>
        <p:spPr>
          <a:xfrm>
            <a:off x="731520" y="3474720"/>
            <a:ext cx="530352" cy="329184"/>
          </a:xfrm>
          <a:prstGeom prst="roundRect">
            <a:avLst>
              <a:gd name="adj" fmla="val 11111"/>
            </a:avLst>
          </a:prstGeom>
          <a:solidFill>
            <a:srgbClr val="EDE9FE"/>
          </a:solidFill>
          <a:ln w="10160">
            <a:solidFill>
              <a:srgbClr val="7C3AED"/>
            </a:solidFill>
            <a:prstDash val="solid"/>
          </a:ln>
        </p:spPr>
      </p:sp>
      <p:sp>
        <p:nvSpPr>
          <p:cNvPr id="27" name="Text 25"/>
          <p:cNvSpPr/>
          <p:nvPr/>
        </p:nvSpPr>
        <p:spPr>
          <a:xfrm>
            <a:off x="731520" y="3474720"/>
            <a:ext cx="530352" cy="329184"/>
          </a:xfrm>
          <a:prstGeom prst="rect">
            <a:avLst/>
          </a:prstGeom>
          <a:noFill/>
          <a:ln/>
        </p:spPr>
        <p:txBody>
          <a:bodyPr wrap="square"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06</a:t>
            </a:r>
            <a:endParaRPr lang="en-US" sz="1000" dirty="0"/>
          </a:p>
        </p:txBody>
      </p:sp>
      <p:sp>
        <p:nvSpPr>
          <p:cNvPr id="28" name="Text 26"/>
          <p:cNvSpPr/>
          <p:nvPr/>
        </p:nvSpPr>
        <p:spPr>
          <a:xfrm>
            <a:off x="1417320" y="3474720"/>
            <a:ext cx="9601200" cy="329184"/>
          </a:xfrm>
          <a:prstGeom prst="rect">
            <a:avLst/>
          </a:prstGeom>
          <a:noFill/>
          <a:ln/>
        </p:spPr>
        <p:txBody>
          <a:bodyPr wrap="square" rtlCol="0" anchor="ctr"/>
          <a:lstStyle/>
          <a:p>
            <a:pPr indent="0" marL="0">
              <a:buNone/>
            </a:pPr>
            <a:r>
              <a:rPr lang="en-US" sz="1350" dirty="0">
                <a:solidFill>
                  <a:srgbClr val="0F172A"/>
                </a:solidFill>
                <a:latin typeface="Calibri" pitchFamily="34" charset="0"/>
                <a:ea typeface="Calibri" pitchFamily="34" charset="-122"/>
                <a:cs typeface="Calibri" pitchFamily="34" charset="-120"/>
              </a:rPr>
              <a:t>Methodology, ATS Algorithm &amp; Lifecycle Flowcharts</a:t>
            </a:r>
            <a:endParaRPr lang="en-US" sz="1350" dirty="0"/>
          </a:p>
        </p:txBody>
      </p:sp>
      <p:sp>
        <p:nvSpPr>
          <p:cNvPr id="29" name="Shape 27"/>
          <p:cNvSpPr/>
          <p:nvPr/>
        </p:nvSpPr>
        <p:spPr>
          <a:xfrm>
            <a:off x="731520" y="3904488"/>
            <a:ext cx="530352" cy="329184"/>
          </a:xfrm>
          <a:prstGeom prst="roundRect">
            <a:avLst>
              <a:gd name="adj" fmla="val 11111"/>
            </a:avLst>
          </a:prstGeom>
          <a:solidFill>
            <a:srgbClr val="E0E7FF"/>
          </a:solidFill>
          <a:ln w="10160">
            <a:solidFill>
              <a:srgbClr val="4338CA"/>
            </a:solidFill>
            <a:prstDash val="solid"/>
          </a:ln>
        </p:spPr>
      </p:sp>
      <p:sp>
        <p:nvSpPr>
          <p:cNvPr id="30" name="Text 28"/>
          <p:cNvSpPr/>
          <p:nvPr/>
        </p:nvSpPr>
        <p:spPr>
          <a:xfrm>
            <a:off x="731520" y="3904488"/>
            <a:ext cx="530352" cy="329184"/>
          </a:xfrm>
          <a:prstGeom prst="rect">
            <a:avLst/>
          </a:prstGeom>
          <a:noFill/>
          <a:ln/>
        </p:spPr>
        <p:txBody>
          <a:bodyPr wrap="square" rtlCol="0" anchor="ctr"/>
          <a:lstStyle/>
          <a:p>
            <a:pPr algn="ctr" indent="0" marL="0">
              <a:buNone/>
            </a:pPr>
            <a:r>
              <a:rPr lang="en-US" sz="1000" b="1" dirty="0">
                <a:solidFill>
                  <a:srgbClr val="4338CA"/>
                </a:solidFill>
                <a:latin typeface="Calibri" pitchFamily="34" charset="0"/>
                <a:ea typeface="Calibri" pitchFamily="34" charset="-122"/>
                <a:cs typeface="Calibri" pitchFamily="34" charset="-120"/>
              </a:rPr>
              <a:t>07</a:t>
            </a:r>
            <a:endParaRPr lang="en-US" sz="1000" dirty="0"/>
          </a:p>
        </p:txBody>
      </p:sp>
      <p:sp>
        <p:nvSpPr>
          <p:cNvPr id="31" name="Text 29"/>
          <p:cNvSpPr/>
          <p:nvPr/>
        </p:nvSpPr>
        <p:spPr>
          <a:xfrm>
            <a:off x="1417320" y="3904488"/>
            <a:ext cx="9601200" cy="329184"/>
          </a:xfrm>
          <a:prstGeom prst="rect">
            <a:avLst/>
          </a:prstGeom>
          <a:noFill/>
          <a:ln/>
        </p:spPr>
        <p:txBody>
          <a:bodyPr wrap="square" rtlCol="0" anchor="ctr"/>
          <a:lstStyle/>
          <a:p>
            <a:pPr indent="0" marL="0">
              <a:buNone/>
            </a:pPr>
            <a:r>
              <a:rPr lang="en-US" sz="1350" dirty="0">
                <a:solidFill>
                  <a:srgbClr val="0F172A"/>
                </a:solidFill>
                <a:latin typeface="Calibri" pitchFamily="34" charset="0"/>
                <a:ea typeface="Calibri" pitchFamily="34" charset="-122"/>
                <a:cs typeface="Calibri" pitchFamily="34" charset="-120"/>
              </a:rPr>
              <a:t>Implementation Details &amp; Security Architecture Flowchart</a:t>
            </a:r>
            <a:endParaRPr lang="en-US" sz="1350" dirty="0"/>
          </a:p>
        </p:txBody>
      </p:sp>
      <p:sp>
        <p:nvSpPr>
          <p:cNvPr id="32" name="Shape 30"/>
          <p:cNvSpPr/>
          <p:nvPr/>
        </p:nvSpPr>
        <p:spPr>
          <a:xfrm>
            <a:off x="731520" y="4334256"/>
            <a:ext cx="530352" cy="329184"/>
          </a:xfrm>
          <a:prstGeom prst="roundRect">
            <a:avLst>
              <a:gd name="adj" fmla="val 11111"/>
            </a:avLst>
          </a:prstGeom>
          <a:solidFill>
            <a:srgbClr val="D1FAE5"/>
          </a:solidFill>
          <a:ln w="10160">
            <a:solidFill>
              <a:srgbClr val="059669"/>
            </a:solidFill>
            <a:prstDash val="solid"/>
          </a:ln>
        </p:spPr>
      </p:sp>
      <p:sp>
        <p:nvSpPr>
          <p:cNvPr id="33" name="Text 31"/>
          <p:cNvSpPr/>
          <p:nvPr/>
        </p:nvSpPr>
        <p:spPr>
          <a:xfrm>
            <a:off x="731520" y="4334256"/>
            <a:ext cx="530352" cy="329184"/>
          </a:xfrm>
          <a:prstGeom prst="rect">
            <a:avLst/>
          </a:prstGeom>
          <a:noFill/>
          <a:ln/>
        </p:spPr>
        <p:txBody>
          <a:bodyPr wrap="square" rtlCol="0" anchor="ctr"/>
          <a:lstStyle/>
          <a:p>
            <a:pPr algn="ctr" indent="0" marL="0">
              <a:buNone/>
            </a:pPr>
            <a:r>
              <a:rPr lang="en-US" sz="1000" b="1" dirty="0">
                <a:solidFill>
                  <a:srgbClr val="059669"/>
                </a:solidFill>
                <a:latin typeface="Calibri" pitchFamily="34" charset="0"/>
                <a:ea typeface="Calibri" pitchFamily="34" charset="-122"/>
                <a:cs typeface="Calibri" pitchFamily="34" charset="-120"/>
              </a:rPr>
              <a:t>08</a:t>
            </a:r>
            <a:endParaRPr lang="en-US" sz="1000" dirty="0"/>
          </a:p>
        </p:txBody>
      </p:sp>
      <p:sp>
        <p:nvSpPr>
          <p:cNvPr id="34" name="Text 32"/>
          <p:cNvSpPr/>
          <p:nvPr/>
        </p:nvSpPr>
        <p:spPr>
          <a:xfrm>
            <a:off x="1417320" y="4334256"/>
            <a:ext cx="9601200" cy="329184"/>
          </a:xfrm>
          <a:prstGeom prst="rect">
            <a:avLst/>
          </a:prstGeom>
          <a:noFill/>
          <a:ln/>
        </p:spPr>
        <p:txBody>
          <a:bodyPr wrap="square" rtlCol="0" anchor="ctr"/>
          <a:lstStyle/>
          <a:p>
            <a:pPr indent="0" marL="0">
              <a:buNone/>
            </a:pPr>
            <a:r>
              <a:rPr lang="en-US" sz="1350" dirty="0">
                <a:solidFill>
                  <a:srgbClr val="0F172A"/>
                </a:solidFill>
                <a:latin typeface="Calibri" pitchFamily="34" charset="0"/>
                <a:ea typeface="Calibri" pitchFamily="34" charset="-122"/>
                <a:cs typeface="Calibri" pitchFamily="34" charset="-120"/>
              </a:rPr>
              <a:t>Results, Feature Validation &amp; Placement Funnel</a:t>
            </a:r>
            <a:endParaRPr lang="en-US" sz="1350" dirty="0"/>
          </a:p>
        </p:txBody>
      </p:sp>
      <p:sp>
        <p:nvSpPr>
          <p:cNvPr id="35" name="Shape 33"/>
          <p:cNvSpPr/>
          <p:nvPr/>
        </p:nvSpPr>
        <p:spPr>
          <a:xfrm>
            <a:off x="731520" y="4764024"/>
            <a:ext cx="530352" cy="329184"/>
          </a:xfrm>
          <a:prstGeom prst="roundRect">
            <a:avLst>
              <a:gd name="adj" fmla="val 11111"/>
            </a:avLst>
          </a:prstGeom>
          <a:solidFill>
            <a:srgbClr val="DBEAFE"/>
          </a:solidFill>
          <a:ln w="10160">
            <a:solidFill>
              <a:srgbClr val="1D4ED8"/>
            </a:solidFill>
            <a:prstDash val="solid"/>
          </a:ln>
        </p:spPr>
      </p:sp>
      <p:sp>
        <p:nvSpPr>
          <p:cNvPr id="36" name="Text 34"/>
          <p:cNvSpPr/>
          <p:nvPr/>
        </p:nvSpPr>
        <p:spPr>
          <a:xfrm>
            <a:off x="731520" y="4764024"/>
            <a:ext cx="530352" cy="329184"/>
          </a:xfrm>
          <a:prstGeom prst="rect">
            <a:avLst/>
          </a:prstGeom>
          <a:noFill/>
          <a:ln/>
        </p:spPr>
        <p:txBody>
          <a:bodyPr wrap="square" rtlCol="0" anchor="ctr"/>
          <a:lstStyle/>
          <a:p>
            <a:pPr algn="ctr" indent="0" marL="0">
              <a:buNone/>
            </a:pPr>
            <a:r>
              <a:rPr lang="en-US" sz="1000" b="1" dirty="0">
                <a:solidFill>
                  <a:srgbClr val="1D4ED8"/>
                </a:solidFill>
                <a:latin typeface="Calibri" pitchFamily="34" charset="0"/>
                <a:ea typeface="Calibri" pitchFamily="34" charset="-122"/>
                <a:cs typeface="Calibri" pitchFamily="34" charset="-120"/>
              </a:rPr>
              <a:t>09</a:t>
            </a:r>
            <a:endParaRPr lang="en-US" sz="1000" dirty="0"/>
          </a:p>
        </p:txBody>
      </p:sp>
      <p:sp>
        <p:nvSpPr>
          <p:cNvPr id="37" name="Text 35"/>
          <p:cNvSpPr/>
          <p:nvPr/>
        </p:nvSpPr>
        <p:spPr>
          <a:xfrm>
            <a:off x="1417320" y="4764024"/>
            <a:ext cx="9601200" cy="329184"/>
          </a:xfrm>
          <a:prstGeom prst="rect">
            <a:avLst/>
          </a:prstGeom>
          <a:noFill/>
          <a:ln/>
        </p:spPr>
        <p:txBody>
          <a:bodyPr wrap="square" rtlCol="0" anchor="ctr"/>
          <a:lstStyle/>
          <a:p>
            <a:pPr indent="0" marL="0">
              <a:buNone/>
            </a:pPr>
            <a:r>
              <a:rPr lang="en-US" sz="1350" dirty="0">
                <a:solidFill>
                  <a:srgbClr val="0F172A"/>
                </a:solidFill>
                <a:latin typeface="Calibri" pitchFamily="34" charset="0"/>
                <a:ea typeface="Calibri" pitchFamily="34" charset="-122"/>
                <a:cs typeface="Calibri" pitchFamily="34" charset="-120"/>
              </a:rPr>
              <a:t>Conclusion &amp; Key Project Contributions</a:t>
            </a:r>
            <a:endParaRPr lang="en-US" sz="1350" dirty="0"/>
          </a:p>
        </p:txBody>
      </p:sp>
      <p:sp>
        <p:nvSpPr>
          <p:cNvPr id="38" name="Shape 36"/>
          <p:cNvSpPr/>
          <p:nvPr/>
        </p:nvSpPr>
        <p:spPr>
          <a:xfrm>
            <a:off x="731520" y="5193792"/>
            <a:ext cx="530352" cy="329184"/>
          </a:xfrm>
          <a:prstGeom prst="roundRect">
            <a:avLst>
              <a:gd name="adj" fmla="val 11111"/>
            </a:avLst>
          </a:prstGeom>
          <a:solidFill>
            <a:srgbClr val="EDE9FE"/>
          </a:solidFill>
          <a:ln w="10160">
            <a:solidFill>
              <a:srgbClr val="7C3AED"/>
            </a:solidFill>
            <a:prstDash val="solid"/>
          </a:ln>
        </p:spPr>
      </p:sp>
      <p:sp>
        <p:nvSpPr>
          <p:cNvPr id="39" name="Text 37"/>
          <p:cNvSpPr/>
          <p:nvPr/>
        </p:nvSpPr>
        <p:spPr>
          <a:xfrm>
            <a:off x="731520" y="5193792"/>
            <a:ext cx="530352" cy="329184"/>
          </a:xfrm>
          <a:prstGeom prst="rect">
            <a:avLst/>
          </a:prstGeom>
          <a:noFill/>
          <a:ln/>
        </p:spPr>
        <p:txBody>
          <a:bodyPr wrap="square"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10</a:t>
            </a:r>
            <a:endParaRPr lang="en-US" sz="1000" dirty="0"/>
          </a:p>
        </p:txBody>
      </p:sp>
      <p:sp>
        <p:nvSpPr>
          <p:cNvPr id="40" name="Text 38"/>
          <p:cNvSpPr/>
          <p:nvPr/>
        </p:nvSpPr>
        <p:spPr>
          <a:xfrm>
            <a:off x="1417320" y="5193792"/>
            <a:ext cx="9601200" cy="329184"/>
          </a:xfrm>
          <a:prstGeom prst="rect">
            <a:avLst/>
          </a:prstGeom>
          <a:noFill/>
          <a:ln/>
        </p:spPr>
        <p:txBody>
          <a:bodyPr wrap="square" rtlCol="0" anchor="ctr"/>
          <a:lstStyle/>
          <a:p>
            <a:pPr indent="0" marL="0">
              <a:buNone/>
            </a:pPr>
            <a:r>
              <a:rPr lang="en-US" sz="1350" dirty="0">
                <a:solidFill>
                  <a:srgbClr val="0F172A"/>
                </a:solidFill>
                <a:latin typeface="Calibri" pitchFamily="34" charset="0"/>
                <a:ea typeface="Calibri" pitchFamily="34" charset="-122"/>
                <a:cs typeface="Calibri" pitchFamily="34" charset="-120"/>
              </a:rPr>
              <a:t>Future Scope &amp; Enhancements Roadmap</a:t>
            </a:r>
            <a:endParaRPr lang="en-US" sz="1350" dirty="0"/>
          </a:p>
        </p:txBody>
      </p:sp>
      <p:sp>
        <p:nvSpPr>
          <p:cNvPr id="41" name="Shape 39"/>
          <p:cNvSpPr/>
          <p:nvPr/>
        </p:nvSpPr>
        <p:spPr>
          <a:xfrm>
            <a:off x="731520" y="5623560"/>
            <a:ext cx="530352" cy="329184"/>
          </a:xfrm>
          <a:prstGeom prst="roundRect">
            <a:avLst>
              <a:gd name="adj" fmla="val 11111"/>
            </a:avLst>
          </a:prstGeom>
          <a:solidFill>
            <a:srgbClr val="F8FAFC"/>
          </a:solidFill>
          <a:ln w="10160">
            <a:solidFill>
              <a:srgbClr val="64748B"/>
            </a:solidFill>
            <a:prstDash val="solid"/>
          </a:ln>
        </p:spPr>
      </p:sp>
      <p:sp>
        <p:nvSpPr>
          <p:cNvPr id="42" name="Text 40"/>
          <p:cNvSpPr/>
          <p:nvPr/>
        </p:nvSpPr>
        <p:spPr>
          <a:xfrm>
            <a:off x="731520" y="5623560"/>
            <a:ext cx="530352" cy="329184"/>
          </a:xfrm>
          <a:prstGeom prst="rect">
            <a:avLst/>
          </a:prstGeom>
          <a:noFill/>
          <a:ln/>
        </p:spPr>
        <p:txBody>
          <a:bodyPr wrap="square" rtlCol="0" anchor="ctr"/>
          <a:lstStyle/>
          <a:p>
            <a:pPr algn="ctr" indent="0" marL="0">
              <a:buNone/>
            </a:pPr>
            <a:r>
              <a:rPr lang="en-US" sz="1000" b="1" dirty="0">
                <a:solidFill>
                  <a:srgbClr val="64748B"/>
                </a:solidFill>
                <a:latin typeface="Calibri" pitchFamily="34" charset="0"/>
                <a:ea typeface="Calibri" pitchFamily="34" charset="-122"/>
                <a:cs typeface="Calibri" pitchFamily="34" charset="-120"/>
              </a:rPr>
              <a:t>11</a:t>
            </a:r>
            <a:endParaRPr lang="en-US" sz="1000" dirty="0"/>
          </a:p>
        </p:txBody>
      </p:sp>
      <p:sp>
        <p:nvSpPr>
          <p:cNvPr id="43" name="Text 41"/>
          <p:cNvSpPr/>
          <p:nvPr/>
        </p:nvSpPr>
        <p:spPr>
          <a:xfrm>
            <a:off x="1417320" y="5623560"/>
            <a:ext cx="9601200" cy="329184"/>
          </a:xfrm>
          <a:prstGeom prst="rect">
            <a:avLst/>
          </a:prstGeom>
          <a:noFill/>
          <a:ln/>
        </p:spPr>
        <p:txBody>
          <a:bodyPr wrap="square" rtlCol="0" anchor="ctr"/>
          <a:lstStyle/>
          <a:p>
            <a:pPr indent="0" marL="0">
              <a:buNone/>
            </a:pPr>
            <a:r>
              <a:rPr lang="en-US" sz="1350" dirty="0">
                <a:solidFill>
                  <a:srgbClr val="0F172A"/>
                </a:solidFill>
                <a:latin typeface="Calibri" pitchFamily="34" charset="0"/>
                <a:ea typeface="Calibri" pitchFamily="34" charset="-122"/>
                <a:cs typeface="Calibri" pitchFamily="34" charset="-120"/>
              </a:rPr>
              <a:t>References &amp; Key Academic Citations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D4ED8"/>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DBEAFE"/>
          </a:solidFill>
          <a:ln w="10160">
            <a:solidFill>
              <a:srgbClr val="1D4ED8"/>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1D4ED8"/>
                </a:solidFill>
                <a:latin typeface="Calibri" pitchFamily="34" charset="0"/>
                <a:ea typeface="Calibri" pitchFamily="34" charset="-122"/>
                <a:cs typeface="Calibri" pitchFamily="34" charset="-120"/>
              </a:rPr>
              <a:t>INTRODUCTION</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Abstract &amp; Motivation</a:t>
            </a:r>
            <a:endParaRPr lang="en-US" sz="2300" dirty="0"/>
          </a:p>
        </p:txBody>
      </p:sp>
      <p:sp>
        <p:nvSpPr>
          <p:cNvPr id="8" name="Shape 6"/>
          <p:cNvSpPr/>
          <p:nvPr/>
        </p:nvSpPr>
        <p:spPr>
          <a:xfrm>
            <a:off x="731520" y="1097280"/>
            <a:ext cx="2194560" cy="32004"/>
          </a:xfrm>
          <a:prstGeom prst="rect">
            <a:avLst/>
          </a:prstGeom>
          <a:solidFill>
            <a:srgbClr val="1D4ED8"/>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1D4ED8"/>
                </a:solidFill>
                <a:latin typeface="Calibri" pitchFamily="34" charset="0"/>
                <a:ea typeface="Calibri" pitchFamily="34" charset="-122"/>
                <a:cs typeface="Calibri" pitchFamily="34" charset="-120"/>
              </a:rPr>
              <a:t>02</a:t>
            </a:r>
            <a:endParaRPr lang="en-US" sz="950" dirty="0"/>
          </a:p>
        </p:txBody>
      </p:sp>
      <p:sp>
        <p:nvSpPr>
          <p:cNvPr id="11" name="Shape 9"/>
          <p:cNvSpPr/>
          <p:nvPr/>
        </p:nvSpPr>
        <p:spPr>
          <a:xfrm>
            <a:off x="731520" y="1325880"/>
            <a:ext cx="10698480" cy="2148840"/>
          </a:xfrm>
          <a:prstGeom prst="roundRect">
            <a:avLst>
              <a:gd name="adj" fmla="val 3404"/>
            </a:avLst>
          </a:prstGeom>
          <a:solidFill>
            <a:srgbClr val="FFFFFF"/>
          </a:solidFill>
          <a:ln w="15240">
            <a:solidFill>
              <a:srgbClr val="1D4ED8"/>
            </a:solidFill>
            <a:prstDash val="solid"/>
          </a:ln>
        </p:spPr>
      </p:sp>
      <p:sp>
        <p:nvSpPr>
          <p:cNvPr id="12" name="Shape 10"/>
          <p:cNvSpPr/>
          <p:nvPr/>
        </p:nvSpPr>
        <p:spPr>
          <a:xfrm>
            <a:off x="1005840" y="1417320"/>
            <a:ext cx="2560320" cy="256032"/>
          </a:xfrm>
          <a:prstGeom prst="roundRect">
            <a:avLst>
              <a:gd name="adj" fmla="val 14286"/>
            </a:avLst>
          </a:prstGeom>
          <a:solidFill>
            <a:srgbClr val="DBEAFE"/>
          </a:solidFill>
          <a:ln w="7620">
            <a:solidFill>
              <a:srgbClr val="1D4ED8"/>
            </a:solidFill>
            <a:prstDash val="solid"/>
          </a:ln>
        </p:spPr>
      </p:sp>
      <p:sp>
        <p:nvSpPr>
          <p:cNvPr id="13" name="Text 11"/>
          <p:cNvSpPr/>
          <p:nvPr/>
        </p:nvSpPr>
        <p:spPr>
          <a:xfrm>
            <a:off x="1005840" y="1417320"/>
            <a:ext cx="2560320" cy="256032"/>
          </a:xfrm>
          <a:prstGeom prst="rect">
            <a:avLst/>
          </a:prstGeom>
          <a:noFill/>
          <a:ln/>
        </p:spPr>
        <p:txBody>
          <a:bodyPr wrap="square" rtlCol="0" anchor="ctr"/>
          <a:lstStyle/>
          <a:p>
            <a:pPr algn="ctr" indent="0" marL="0">
              <a:buNone/>
            </a:pPr>
            <a:r>
              <a:rPr lang="en-US" sz="850" b="1" spc="200" kern="0" dirty="0">
                <a:solidFill>
                  <a:srgbClr val="1D4ED8"/>
                </a:solidFill>
                <a:latin typeface="Calibri" pitchFamily="34" charset="0"/>
                <a:ea typeface="Calibri" pitchFamily="34" charset="-122"/>
                <a:cs typeface="Calibri" pitchFamily="34" charset="-120"/>
              </a:rPr>
              <a:t>PROJECT ABSTRACT</a:t>
            </a:r>
            <a:endParaRPr lang="en-US" sz="850" dirty="0"/>
          </a:p>
        </p:txBody>
      </p:sp>
      <p:sp>
        <p:nvSpPr>
          <p:cNvPr id="14" name="Text 12"/>
          <p:cNvSpPr/>
          <p:nvPr/>
        </p:nvSpPr>
        <p:spPr>
          <a:xfrm>
            <a:off x="1005840" y="1737360"/>
            <a:ext cx="10149840" cy="1600200"/>
          </a:xfrm>
          <a:prstGeom prst="rect">
            <a:avLst/>
          </a:prstGeom>
          <a:noFill/>
          <a:ln/>
        </p:spPr>
        <p:txBody>
          <a:bodyPr wrap="square" rtlCol="0" anchor="t"/>
          <a:lstStyle/>
          <a:p>
            <a:pPr indent="0" marL="0">
              <a:lnSpc>
                <a:spcPct val="145000"/>
              </a:lnSpc>
              <a:buNone/>
            </a:pPr>
            <a:r>
              <a:rPr lang="en-US" sz="1250" dirty="0">
                <a:solidFill>
                  <a:srgbClr val="334155"/>
                </a:solidFill>
                <a:latin typeface="Calibri" pitchFamily="34" charset="0"/>
                <a:ea typeface="Calibri" pitchFamily="34" charset="-122"/>
                <a:cs typeface="Calibri" pitchFamily="34" charset="-120"/>
              </a:rPr>
              <a:t>The ALTS Campus Placement Portal is a modern full-stack MERN web application developed specifically for ALTS to digitize and automate collegiate recruitment. The platform provides dedicated role-isolated portals for ALTS Students, Visiting Recruiters, and the Placement Cell. Core capabilities include smart resume building with PDF/DOCX text extraction, AI-assisted ATS compatibility scoring, multi-criteria job filtering, automated SMTP notification triggers via NodeMailer, and interactive hiring analytics powered by Recharts. By replacing manual paperwork and disparate spreadsheets with a unified digital gateway, ALTS ensures transparency, auditability, and efficiency across all campus recruitment drives.</a:t>
            </a:r>
            <a:endParaRPr lang="en-US" sz="1250" dirty="0"/>
          </a:p>
        </p:txBody>
      </p:sp>
      <p:sp>
        <p:nvSpPr>
          <p:cNvPr id="15" name="Shape 13"/>
          <p:cNvSpPr/>
          <p:nvPr/>
        </p:nvSpPr>
        <p:spPr>
          <a:xfrm>
            <a:off x="731520" y="3703320"/>
            <a:ext cx="2926080" cy="256032"/>
          </a:xfrm>
          <a:prstGeom prst="roundRect">
            <a:avLst>
              <a:gd name="adj" fmla="val 14286"/>
            </a:avLst>
          </a:prstGeom>
          <a:solidFill>
            <a:srgbClr val="E0E7FF"/>
          </a:solidFill>
          <a:ln w="7620">
            <a:solidFill>
              <a:srgbClr val="4338CA"/>
            </a:solidFill>
            <a:prstDash val="solid"/>
          </a:ln>
        </p:spPr>
      </p:sp>
      <p:sp>
        <p:nvSpPr>
          <p:cNvPr id="16" name="Text 14"/>
          <p:cNvSpPr/>
          <p:nvPr/>
        </p:nvSpPr>
        <p:spPr>
          <a:xfrm>
            <a:off x="731520" y="3703320"/>
            <a:ext cx="2926080" cy="256032"/>
          </a:xfrm>
          <a:prstGeom prst="rect">
            <a:avLst/>
          </a:prstGeom>
          <a:noFill/>
          <a:ln/>
        </p:spPr>
        <p:txBody>
          <a:bodyPr wrap="square" rtlCol="0" anchor="ctr"/>
          <a:lstStyle/>
          <a:p>
            <a:pPr algn="ctr" indent="0" marL="0">
              <a:buNone/>
            </a:pPr>
            <a:r>
              <a:rPr lang="en-US" sz="850" b="1" spc="150" kern="0" dirty="0">
                <a:solidFill>
                  <a:srgbClr val="4338CA"/>
                </a:solidFill>
                <a:latin typeface="Calibri" pitchFamily="34" charset="0"/>
                <a:ea typeface="Calibri" pitchFamily="34" charset="-122"/>
                <a:cs typeface="Calibri" pitchFamily="34" charset="-120"/>
              </a:rPr>
              <a:t>CORE DRIVING MOTIVATIONS AT ALTS</a:t>
            </a:r>
            <a:endParaRPr lang="en-US" sz="850" dirty="0"/>
          </a:p>
        </p:txBody>
      </p:sp>
      <p:sp>
        <p:nvSpPr>
          <p:cNvPr id="17" name="Text 15"/>
          <p:cNvSpPr/>
          <p:nvPr/>
        </p:nvSpPr>
        <p:spPr>
          <a:xfrm>
            <a:off x="731520" y="4069080"/>
            <a:ext cx="10698480" cy="5120640"/>
          </a:xfrm>
          <a:prstGeom prst="rect">
            <a:avLst/>
          </a:prstGeom>
          <a:noFill/>
          <a:ln/>
        </p:spPr>
        <p:txBody>
          <a:bodyPr wrap="square" rtlCol="0" anchor="t"/>
          <a:lstStyle/>
          <a:p>
            <a:pPr>
              <a:lnSpc>
                <a:spcPct val="135000"/>
              </a:lnSpc>
              <a:spcAft>
                <a:spcPts val="700"/>
              </a:spcAft>
            </a:pPr>
            <a:r>
              <a:rPr lang="en-US" sz="1250" dirty="0">
                <a:solidFill>
                  <a:srgbClr val="334155"/>
                </a:solidFill>
                <a:latin typeface="Calibri" pitchFamily="34" charset="0"/>
                <a:ea typeface="Calibri" pitchFamily="34" charset="-122"/>
                <a:cs typeface="Calibri" pitchFamily="34" charset="-120"/>
              </a:rPr>
              <a:t>Eliminate manual overhead: Replace manual spreadsheets, paper resumes, and WhatsApp broadcast groups with a secure portal.</a:t>
            </a:r>
            <a:endParaRPr lang="en-US" sz="1250" dirty="0"/>
          </a:p>
          <a:p>
            <a:pPr>
              <a:lnSpc>
                <a:spcPct val="135000"/>
              </a:lnSpc>
              <a:spcAft>
                <a:spcPts val="700"/>
              </a:spcAft>
            </a:pPr>
            <a:r>
              <a:rPr lang="en-US" sz="1250" dirty="0">
                <a:solidFill>
                  <a:srgbClr val="334155"/>
                </a:solidFill>
                <a:latin typeface="Calibri" pitchFamily="34" charset="0"/>
                <a:ea typeface="Calibri" pitchFamily="34" charset="-122"/>
                <a:cs typeface="Calibri" pitchFamily="34" charset="-120"/>
              </a:rPr>
              <a:t>Empower ALTS students: Give students a central dashboard to track application status in real-time across multiple companies.</a:t>
            </a:r>
            <a:endParaRPr lang="en-US" sz="1250" dirty="0"/>
          </a:p>
          <a:p>
            <a:pPr>
              <a:lnSpc>
                <a:spcPct val="135000"/>
              </a:lnSpc>
              <a:spcAft>
                <a:spcPts val="700"/>
              </a:spcAft>
            </a:pPr>
            <a:r>
              <a:rPr lang="en-US" sz="1250" dirty="0">
                <a:solidFill>
                  <a:srgbClr val="334155"/>
                </a:solidFill>
                <a:latin typeface="Calibri" pitchFamily="34" charset="0"/>
                <a:ea typeface="Calibri" pitchFamily="34" charset="-122"/>
                <a:cs typeface="Calibri" pitchFamily="34" charset="-120"/>
              </a:rPr>
              <a:t>Accelerate recruiter shortlisting: Large applicant pools filtered instantly through automated keyword and ATS compatibility scoring.</a:t>
            </a:r>
            <a:endParaRPr lang="en-US" sz="1250" dirty="0"/>
          </a:p>
          <a:p>
            <a:pPr>
              <a:lnSpc>
                <a:spcPct val="135000"/>
              </a:lnSpc>
              <a:spcAft>
                <a:spcPts val="700"/>
              </a:spcAft>
            </a:pPr>
            <a:r>
              <a:rPr lang="en-US" sz="1250" dirty="0">
                <a:solidFill>
                  <a:srgbClr val="334155"/>
                </a:solidFill>
                <a:latin typeface="Calibri" pitchFamily="34" charset="0"/>
                <a:ea typeface="Calibri" pitchFamily="34" charset="-122"/>
                <a:cs typeface="Calibri" pitchFamily="34" charset="-120"/>
              </a:rPr>
              <a:t>Enable institutional governance: Placement Officers obtain real-time insights on branch-wise placement percentages and CTC metrics.</a:t>
            </a:r>
            <a:endParaRPr lang="en-US" sz="1250" dirty="0"/>
          </a:p>
          <a:p>
            <a:pPr>
              <a:lnSpc>
                <a:spcPct val="135000"/>
              </a:lnSpc>
              <a:spcAft>
                <a:spcPts val="700"/>
              </a:spcAft>
            </a:pPr>
            <a:r>
              <a:rPr lang="en-US" sz="1250" dirty="0">
                <a:solidFill>
                  <a:srgbClr val="334155"/>
                </a:solidFill>
                <a:latin typeface="Calibri" pitchFamily="34" charset="0"/>
                <a:ea typeface="Calibri" pitchFamily="34" charset="-122"/>
                <a:cs typeface="Calibri" pitchFamily="34" charset="-120"/>
              </a:rPr>
              <a:t>Democratized internal portal: An in-house, zero-licensing-cost placement ecosystem customized to ALTS academic policies.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E11D48"/>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FFE4E6"/>
          </a:solidFill>
          <a:ln w="10160">
            <a:solidFill>
              <a:srgbClr val="E11D48"/>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E11D48"/>
                </a:solidFill>
                <a:latin typeface="Calibri" pitchFamily="34" charset="0"/>
                <a:ea typeface="Calibri" pitchFamily="34" charset="-122"/>
                <a:cs typeface="Calibri" pitchFamily="34" charset="-120"/>
              </a:rPr>
              <a:t>PROBLEM</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Problem Statement &amp; Existing Bottlenecks</a:t>
            </a:r>
            <a:endParaRPr lang="en-US" sz="2300" dirty="0"/>
          </a:p>
        </p:txBody>
      </p:sp>
      <p:sp>
        <p:nvSpPr>
          <p:cNvPr id="8" name="Shape 6"/>
          <p:cNvSpPr/>
          <p:nvPr/>
        </p:nvSpPr>
        <p:spPr>
          <a:xfrm>
            <a:off x="731520" y="1097280"/>
            <a:ext cx="2194560" cy="32004"/>
          </a:xfrm>
          <a:prstGeom prst="rect">
            <a:avLst/>
          </a:prstGeom>
          <a:solidFill>
            <a:srgbClr val="E11D48"/>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E11D48"/>
                </a:solidFill>
                <a:latin typeface="Calibri" pitchFamily="34" charset="0"/>
                <a:ea typeface="Calibri" pitchFamily="34" charset="-122"/>
                <a:cs typeface="Calibri" pitchFamily="34" charset="-120"/>
              </a:rPr>
              <a:t>03</a:t>
            </a:r>
            <a:endParaRPr lang="en-US" sz="950" dirty="0"/>
          </a:p>
        </p:txBody>
      </p:sp>
      <p:sp>
        <p:nvSpPr>
          <p:cNvPr id="11" name="Shape 9"/>
          <p:cNvSpPr/>
          <p:nvPr/>
        </p:nvSpPr>
        <p:spPr>
          <a:xfrm>
            <a:off x="731520" y="1325880"/>
            <a:ext cx="5120640" cy="1325880"/>
          </a:xfrm>
          <a:prstGeom prst="roundRect">
            <a:avLst>
              <a:gd name="adj" fmla="val 5517"/>
            </a:avLst>
          </a:prstGeom>
          <a:solidFill>
            <a:srgbClr val="FFFFFF"/>
          </a:solidFill>
          <a:ln w="19050">
            <a:solidFill>
              <a:srgbClr val="FFE4E6"/>
            </a:solidFill>
            <a:prstDash val="solid"/>
          </a:ln>
        </p:spPr>
      </p:sp>
      <p:sp>
        <p:nvSpPr>
          <p:cNvPr id="12" name="Shape 10"/>
          <p:cNvSpPr/>
          <p:nvPr/>
        </p:nvSpPr>
        <p:spPr>
          <a:xfrm>
            <a:off x="914400" y="1472184"/>
            <a:ext cx="731520" cy="256032"/>
          </a:xfrm>
          <a:prstGeom prst="roundRect">
            <a:avLst>
              <a:gd name="adj" fmla="val 14286"/>
            </a:avLst>
          </a:prstGeom>
          <a:solidFill>
            <a:srgbClr val="FFE4E6"/>
          </a:solidFill>
          <a:ln w="10160">
            <a:solidFill>
              <a:srgbClr val="E11D48"/>
            </a:solidFill>
            <a:prstDash val="solid"/>
          </a:ln>
        </p:spPr>
      </p:sp>
      <p:sp>
        <p:nvSpPr>
          <p:cNvPr id="13" name="Text 11"/>
          <p:cNvSpPr/>
          <p:nvPr/>
        </p:nvSpPr>
        <p:spPr>
          <a:xfrm>
            <a:off x="914400" y="1472184"/>
            <a:ext cx="731520" cy="256032"/>
          </a:xfrm>
          <a:prstGeom prst="rect">
            <a:avLst/>
          </a:prstGeom>
          <a:noFill/>
          <a:ln/>
        </p:spPr>
        <p:txBody>
          <a:bodyPr wrap="square" rtlCol="0" anchor="ctr"/>
          <a:lstStyle/>
          <a:p>
            <a:pPr algn="ctr" indent="0" marL="0">
              <a:buNone/>
            </a:pPr>
            <a:r>
              <a:rPr lang="en-US" sz="850" b="1" dirty="0">
                <a:solidFill>
                  <a:srgbClr val="E11D48"/>
                </a:solidFill>
                <a:latin typeface="Calibri" pitchFamily="34" charset="0"/>
                <a:ea typeface="Calibri" pitchFamily="34" charset="-122"/>
                <a:cs typeface="Calibri" pitchFamily="34" charset="-120"/>
              </a:rPr>
              <a:t>CH-01</a:t>
            </a:r>
            <a:endParaRPr lang="en-US" sz="850" dirty="0"/>
          </a:p>
        </p:txBody>
      </p:sp>
      <p:sp>
        <p:nvSpPr>
          <p:cNvPr id="14" name="Text 12"/>
          <p:cNvSpPr/>
          <p:nvPr/>
        </p:nvSpPr>
        <p:spPr>
          <a:xfrm>
            <a:off x="1783080" y="1463040"/>
            <a:ext cx="3886200" cy="292608"/>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Fragmented Communication</a:t>
            </a:r>
            <a:endParaRPr lang="en-US" sz="1250" dirty="0"/>
          </a:p>
        </p:txBody>
      </p:sp>
      <p:sp>
        <p:nvSpPr>
          <p:cNvPr id="15" name="Text 13"/>
          <p:cNvSpPr/>
          <p:nvPr/>
        </p:nvSpPr>
        <p:spPr>
          <a:xfrm>
            <a:off x="914400" y="1828800"/>
            <a:ext cx="4754880" cy="731520"/>
          </a:xfrm>
          <a:prstGeom prst="rect">
            <a:avLst/>
          </a:prstGeom>
          <a:noFill/>
          <a:ln/>
        </p:spPr>
        <p:txBody>
          <a:bodyPr wrap="square" rtlCol="0" anchor="t"/>
          <a:lstStyle/>
          <a:p>
            <a:pPr indent="0" marL="0">
              <a:lnSpc>
                <a:spcPct val="135000"/>
              </a:lnSpc>
              <a:buNone/>
            </a:pPr>
            <a:r>
              <a:rPr lang="en-US" sz="1050" dirty="0">
                <a:solidFill>
                  <a:srgbClr val="334155"/>
                </a:solidFill>
                <a:latin typeface="Calibri" pitchFamily="34" charset="0"/>
                <a:ea typeface="Calibri" pitchFamily="34" charset="-122"/>
                <a:cs typeface="Calibri" pitchFamily="34" charset="-120"/>
              </a:rPr>
              <a:t>Placement notifications scattered across WhatsApp groups, disparate emails, and notice boards, causing missed interview deadlines and information leakage.</a:t>
            </a:r>
            <a:endParaRPr lang="en-US" sz="1050" dirty="0"/>
          </a:p>
        </p:txBody>
      </p:sp>
      <p:sp>
        <p:nvSpPr>
          <p:cNvPr id="16" name="Shape 14"/>
          <p:cNvSpPr/>
          <p:nvPr/>
        </p:nvSpPr>
        <p:spPr>
          <a:xfrm>
            <a:off x="6309360" y="1325880"/>
            <a:ext cx="5120640" cy="1325880"/>
          </a:xfrm>
          <a:prstGeom prst="roundRect">
            <a:avLst>
              <a:gd name="adj" fmla="val 5517"/>
            </a:avLst>
          </a:prstGeom>
          <a:solidFill>
            <a:srgbClr val="FFFFFF"/>
          </a:solidFill>
          <a:ln w="19050">
            <a:solidFill>
              <a:srgbClr val="FFE4E6"/>
            </a:solidFill>
            <a:prstDash val="solid"/>
          </a:ln>
        </p:spPr>
      </p:sp>
      <p:sp>
        <p:nvSpPr>
          <p:cNvPr id="17" name="Shape 15"/>
          <p:cNvSpPr/>
          <p:nvPr/>
        </p:nvSpPr>
        <p:spPr>
          <a:xfrm>
            <a:off x="6492240" y="1472184"/>
            <a:ext cx="731520" cy="256032"/>
          </a:xfrm>
          <a:prstGeom prst="roundRect">
            <a:avLst>
              <a:gd name="adj" fmla="val 14286"/>
            </a:avLst>
          </a:prstGeom>
          <a:solidFill>
            <a:srgbClr val="FFE4E6"/>
          </a:solidFill>
          <a:ln w="10160">
            <a:solidFill>
              <a:srgbClr val="E11D48"/>
            </a:solidFill>
            <a:prstDash val="solid"/>
          </a:ln>
        </p:spPr>
      </p:sp>
      <p:sp>
        <p:nvSpPr>
          <p:cNvPr id="18" name="Text 16"/>
          <p:cNvSpPr/>
          <p:nvPr/>
        </p:nvSpPr>
        <p:spPr>
          <a:xfrm>
            <a:off x="6492240" y="1472184"/>
            <a:ext cx="731520" cy="256032"/>
          </a:xfrm>
          <a:prstGeom prst="rect">
            <a:avLst/>
          </a:prstGeom>
          <a:noFill/>
          <a:ln/>
        </p:spPr>
        <p:txBody>
          <a:bodyPr wrap="square" rtlCol="0" anchor="ctr"/>
          <a:lstStyle/>
          <a:p>
            <a:pPr algn="ctr" indent="0" marL="0">
              <a:buNone/>
            </a:pPr>
            <a:r>
              <a:rPr lang="en-US" sz="850" b="1" dirty="0">
                <a:solidFill>
                  <a:srgbClr val="E11D48"/>
                </a:solidFill>
                <a:latin typeface="Calibri" pitchFamily="34" charset="0"/>
                <a:ea typeface="Calibri" pitchFamily="34" charset="-122"/>
                <a:cs typeface="Calibri" pitchFamily="34" charset="-120"/>
              </a:rPr>
              <a:t>CH-02</a:t>
            </a:r>
            <a:endParaRPr lang="en-US" sz="850" dirty="0"/>
          </a:p>
        </p:txBody>
      </p:sp>
      <p:sp>
        <p:nvSpPr>
          <p:cNvPr id="19" name="Text 17"/>
          <p:cNvSpPr/>
          <p:nvPr/>
        </p:nvSpPr>
        <p:spPr>
          <a:xfrm>
            <a:off x="7360920" y="1463040"/>
            <a:ext cx="3886200" cy="292608"/>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Manual Resume Screening</a:t>
            </a:r>
            <a:endParaRPr lang="en-US" sz="1250" dirty="0"/>
          </a:p>
        </p:txBody>
      </p:sp>
      <p:sp>
        <p:nvSpPr>
          <p:cNvPr id="20" name="Text 18"/>
          <p:cNvSpPr/>
          <p:nvPr/>
        </p:nvSpPr>
        <p:spPr>
          <a:xfrm>
            <a:off x="6492240" y="1828800"/>
            <a:ext cx="4754880" cy="731520"/>
          </a:xfrm>
          <a:prstGeom prst="rect">
            <a:avLst/>
          </a:prstGeom>
          <a:noFill/>
          <a:ln/>
        </p:spPr>
        <p:txBody>
          <a:bodyPr wrap="square" rtlCol="0" anchor="t"/>
          <a:lstStyle/>
          <a:p>
            <a:pPr indent="0" marL="0">
              <a:lnSpc>
                <a:spcPct val="135000"/>
              </a:lnSpc>
              <a:buNone/>
            </a:pPr>
            <a:r>
              <a:rPr lang="en-US" sz="1050" dirty="0">
                <a:solidFill>
                  <a:srgbClr val="334155"/>
                </a:solidFill>
                <a:latin typeface="Calibri" pitchFamily="34" charset="0"/>
                <a:ea typeface="Calibri" pitchFamily="34" charset="-122"/>
                <a:cs typeface="Calibri" pitchFamily="34" charset="-120"/>
              </a:rPr>
              <a:t>Placement teams and HRs manually inspect hundreds of unstandardized resumes, leading to reviewer fatigue, cognitive bias, and lengthy turnaround times.</a:t>
            </a:r>
            <a:endParaRPr lang="en-US" sz="1050" dirty="0"/>
          </a:p>
        </p:txBody>
      </p:sp>
      <p:sp>
        <p:nvSpPr>
          <p:cNvPr id="21" name="Shape 19"/>
          <p:cNvSpPr/>
          <p:nvPr/>
        </p:nvSpPr>
        <p:spPr>
          <a:xfrm>
            <a:off x="731520" y="2880360"/>
            <a:ext cx="5120640" cy="1325880"/>
          </a:xfrm>
          <a:prstGeom prst="roundRect">
            <a:avLst>
              <a:gd name="adj" fmla="val 5517"/>
            </a:avLst>
          </a:prstGeom>
          <a:solidFill>
            <a:srgbClr val="FFFFFF"/>
          </a:solidFill>
          <a:ln w="19050">
            <a:solidFill>
              <a:srgbClr val="FFE4E6"/>
            </a:solidFill>
            <a:prstDash val="solid"/>
          </a:ln>
        </p:spPr>
      </p:sp>
      <p:sp>
        <p:nvSpPr>
          <p:cNvPr id="22" name="Shape 20"/>
          <p:cNvSpPr/>
          <p:nvPr/>
        </p:nvSpPr>
        <p:spPr>
          <a:xfrm>
            <a:off x="914400" y="3026664"/>
            <a:ext cx="731520" cy="256032"/>
          </a:xfrm>
          <a:prstGeom prst="roundRect">
            <a:avLst>
              <a:gd name="adj" fmla="val 14286"/>
            </a:avLst>
          </a:prstGeom>
          <a:solidFill>
            <a:srgbClr val="FFE4E6"/>
          </a:solidFill>
          <a:ln w="10160">
            <a:solidFill>
              <a:srgbClr val="E11D48"/>
            </a:solidFill>
            <a:prstDash val="solid"/>
          </a:ln>
        </p:spPr>
      </p:sp>
      <p:sp>
        <p:nvSpPr>
          <p:cNvPr id="23" name="Text 21"/>
          <p:cNvSpPr/>
          <p:nvPr/>
        </p:nvSpPr>
        <p:spPr>
          <a:xfrm>
            <a:off x="914400" y="3026664"/>
            <a:ext cx="731520" cy="256032"/>
          </a:xfrm>
          <a:prstGeom prst="rect">
            <a:avLst/>
          </a:prstGeom>
          <a:noFill/>
          <a:ln/>
        </p:spPr>
        <p:txBody>
          <a:bodyPr wrap="square" rtlCol="0" anchor="ctr"/>
          <a:lstStyle/>
          <a:p>
            <a:pPr algn="ctr" indent="0" marL="0">
              <a:buNone/>
            </a:pPr>
            <a:r>
              <a:rPr lang="en-US" sz="850" b="1" dirty="0">
                <a:solidFill>
                  <a:srgbClr val="E11D48"/>
                </a:solidFill>
                <a:latin typeface="Calibri" pitchFamily="34" charset="0"/>
                <a:ea typeface="Calibri" pitchFamily="34" charset="-122"/>
                <a:cs typeface="Calibri" pitchFamily="34" charset="-120"/>
              </a:rPr>
              <a:t>CH-03</a:t>
            </a:r>
            <a:endParaRPr lang="en-US" sz="850" dirty="0"/>
          </a:p>
        </p:txBody>
      </p:sp>
      <p:sp>
        <p:nvSpPr>
          <p:cNvPr id="24" name="Text 22"/>
          <p:cNvSpPr/>
          <p:nvPr/>
        </p:nvSpPr>
        <p:spPr>
          <a:xfrm>
            <a:off x="1783080" y="3017520"/>
            <a:ext cx="3886200" cy="292608"/>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Opaque Application Tracking</a:t>
            </a:r>
            <a:endParaRPr lang="en-US" sz="1250" dirty="0"/>
          </a:p>
        </p:txBody>
      </p:sp>
      <p:sp>
        <p:nvSpPr>
          <p:cNvPr id="25" name="Text 23"/>
          <p:cNvSpPr/>
          <p:nvPr/>
        </p:nvSpPr>
        <p:spPr>
          <a:xfrm>
            <a:off x="914400" y="3383280"/>
            <a:ext cx="4754880" cy="731520"/>
          </a:xfrm>
          <a:prstGeom prst="rect">
            <a:avLst/>
          </a:prstGeom>
          <a:noFill/>
          <a:ln/>
        </p:spPr>
        <p:txBody>
          <a:bodyPr wrap="square" rtlCol="0" anchor="t"/>
          <a:lstStyle/>
          <a:p>
            <a:pPr indent="0" marL="0">
              <a:lnSpc>
                <a:spcPct val="135000"/>
              </a:lnSpc>
              <a:buNone/>
            </a:pPr>
            <a:r>
              <a:rPr lang="en-US" sz="1050" dirty="0">
                <a:solidFill>
                  <a:srgbClr val="334155"/>
                </a:solidFill>
                <a:latin typeface="Calibri" pitchFamily="34" charset="0"/>
                <a:ea typeface="Calibri" pitchFamily="34" charset="-122"/>
                <a:cs typeface="Calibri" pitchFamily="34" charset="-120"/>
              </a:rPr>
              <a:t>Students lack real-time visibility into whether their profiles were viewed, shortlisted, or rejected, fostering anxiety and persistent uncertainty.</a:t>
            </a:r>
            <a:endParaRPr lang="en-US" sz="1050" dirty="0"/>
          </a:p>
        </p:txBody>
      </p:sp>
      <p:sp>
        <p:nvSpPr>
          <p:cNvPr id="26" name="Shape 24"/>
          <p:cNvSpPr/>
          <p:nvPr/>
        </p:nvSpPr>
        <p:spPr>
          <a:xfrm>
            <a:off x="6309360" y="2880360"/>
            <a:ext cx="5120640" cy="1325880"/>
          </a:xfrm>
          <a:prstGeom prst="roundRect">
            <a:avLst>
              <a:gd name="adj" fmla="val 5517"/>
            </a:avLst>
          </a:prstGeom>
          <a:solidFill>
            <a:srgbClr val="FFFFFF"/>
          </a:solidFill>
          <a:ln w="19050">
            <a:solidFill>
              <a:srgbClr val="FFE4E6"/>
            </a:solidFill>
            <a:prstDash val="solid"/>
          </a:ln>
        </p:spPr>
      </p:sp>
      <p:sp>
        <p:nvSpPr>
          <p:cNvPr id="27" name="Shape 25"/>
          <p:cNvSpPr/>
          <p:nvPr/>
        </p:nvSpPr>
        <p:spPr>
          <a:xfrm>
            <a:off x="6492240" y="3026664"/>
            <a:ext cx="731520" cy="256032"/>
          </a:xfrm>
          <a:prstGeom prst="roundRect">
            <a:avLst>
              <a:gd name="adj" fmla="val 14286"/>
            </a:avLst>
          </a:prstGeom>
          <a:solidFill>
            <a:srgbClr val="FFE4E6"/>
          </a:solidFill>
          <a:ln w="10160">
            <a:solidFill>
              <a:srgbClr val="E11D48"/>
            </a:solidFill>
            <a:prstDash val="solid"/>
          </a:ln>
        </p:spPr>
      </p:sp>
      <p:sp>
        <p:nvSpPr>
          <p:cNvPr id="28" name="Text 26"/>
          <p:cNvSpPr/>
          <p:nvPr/>
        </p:nvSpPr>
        <p:spPr>
          <a:xfrm>
            <a:off x="6492240" y="3026664"/>
            <a:ext cx="731520" cy="256032"/>
          </a:xfrm>
          <a:prstGeom prst="rect">
            <a:avLst/>
          </a:prstGeom>
          <a:noFill/>
          <a:ln/>
        </p:spPr>
        <p:txBody>
          <a:bodyPr wrap="square" rtlCol="0" anchor="ctr"/>
          <a:lstStyle/>
          <a:p>
            <a:pPr algn="ctr" indent="0" marL="0">
              <a:buNone/>
            </a:pPr>
            <a:r>
              <a:rPr lang="en-US" sz="850" b="1" dirty="0">
                <a:solidFill>
                  <a:srgbClr val="E11D48"/>
                </a:solidFill>
                <a:latin typeface="Calibri" pitchFamily="34" charset="0"/>
                <a:ea typeface="Calibri" pitchFamily="34" charset="-122"/>
                <a:cs typeface="Calibri" pitchFamily="34" charset="-120"/>
              </a:rPr>
              <a:t>CH-04</a:t>
            </a:r>
            <a:endParaRPr lang="en-US" sz="850" dirty="0"/>
          </a:p>
        </p:txBody>
      </p:sp>
      <p:sp>
        <p:nvSpPr>
          <p:cNvPr id="29" name="Text 27"/>
          <p:cNvSpPr/>
          <p:nvPr/>
        </p:nvSpPr>
        <p:spPr>
          <a:xfrm>
            <a:off x="7360920" y="3017520"/>
            <a:ext cx="3886200" cy="292608"/>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Lack of Placement Analytics</a:t>
            </a:r>
            <a:endParaRPr lang="en-US" sz="1250" dirty="0"/>
          </a:p>
        </p:txBody>
      </p:sp>
      <p:sp>
        <p:nvSpPr>
          <p:cNvPr id="30" name="Text 28"/>
          <p:cNvSpPr/>
          <p:nvPr/>
        </p:nvSpPr>
        <p:spPr>
          <a:xfrm>
            <a:off x="6492240" y="3383280"/>
            <a:ext cx="4754880" cy="731520"/>
          </a:xfrm>
          <a:prstGeom prst="rect">
            <a:avLst/>
          </a:prstGeom>
          <a:noFill/>
          <a:ln/>
        </p:spPr>
        <p:txBody>
          <a:bodyPr wrap="square" rtlCol="0" anchor="t"/>
          <a:lstStyle/>
          <a:p>
            <a:pPr indent="0" marL="0">
              <a:lnSpc>
                <a:spcPct val="135000"/>
              </a:lnSpc>
              <a:buNone/>
            </a:pPr>
            <a:r>
              <a:rPr lang="en-US" sz="1050" dirty="0">
                <a:solidFill>
                  <a:srgbClr val="334155"/>
                </a:solidFill>
                <a:latin typeface="Calibri" pitchFamily="34" charset="0"/>
                <a:ea typeface="Calibri" pitchFamily="34" charset="-122"/>
                <a:cs typeface="Calibri" pitchFamily="34" charset="-120"/>
              </a:rPr>
              <a:t>College administrators lack automated reporting tools to track department-wise placement velocity, average CTC trends, and recruiter participation metrics.</a:t>
            </a:r>
            <a:endParaRPr lang="en-US" sz="1050" dirty="0"/>
          </a:p>
        </p:txBody>
      </p:sp>
      <p:sp>
        <p:nvSpPr>
          <p:cNvPr id="31" name="Shape 29"/>
          <p:cNvSpPr/>
          <p:nvPr/>
        </p:nvSpPr>
        <p:spPr>
          <a:xfrm>
            <a:off x="731520" y="4434840"/>
            <a:ext cx="5120640" cy="1325880"/>
          </a:xfrm>
          <a:prstGeom prst="roundRect">
            <a:avLst>
              <a:gd name="adj" fmla="val 5517"/>
            </a:avLst>
          </a:prstGeom>
          <a:solidFill>
            <a:srgbClr val="FFFFFF"/>
          </a:solidFill>
          <a:ln w="19050">
            <a:solidFill>
              <a:srgbClr val="FFE4E6"/>
            </a:solidFill>
            <a:prstDash val="solid"/>
          </a:ln>
        </p:spPr>
      </p:sp>
      <p:sp>
        <p:nvSpPr>
          <p:cNvPr id="32" name="Shape 30"/>
          <p:cNvSpPr/>
          <p:nvPr/>
        </p:nvSpPr>
        <p:spPr>
          <a:xfrm>
            <a:off x="914400" y="4581144"/>
            <a:ext cx="731520" cy="256032"/>
          </a:xfrm>
          <a:prstGeom prst="roundRect">
            <a:avLst>
              <a:gd name="adj" fmla="val 14286"/>
            </a:avLst>
          </a:prstGeom>
          <a:solidFill>
            <a:srgbClr val="FFE4E6"/>
          </a:solidFill>
          <a:ln w="10160">
            <a:solidFill>
              <a:srgbClr val="E11D48"/>
            </a:solidFill>
            <a:prstDash val="solid"/>
          </a:ln>
        </p:spPr>
      </p:sp>
      <p:sp>
        <p:nvSpPr>
          <p:cNvPr id="33" name="Text 31"/>
          <p:cNvSpPr/>
          <p:nvPr/>
        </p:nvSpPr>
        <p:spPr>
          <a:xfrm>
            <a:off x="914400" y="4581144"/>
            <a:ext cx="731520" cy="256032"/>
          </a:xfrm>
          <a:prstGeom prst="rect">
            <a:avLst/>
          </a:prstGeom>
          <a:noFill/>
          <a:ln/>
        </p:spPr>
        <p:txBody>
          <a:bodyPr wrap="square" rtlCol="0" anchor="ctr"/>
          <a:lstStyle/>
          <a:p>
            <a:pPr algn="ctr" indent="0" marL="0">
              <a:buNone/>
            </a:pPr>
            <a:r>
              <a:rPr lang="en-US" sz="850" b="1" dirty="0">
                <a:solidFill>
                  <a:srgbClr val="E11D48"/>
                </a:solidFill>
                <a:latin typeface="Calibri" pitchFamily="34" charset="0"/>
                <a:ea typeface="Calibri" pitchFamily="34" charset="-122"/>
                <a:cs typeface="Calibri" pitchFamily="34" charset="-120"/>
              </a:rPr>
              <a:t>CH-05</a:t>
            </a:r>
            <a:endParaRPr lang="en-US" sz="850" dirty="0"/>
          </a:p>
        </p:txBody>
      </p:sp>
      <p:sp>
        <p:nvSpPr>
          <p:cNvPr id="34" name="Text 32"/>
          <p:cNvSpPr/>
          <p:nvPr/>
        </p:nvSpPr>
        <p:spPr>
          <a:xfrm>
            <a:off x="1783080" y="4572000"/>
            <a:ext cx="3886200" cy="292608"/>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Format Inconsistency</a:t>
            </a:r>
            <a:endParaRPr lang="en-US" sz="1250" dirty="0"/>
          </a:p>
        </p:txBody>
      </p:sp>
      <p:sp>
        <p:nvSpPr>
          <p:cNvPr id="35" name="Text 33"/>
          <p:cNvSpPr/>
          <p:nvPr/>
        </p:nvSpPr>
        <p:spPr>
          <a:xfrm>
            <a:off x="914400" y="4937760"/>
            <a:ext cx="4754880" cy="731520"/>
          </a:xfrm>
          <a:prstGeom prst="rect">
            <a:avLst/>
          </a:prstGeom>
          <a:noFill/>
          <a:ln/>
        </p:spPr>
        <p:txBody>
          <a:bodyPr wrap="square" rtlCol="0" anchor="t"/>
          <a:lstStyle/>
          <a:p>
            <a:pPr indent="0" marL="0">
              <a:lnSpc>
                <a:spcPct val="135000"/>
              </a:lnSpc>
              <a:buNone/>
            </a:pPr>
            <a:r>
              <a:rPr lang="en-US" sz="1050" dirty="0">
                <a:solidFill>
                  <a:srgbClr val="334155"/>
                </a:solidFill>
                <a:latin typeface="Calibri" pitchFamily="34" charset="0"/>
                <a:ea typeface="Calibri" pitchFamily="34" charset="-122"/>
                <a:cs typeface="Calibri" pitchFamily="34" charset="-120"/>
              </a:rPr>
              <a:t>Submissions range from non-parsable image PDFs to unformatted Word files, preventing standard keyword matching and structured database queries.</a:t>
            </a:r>
            <a:endParaRPr lang="en-US" sz="1050" dirty="0"/>
          </a:p>
        </p:txBody>
      </p:sp>
      <p:sp>
        <p:nvSpPr>
          <p:cNvPr id="36" name="Shape 34"/>
          <p:cNvSpPr/>
          <p:nvPr/>
        </p:nvSpPr>
        <p:spPr>
          <a:xfrm>
            <a:off x="6309360" y="4434840"/>
            <a:ext cx="5120640" cy="1325880"/>
          </a:xfrm>
          <a:prstGeom prst="roundRect">
            <a:avLst>
              <a:gd name="adj" fmla="val 5517"/>
            </a:avLst>
          </a:prstGeom>
          <a:solidFill>
            <a:srgbClr val="FFFFFF"/>
          </a:solidFill>
          <a:ln w="19050">
            <a:solidFill>
              <a:srgbClr val="FFE4E6"/>
            </a:solidFill>
            <a:prstDash val="solid"/>
          </a:ln>
        </p:spPr>
      </p:sp>
      <p:sp>
        <p:nvSpPr>
          <p:cNvPr id="37" name="Shape 35"/>
          <p:cNvSpPr/>
          <p:nvPr/>
        </p:nvSpPr>
        <p:spPr>
          <a:xfrm>
            <a:off x="6492240" y="4581144"/>
            <a:ext cx="731520" cy="256032"/>
          </a:xfrm>
          <a:prstGeom prst="roundRect">
            <a:avLst>
              <a:gd name="adj" fmla="val 14286"/>
            </a:avLst>
          </a:prstGeom>
          <a:solidFill>
            <a:srgbClr val="FFE4E6"/>
          </a:solidFill>
          <a:ln w="10160">
            <a:solidFill>
              <a:srgbClr val="E11D48"/>
            </a:solidFill>
            <a:prstDash val="solid"/>
          </a:ln>
        </p:spPr>
      </p:sp>
      <p:sp>
        <p:nvSpPr>
          <p:cNvPr id="38" name="Text 36"/>
          <p:cNvSpPr/>
          <p:nvPr/>
        </p:nvSpPr>
        <p:spPr>
          <a:xfrm>
            <a:off x="6492240" y="4581144"/>
            <a:ext cx="731520" cy="256032"/>
          </a:xfrm>
          <a:prstGeom prst="rect">
            <a:avLst/>
          </a:prstGeom>
          <a:noFill/>
          <a:ln/>
        </p:spPr>
        <p:txBody>
          <a:bodyPr wrap="square" rtlCol="0" anchor="ctr"/>
          <a:lstStyle/>
          <a:p>
            <a:pPr algn="ctr" indent="0" marL="0">
              <a:buNone/>
            </a:pPr>
            <a:r>
              <a:rPr lang="en-US" sz="850" b="1" dirty="0">
                <a:solidFill>
                  <a:srgbClr val="E11D48"/>
                </a:solidFill>
                <a:latin typeface="Calibri" pitchFamily="34" charset="0"/>
                <a:ea typeface="Calibri" pitchFamily="34" charset="-122"/>
                <a:cs typeface="Calibri" pitchFamily="34" charset="-120"/>
              </a:rPr>
              <a:t>CH-06</a:t>
            </a:r>
            <a:endParaRPr lang="en-US" sz="850" dirty="0"/>
          </a:p>
        </p:txBody>
      </p:sp>
      <p:sp>
        <p:nvSpPr>
          <p:cNvPr id="39" name="Text 37"/>
          <p:cNvSpPr/>
          <p:nvPr/>
        </p:nvSpPr>
        <p:spPr>
          <a:xfrm>
            <a:off x="7360920" y="4572000"/>
            <a:ext cx="3886200" cy="292608"/>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Absence of Automated Follow-ups</a:t>
            </a:r>
            <a:endParaRPr lang="en-US" sz="1250" dirty="0"/>
          </a:p>
        </p:txBody>
      </p:sp>
      <p:sp>
        <p:nvSpPr>
          <p:cNvPr id="40" name="Text 38"/>
          <p:cNvSpPr/>
          <p:nvPr/>
        </p:nvSpPr>
        <p:spPr>
          <a:xfrm>
            <a:off x="6492240" y="4937760"/>
            <a:ext cx="4754880" cy="731520"/>
          </a:xfrm>
          <a:prstGeom prst="rect">
            <a:avLst/>
          </a:prstGeom>
          <a:noFill/>
          <a:ln/>
        </p:spPr>
        <p:txBody>
          <a:bodyPr wrap="square" rtlCol="0" anchor="t"/>
          <a:lstStyle/>
          <a:p>
            <a:pPr indent="0" marL="0">
              <a:lnSpc>
                <a:spcPct val="135000"/>
              </a:lnSpc>
              <a:buNone/>
            </a:pPr>
            <a:r>
              <a:rPr lang="en-US" sz="1050" dirty="0">
                <a:solidFill>
                  <a:srgbClr val="334155"/>
                </a:solidFill>
                <a:latin typeface="Calibri" pitchFamily="34" charset="0"/>
                <a:ea typeface="Calibri" pitchFamily="34" charset="-122"/>
                <a:cs typeface="Calibri" pitchFamily="34" charset="-120"/>
              </a:rPr>
              <a:t>Interview scheduling, selection notices, and regret communications are drafted manually, resulting in severe human delay and communication errors.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59669"/>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D1FAE5"/>
          </a:solidFill>
          <a:ln w="10160">
            <a:solidFill>
              <a:srgbClr val="059669"/>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059669"/>
                </a:solidFill>
                <a:latin typeface="Calibri" pitchFamily="34" charset="0"/>
                <a:ea typeface="Calibri" pitchFamily="34" charset="-122"/>
                <a:cs typeface="Calibri" pitchFamily="34" charset="-120"/>
              </a:rPr>
              <a:t>GOALS</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Project Objectives &amp; Target Scope</a:t>
            </a:r>
            <a:endParaRPr lang="en-US" sz="2300" dirty="0"/>
          </a:p>
        </p:txBody>
      </p:sp>
      <p:sp>
        <p:nvSpPr>
          <p:cNvPr id="8" name="Shape 6"/>
          <p:cNvSpPr/>
          <p:nvPr/>
        </p:nvSpPr>
        <p:spPr>
          <a:xfrm>
            <a:off x="731520" y="1097280"/>
            <a:ext cx="2194560" cy="32004"/>
          </a:xfrm>
          <a:prstGeom prst="rect">
            <a:avLst/>
          </a:prstGeom>
          <a:solidFill>
            <a:srgbClr val="059669"/>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059669"/>
                </a:solidFill>
                <a:latin typeface="Calibri" pitchFamily="34" charset="0"/>
                <a:ea typeface="Calibri" pitchFamily="34" charset="-122"/>
                <a:cs typeface="Calibri" pitchFamily="34" charset="-120"/>
              </a:rPr>
              <a:t>04</a:t>
            </a:r>
            <a:endParaRPr lang="en-US" sz="950" dirty="0"/>
          </a:p>
        </p:txBody>
      </p:sp>
      <p:sp>
        <p:nvSpPr>
          <p:cNvPr id="11" name="Text 9"/>
          <p:cNvSpPr/>
          <p:nvPr/>
        </p:nvSpPr>
        <p:spPr>
          <a:xfrm>
            <a:off x="731520" y="1325880"/>
            <a:ext cx="10698480" cy="5120640"/>
          </a:xfrm>
          <a:prstGeom prst="rect">
            <a:avLst/>
          </a:prstGeom>
          <a:noFill/>
          <a:ln/>
        </p:spPr>
        <p:txBody>
          <a:bodyPr wrap="square" rtlCol="0" anchor="t"/>
          <a:lstStyle/>
          <a:p>
            <a:pPr>
              <a:lnSpc>
                <a:spcPct val="135000"/>
              </a:lnSpc>
              <a:spcAft>
                <a:spcPts val="700"/>
              </a:spcAft>
            </a:pPr>
            <a:r>
              <a:rPr lang="en-US" sz="1250" dirty="0">
                <a:solidFill>
                  <a:srgbClr val="334155"/>
                </a:solidFill>
                <a:latin typeface="Calibri" pitchFamily="34" charset="0"/>
                <a:ea typeface="Calibri" pitchFamily="34" charset="-122"/>
                <a:cs typeface="Calibri" pitchFamily="34" charset="-120"/>
              </a:rPr>
              <a:t>Architect a Tri-Role Secure Web Portal: Implement isolated access spaces for Students, Recruiters, and Placement Administrators guarded by JWT authentication and bcrypt cryptography.</a:t>
            </a:r>
            <a:endParaRPr lang="en-US" sz="1250" dirty="0"/>
          </a:p>
          <a:p>
            <a:pPr>
              <a:lnSpc>
                <a:spcPct val="135000"/>
              </a:lnSpc>
              <a:spcAft>
                <a:spcPts val="700"/>
              </a:spcAft>
            </a:pPr>
            <a:r>
              <a:rPr lang="en-US" sz="1250" dirty="0">
                <a:solidFill>
                  <a:srgbClr val="334155"/>
                </a:solidFill>
                <a:latin typeface="Calibri" pitchFamily="34" charset="0"/>
                <a:ea typeface="Calibri" pitchFamily="34" charset="-122"/>
                <a:cs typeface="Calibri" pitchFamily="34" charset="-120"/>
              </a:rPr>
              <a:t>Develop Document Ingestion &amp; Parsing Subsystems: Integrate pdf-parse and mammoth to extract plain-text representations from uploaded PDF and DOCX student resumes.</a:t>
            </a:r>
            <a:endParaRPr lang="en-US" sz="1250" dirty="0"/>
          </a:p>
          <a:p>
            <a:pPr>
              <a:lnSpc>
                <a:spcPct val="135000"/>
              </a:lnSpc>
              <a:spcAft>
                <a:spcPts val="700"/>
              </a:spcAft>
            </a:pPr>
            <a:r>
              <a:rPr lang="en-US" sz="1250" dirty="0">
                <a:solidFill>
                  <a:srgbClr val="334155"/>
                </a:solidFill>
                <a:latin typeface="Calibri" pitchFamily="34" charset="0"/>
                <a:ea typeface="Calibri" pitchFamily="34" charset="-122"/>
                <a:cs typeface="Calibri" pitchFamily="34" charset="-120"/>
              </a:rPr>
              <a:t>Construct ATS Compatibility &amp; Keyword Engine: Calculate match scores between applicant technical profiles and recruiter requirement vectors to generate candidate rankings.</a:t>
            </a:r>
            <a:endParaRPr lang="en-US" sz="1250" dirty="0"/>
          </a:p>
          <a:p>
            <a:pPr>
              <a:lnSpc>
                <a:spcPct val="135000"/>
              </a:lnSpc>
              <a:spcAft>
                <a:spcPts val="700"/>
              </a:spcAft>
            </a:pPr>
            <a:r>
              <a:rPr lang="en-US" sz="1250" dirty="0">
                <a:solidFill>
                  <a:srgbClr val="334155"/>
                </a:solidFill>
                <a:latin typeface="Calibri" pitchFamily="34" charset="0"/>
                <a:ea typeface="Calibri" pitchFamily="34" charset="-122"/>
                <a:cs typeface="Calibri" pitchFamily="34" charset="-120"/>
              </a:rPr>
              <a:t>Engineer Automated Email Dispatch System: Configure NodeMailer with HTML notification templates to auto-transmit status updates (Shortlisted, Interview Scheduled, Offer Extended).</a:t>
            </a:r>
            <a:endParaRPr lang="en-US" sz="1250" dirty="0"/>
          </a:p>
          <a:p>
            <a:pPr>
              <a:lnSpc>
                <a:spcPct val="135000"/>
              </a:lnSpc>
              <a:spcAft>
                <a:spcPts val="700"/>
              </a:spcAft>
            </a:pPr>
            <a:r>
              <a:rPr lang="en-US" sz="1250" dirty="0">
                <a:solidFill>
                  <a:srgbClr val="334155"/>
                </a:solidFill>
                <a:latin typeface="Calibri" pitchFamily="34" charset="0"/>
                <a:ea typeface="Calibri" pitchFamily="34" charset="-122"/>
                <a:cs typeface="Calibri" pitchFamily="34" charset="-120"/>
              </a:rPr>
              <a:t>Provide Real-Time Application Lifecycle Tracking: Build live state management allowing students to track applications through distinct stages: Applied ➔ Screened ➔ Interview ➔ Selected.</a:t>
            </a:r>
            <a:endParaRPr lang="en-US" sz="1250" dirty="0"/>
          </a:p>
          <a:p>
            <a:pPr>
              <a:lnSpc>
                <a:spcPct val="135000"/>
              </a:lnSpc>
              <a:spcAft>
                <a:spcPts val="700"/>
              </a:spcAft>
            </a:pPr>
            <a:r>
              <a:rPr lang="en-US" sz="1250" dirty="0">
                <a:solidFill>
                  <a:srgbClr val="334155"/>
                </a:solidFill>
                <a:latin typeface="Calibri" pitchFamily="34" charset="0"/>
                <a:ea typeface="Calibri" pitchFamily="34" charset="-122"/>
                <a:cs typeface="Calibri" pitchFamily="34" charset="-120"/>
              </a:rPr>
              <a:t>Implement Interactive Visual Placement Analytics: Embed Recharts dashboards rendering hiring funnels, monthly drive trends, and recruiter conversion metrics.</a:t>
            </a:r>
            <a:endParaRPr lang="en-US" sz="1250" dirty="0"/>
          </a:p>
          <a:p>
            <a:pPr>
              <a:lnSpc>
                <a:spcPct val="135000"/>
              </a:lnSpc>
              <a:spcAft>
                <a:spcPts val="700"/>
              </a:spcAft>
            </a:pPr>
            <a:r>
              <a:rPr lang="en-US" sz="1250" dirty="0">
                <a:solidFill>
                  <a:srgbClr val="334155"/>
                </a:solidFill>
                <a:latin typeface="Calibri" pitchFamily="34" charset="0"/>
                <a:ea typeface="Calibri" pitchFamily="34" charset="-122"/>
                <a:cs typeface="Calibri" pitchFamily="34" charset="-120"/>
              </a:rPr>
              <a:t>Deliver Dynamic Student Portfolio &amp; Resume Builder: Provide in-app template generators to standardize student CVs with validated sections (Education, Projects, Skills, Certifications).</a:t>
            </a:r>
            <a:endParaRPr lang="en-US" sz="1250" dirty="0"/>
          </a:p>
          <a:p>
            <a:pPr>
              <a:lnSpc>
                <a:spcPct val="135000"/>
              </a:lnSpc>
              <a:spcAft>
                <a:spcPts val="700"/>
              </a:spcAft>
            </a:pPr>
            <a:r>
              <a:rPr lang="en-US" sz="1250" dirty="0">
                <a:solidFill>
                  <a:srgbClr val="334155"/>
                </a:solidFill>
                <a:latin typeface="Calibri" pitchFamily="34" charset="0"/>
                <a:ea typeface="Calibri" pitchFamily="34" charset="-122"/>
                <a:cs typeface="Calibri" pitchFamily="34" charset="-120"/>
              </a:rPr>
              <a:t>Ensure Modern Responsive UI/UX Standards: Implement smooth transitions using Framer Motion, adaptive dark/light design systems, and responsive layout scaling across all viewports.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D97706"/>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FEF3C7"/>
          </a:solidFill>
          <a:ln w="10160">
            <a:solidFill>
              <a:srgbClr val="D97706"/>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D97706"/>
                </a:solidFill>
                <a:latin typeface="Calibri" pitchFamily="34" charset="0"/>
                <a:ea typeface="Calibri" pitchFamily="34" charset="-122"/>
                <a:cs typeface="Calibri" pitchFamily="34" charset="-120"/>
              </a:rPr>
              <a:t>BENCHMARKING</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Literature Survey / Related Work &amp; Research Gap</a:t>
            </a:r>
            <a:endParaRPr lang="en-US" sz="2300" dirty="0"/>
          </a:p>
        </p:txBody>
      </p:sp>
      <p:sp>
        <p:nvSpPr>
          <p:cNvPr id="8" name="Shape 6"/>
          <p:cNvSpPr/>
          <p:nvPr/>
        </p:nvSpPr>
        <p:spPr>
          <a:xfrm>
            <a:off x="731520" y="1097280"/>
            <a:ext cx="2194560" cy="32004"/>
          </a:xfrm>
          <a:prstGeom prst="rect">
            <a:avLst/>
          </a:prstGeom>
          <a:solidFill>
            <a:srgbClr val="D97706"/>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D97706"/>
                </a:solidFill>
                <a:latin typeface="Calibri" pitchFamily="34" charset="0"/>
                <a:ea typeface="Calibri" pitchFamily="34" charset="-122"/>
                <a:cs typeface="Calibri" pitchFamily="34" charset="-120"/>
              </a:rPr>
              <a:t>05</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10698480" cy="914400"/>
        </p:xfrm>
        <a:graphic>
          <a:graphicData uri="http://schemas.openxmlformats.org/drawingml/2006/table">
            <a:tbl>
              <a:tblPr/>
              <a:tblGrid>
                <a:gridCol w="2286000"/>
                <a:gridCol w="4206240"/>
                <a:gridCol w="4206240"/>
              </a:tblGrid>
              <a:tr h="38404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Platform / Approach</a:t>
                      </a:r>
                      <a:endParaRPr lang="en-US" sz="1050" dirty="0">
                        <a:latin typeface="Calibri" charset="0"/>
                        <a:ea typeface="Calibri" charset="0"/>
                        <a:cs typeface="Calibri"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9770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Core Architecture &amp; Strengths</a:t>
                      </a:r>
                      <a:endParaRPr lang="en-US" sz="1050" dirty="0">
                        <a:latin typeface="Calibri" charset="0"/>
                        <a:ea typeface="Calibri" charset="0"/>
                        <a:cs typeface="Calibri"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9770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Identified Limitations &amp; Gaps in Context of Campus Drives</a:t>
                      </a:r>
                      <a:endParaRPr lang="en-US" sz="1050" dirty="0">
                        <a:latin typeface="Calibri" charset="0"/>
                        <a:ea typeface="Calibri" charset="0"/>
                        <a:cs typeface="Calibri"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97706"/>
                    </a:solidFill>
                  </a:tcPr>
                </a:tc>
              </a:tr>
              <a:tr h="594360">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LinkedIn / Indeed</a:t>
                      </a:r>
                      <a:endParaRPr lang="en-US" sz="1000" dirty="0">
                        <a:latin typeface="Calibri" charset="0"/>
                        <a:ea typeface="Calibri" charset="0"/>
                        <a:cs typeface="Calibri"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Global reach, professional networking, broad job aggregators, sponsored job listings.</a:t>
                      </a:r>
                      <a:endParaRPr lang="en-US" sz="950" dirty="0">
                        <a:latin typeface="Calibri" charset="0"/>
                        <a:ea typeface="Calibri" charset="0"/>
                        <a:cs typeface="Calibri"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Lacks institutional placement drive governance; no college TPO oversight; expensive recruiter subscriptions.</a:t>
                      </a:r>
                      <a:endParaRPr lang="en-US" sz="950" dirty="0">
                        <a:latin typeface="Calibri" charset="0"/>
                        <a:ea typeface="Calibri" charset="0"/>
                        <a:cs typeface="Calibri"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94360">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Superset / Handshake</a:t>
                      </a:r>
                      <a:endParaRPr lang="en-US" sz="1000" dirty="0">
                        <a:latin typeface="Calibri" charset="0"/>
                        <a:ea typeface="Calibri" charset="0"/>
                        <a:cs typeface="Calibri"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College-oriented campus hiring workflow, university database syncing, centralized job board.</a:t>
                      </a:r>
                      <a:endParaRPr lang="en-US" sz="950" dirty="0">
                        <a:latin typeface="Calibri" charset="0"/>
                        <a:ea typeface="Calibri" charset="0"/>
                        <a:cs typeface="Calibri"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Proprietary closed-source code; high enterprise licensing fees; lacks automated transparent ATS scoring algorithms.</a:t>
                      </a:r>
                      <a:endParaRPr lang="en-US" sz="950" dirty="0">
                        <a:latin typeface="Calibri" charset="0"/>
                        <a:ea typeface="Calibri" charset="0"/>
                        <a:cs typeface="Calibri"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94360">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Legacy College ERPs</a:t>
                      </a:r>
                      <a:endParaRPr lang="en-US" sz="1000" dirty="0">
                        <a:latin typeface="Calibri" charset="0"/>
                        <a:ea typeface="Calibri" charset="0"/>
                        <a:cs typeface="Calibri"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Direct integration with college student records, marksheet data, attendance records.</a:t>
                      </a:r>
                      <a:endParaRPr lang="en-US" sz="950" dirty="0">
                        <a:latin typeface="Calibri" charset="0"/>
                        <a:ea typeface="Calibri" charset="0"/>
                        <a:cs typeface="Calibri"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Outdated monolithic UIs, absence of recruiter self-service dashboards, zero real-time messaging, no resume parsing.</a:t>
                      </a:r>
                      <a:endParaRPr lang="en-US" sz="950" dirty="0">
                        <a:latin typeface="Calibri" charset="0"/>
                        <a:ea typeface="Calibri" charset="0"/>
                        <a:cs typeface="Calibri"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r h="594360">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Academic ML Prototypes (IEEE / Springer)</a:t>
                      </a:r>
                      <a:endParaRPr lang="en-US" sz="1000" dirty="0">
                        <a:latin typeface="Calibri" charset="0"/>
                        <a:ea typeface="Calibri" charset="0"/>
                        <a:cs typeface="Calibri"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High theoretical accuracy in candidate ranking via NLP, TF-IDF, and word embeddings.</a:t>
                      </a:r>
                      <a:endParaRPr lang="en-US" sz="950" dirty="0">
                        <a:latin typeface="Calibri" charset="0"/>
                        <a:ea typeface="Calibri" charset="0"/>
                        <a:cs typeface="Calibri"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Proof-of-concept models only; lack full-stack production architecture, auth pipelines, email triggers, and UI.</a:t>
                      </a:r>
                      <a:endParaRPr lang="en-US" sz="950" dirty="0">
                        <a:latin typeface="Calibri" charset="0"/>
                        <a:ea typeface="Calibri" charset="0"/>
                        <a:cs typeface="Calibri"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r>
            </a:tbl>
          </a:graphicData>
        </a:graphic>
      </p:graphicFrame>
      <p:sp>
        <p:nvSpPr>
          <p:cNvPr id="12" name="Shape 9"/>
          <p:cNvSpPr/>
          <p:nvPr/>
        </p:nvSpPr>
        <p:spPr>
          <a:xfrm>
            <a:off x="731520" y="4434840"/>
            <a:ext cx="10698480" cy="1691640"/>
          </a:xfrm>
          <a:prstGeom prst="roundRect">
            <a:avLst>
              <a:gd name="adj" fmla="val 4324"/>
            </a:avLst>
          </a:prstGeom>
          <a:solidFill>
            <a:srgbClr val="FFFBEB"/>
          </a:solidFill>
          <a:ln w="15240">
            <a:solidFill>
              <a:srgbClr val="D97706"/>
            </a:solidFill>
            <a:prstDash val="solid"/>
          </a:ln>
        </p:spPr>
      </p:sp>
      <p:sp>
        <p:nvSpPr>
          <p:cNvPr id="13" name="Text 10"/>
          <p:cNvSpPr/>
          <p:nvPr/>
        </p:nvSpPr>
        <p:spPr>
          <a:xfrm>
            <a:off x="1005840" y="4526280"/>
            <a:ext cx="5486400" cy="256032"/>
          </a:xfrm>
          <a:prstGeom prst="rect">
            <a:avLst/>
          </a:prstGeom>
          <a:noFill/>
          <a:ln/>
        </p:spPr>
        <p:txBody>
          <a:bodyPr wrap="square" rtlCol="0" anchor="ctr"/>
          <a:lstStyle/>
          <a:p>
            <a:pPr indent="0" marL="0">
              <a:buNone/>
            </a:pPr>
            <a:r>
              <a:rPr lang="en-US" sz="900" b="1" spc="300" kern="0" dirty="0">
                <a:solidFill>
                  <a:srgbClr val="D97706"/>
                </a:solidFill>
                <a:latin typeface="Calibri" pitchFamily="34" charset="0"/>
                <a:ea typeface="Calibri" pitchFamily="34" charset="-122"/>
                <a:cs typeface="Calibri" pitchFamily="34" charset="-120"/>
              </a:rPr>
              <a:t>SYNTHESIZED RESEARCH &amp; DEVELOPMENT GAP</a:t>
            </a:r>
            <a:endParaRPr lang="en-US" sz="900" dirty="0"/>
          </a:p>
        </p:txBody>
      </p:sp>
      <p:sp>
        <p:nvSpPr>
          <p:cNvPr id="14" name="Text 11"/>
          <p:cNvSpPr/>
          <p:nvPr/>
        </p:nvSpPr>
        <p:spPr>
          <a:xfrm>
            <a:off x="1005840" y="4846320"/>
            <a:ext cx="10149840" cy="1143000"/>
          </a:xfrm>
          <a:prstGeom prst="rect">
            <a:avLst/>
          </a:prstGeom>
          <a:noFill/>
          <a:ln/>
        </p:spPr>
        <p:txBody>
          <a:bodyPr wrap="square" rtlCol="0" anchor="t"/>
          <a:lstStyle/>
          <a:p>
            <a:pPr indent="0" marL="0">
              <a:lnSpc>
                <a:spcPct val="145000"/>
              </a:lnSpc>
              <a:buNone/>
            </a:pPr>
            <a:r>
              <a:rPr lang="en-US" sz="1150" dirty="0">
                <a:solidFill>
                  <a:srgbClr val="0F172A"/>
                </a:solidFill>
                <a:latin typeface="Calibri" pitchFamily="34" charset="0"/>
                <a:ea typeface="Calibri" pitchFamily="34" charset="-122"/>
                <a:cs typeface="Calibri" pitchFamily="34" charset="-120"/>
              </a:rPr>
              <a:t>Current offerings leave educational institutions with a binary dilemma: either pay exorbitant annual subscriptions for proprietary enterprise platforms (Superset) or struggle with archaic, unmaintained ERP modules lacking intelligence. There is a conspicuous lack of an open-source, full-stack MERN placement platform that natively integrates resume text extraction, ATS scoring, multi-tenant RBAC, automated SMTP notifications, and real-time visual analytics into a single, freely hostable system for colleges like ALTS.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D9488"/>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CCFBF1"/>
          </a:solidFill>
          <a:ln w="10160">
            <a:solidFill>
              <a:srgbClr val="0D9488"/>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0D9488"/>
                </a:solidFill>
                <a:latin typeface="Calibri" pitchFamily="34" charset="0"/>
                <a:ea typeface="Calibri" pitchFamily="34" charset="-122"/>
                <a:cs typeface="Calibri" pitchFamily="34" charset="-120"/>
              </a:rPr>
              <a:t>ARCHITECTURE</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System Architecture: High-Level Multi-Tier Framework</a:t>
            </a:r>
            <a:endParaRPr lang="en-US" sz="2300" dirty="0"/>
          </a:p>
        </p:txBody>
      </p:sp>
      <p:sp>
        <p:nvSpPr>
          <p:cNvPr id="8" name="Shape 6"/>
          <p:cNvSpPr/>
          <p:nvPr/>
        </p:nvSpPr>
        <p:spPr>
          <a:xfrm>
            <a:off x="731520" y="1097280"/>
            <a:ext cx="2194560" cy="32004"/>
          </a:xfrm>
          <a:prstGeom prst="rect">
            <a:avLst/>
          </a:prstGeom>
          <a:solidFill>
            <a:srgbClr val="0D9488"/>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0D9488"/>
                </a:solidFill>
                <a:latin typeface="Calibri" pitchFamily="34" charset="0"/>
                <a:ea typeface="Calibri" pitchFamily="34" charset="-122"/>
                <a:cs typeface="Calibri" pitchFamily="34" charset="-120"/>
              </a:rPr>
              <a:t>06</a:t>
            </a:r>
            <a:endParaRPr lang="en-US" sz="950" dirty="0"/>
          </a:p>
        </p:txBody>
      </p:sp>
      <p:sp>
        <p:nvSpPr>
          <p:cNvPr id="11" name="Text 9"/>
          <p:cNvSpPr/>
          <p:nvPr/>
        </p:nvSpPr>
        <p:spPr>
          <a:xfrm>
            <a:off x="731520" y="1325880"/>
            <a:ext cx="10698480" cy="228600"/>
          </a:xfrm>
          <a:prstGeom prst="rect">
            <a:avLst/>
          </a:prstGeom>
          <a:noFill/>
          <a:ln/>
        </p:spPr>
        <p:txBody>
          <a:bodyPr wrap="square" rtlCol="0" anchor="ctr"/>
          <a:lstStyle/>
          <a:p>
            <a:pPr indent="0" marL="0">
              <a:buNone/>
            </a:pPr>
            <a:r>
              <a:rPr lang="en-US" sz="850" b="1" spc="200" kern="0" dirty="0">
                <a:solidFill>
                  <a:srgbClr val="0D9488"/>
                </a:solidFill>
                <a:latin typeface="Calibri" pitchFamily="34" charset="0"/>
                <a:ea typeface="Calibri" pitchFamily="34" charset="-122"/>
                <a:cs typeface="Calibri" pitchFamily="34" charset="-120"/>
              </a:rPr>
              <a:t>PRESENTATION TIER (CLIENT SPA — REACT 18 + VITE)</a:t>
            </a:r>
            <a:endParaRPr lang="en-US" sz="850" dirty="0"/>
          </a:p>
        </p:txBody>
      </p:sp>
      <p:sp>
        <p:nvSpPr>
          <p:cNvPr id="12" name="Shape 10"/>
          <p:cNvSpPr/>
          <p:nvPr/>
        </p:nvSpPr>
        <p:spPr>
          <a:xfrm>
            <a:off x="731520" y="1600200"/>
            <a:ext cx="1645920" cy="658368"/>
          </a:xfrm>
          <a:prstGeom prst="roundRect">
            <a:avLst>
              <a:gd name="adj" fmla="val 8333"/>
            </a:avLst>
          </a:prstGeom>
          <a:solidFill>
            <a:srgbClr val="F0FDFA"/>
          </a:solidFill>
          <a:ln w="12700">
            <a:solidFill>
              <a:srgbClr val="0D9488"/>
            </a:solidFill>
            <a:prstDash val="solid"/>
          </a:ln>
        </p:spPr>
      </p:sp>
      <p:sp>
        <p:nvSpPr>
          <p:cNvPr id="13" name="Text 11"/>
          <p:cNvSpPr/>
          <p:nvPr/>
        </p:nvSpPr>
        <p:spPr>
          <a:xfrm>
            <a:off x="786384" y="1636776"/>
            <a:ext cx="1536192" cy="585216"/>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React 18 + Vite</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(Modular SPA)</a:t>
            </a:r>
            <a:endParaRPr lang="en-US" sz="850" dirty="0"/>
          </a:p>
        </p:txBody>
      </p:sp>
      <p:sp>
        <p:nvSpPr>
          <p:cNvPr id="14" name="Shape 12"/>
          <p:cNvSpPr/>
          <p:nvPr/>
        </p:nvSpPr>
        <p:spPr>
          <a:xfrm>
            <a:off x="2542032" y="1600200"/>
            <a:ext cx="1645920" cy="658368"/>
          </a:xfrm>
          <a:prstGeom prst="roundRect">
            <a:avLst>
              <a:gd name="adj" fmla="val 8333"/>
            </a:avLst>
          </a:prstGeom>
          <a:solidFill>
            <a:srgbClr val="F0FDFA"/>
          </a:solidFill>
          <a:ln w="12700">
            <a:solidFill>
              <a:srgbClr val="0D9488"/>
            </a:solidFill>
            <a:prstDash val="solid"/>
          </a:ln>
        </p:spPr>
      </p:sp>
      <p:sp>
        <p:nvSpPr>
          <p:cNvPr id="15" name="Text 13"/>
          <p:cNvSpPr/>
          <p:nvPr/>
        </p:nvSpPr>
        <p:spPr>
          <a:xfrm>
            <a:off x="2596896" y="1636776"/>
            <a:ext cx="1536192" cy="585216"/>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React Router v6</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(Protected Routes)</a:t>
            </a:r>
            <a:endParaRPr lang="en-US" sz="850" dirty="0"/>
          </a:p>
        </p:txBody>
      </p:sp>
      <p:sp>
        <p:nvSpPr>
          <p:cNvPr id="16" name="Shape 14"/>
          <p:cNvSpPr/>
          <p:nvPr/>
        </p:nvSpPr>
        <p:spPr>
          <a:xfrm>
            <a:off x="4352544" y="1600200"/>
            <a:ext cx="1645920" cy="658368"/>
          </a:xfrm>
          <a:prstGeom prst="roundRect">
            <a:avLst>
              <a:gd name="adj" fmla="val 8333"/>
            </a:avLst>
          </a:prstGeom>
          <a:solidFill>
            <a:srgbClr val="F0FDFA"/>
          </a:solidFill>
          <a:ln w="12700">
            <a:solidFill>
              <a:srgbClr val="0D9488"/>
            </a:solidFill>
            <a:prstDash val="solid"/>
          </a:ln>
        </p:spPr>
      </p:sp>
      <p:sp>
        <p:nvSpPr>
          <p:cNvPr id="17" name="Text 15"/>
          <p:cNvSpPr/>
          <p:nvPr/>
        </p:nvSpPr>
        <p:spPr>
          <a:xfrm>
            <a:off x="4407408" y="1636776"/>
            <a:ext cx="1536192" cy="585216"/>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Context API</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(Auth &amp; Theme State)</a:t>
            </a:r>
            <a:endParaRPr lang="en-US" sz="850" dirty="0"/>
          </a:p>
        </p:txBody>
      </p:sp>
      <p:sp>
        <p:nvSpPr>
          <p:cNvPr id="18" name="Shape 16"/>
          <p:cNvSpPr/>
          <p:nvPr/>
        </p:nvSpPr>
        <p:spPr>
          <a:xfrm>
            <a:off x="6163056" y="1600200"/>
            <a:ext cx="1645920" cy="658368"/>
          </a:xfrm>
          <a:prstGeom prst="roundRect">
            <a:avLst>
              <a:gd name="adj" fmla="val 8333"/>
            </a:avLst>
          </a:prstGeom>
          <a:solidFill>
            <a:srgbClr val="F0FDFA"/>
          </a:solidFill>
          <a:ln w="12700">
            <a:solidFill>
              <a:srgbClr val="0D9488"/>
            </a:solidFill>
            <a:prstDash val="solid"/>
          </a:ln>
        </p:spPr>
      </p:sp>
      <p:sp>
        <p:nvSpPr>
          <p:cNvPr id="19" name="Text 17"/>
          <p:cNvSpPr/>
          <p:nvPr/>
        </p:nvSpPr>
        <p:spPr>
          <a:xfrm>
            <a:off x="6217920" y="1636776"/>
            <a:ext cx="1536192" cy="585216"/>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Framer Motion</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(Micro-Animations)</a:t>
            </a:r>
            <a:endParaRPr lang="en-US" sz="850" dirty="0"/>
          </a:p>
        </p:txBody>
      </p:sp>
      <p:sp>
        <p:nvSpPr>
          <p:cNvPr id="20" name="Shape 18"/>
          <p:cNvSpPr/>
          <p:nvPr/>
        </p:nvSpPr>
        <p:spPr>
          <a:xfrm>
            <a:off x="7973568" y="1600200"/>
            <a:ext cx="1645920" cy="658368"/>
          </a:xfrm>
          <a:prstGeom prst="roundRect">
            <a:avLst>
              <a:gd name="adj" fmla="val 8333"/>
            </a:avLst>
          </a:prstGeom>
          <a:solidFill>
            <a:srgbClr val="F0FDFA"/>
          </a:solidFill>
          <a:ln w="12700">
            <a:solidFill>
              <a:srgbClr val="0D9488"/>
            </a:solidFill>
            <a:prstDash val="solid"/>
          </a:ln>
        </p:spPr>
      </p:sp>
      <p:sp>
        <p:nvSpPr>
          <p:cNvPr id="21" name="Text 19"/>
          <p:cNvSpPr/>
          <p:nvPr/>
        </p:nvSpPr>
        <p:spPr>
          <a:xfrm>
            <a:off x="8028432" y="1636776"/>
            <a:ext cx="1536192" cy="585216"/>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Recharts Engine</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(Visual Analytics)</a:t>
            </a:r>
            <a:endParaRPr lang="en-US" sz="850" dirty="0"/>
          </a:p>
        </p:txBody>
      </p:sp>
      <p:sp>
        <p:nvSpPr>
          <p:cNvPr id="22" name="Shape 20"/>
          <p:cNvSpPr/>
          <p:nvPr/>
        </p:nvSpPr>
        <p:spPr>
          <a:xfrm>
            <a:off x="9784080" y="1600200"/>
            <a:ext cx="1645920" cy="658368"/>
          </a:xfrm>
          <a:prstGeom prst="roundRect">
            <a:avLst>
              <a:gd name="adj" fmla="val 8333"/>
            </a:avLst>
          </a:prstGeom>
          <a:solidFill>
            <a:srgbClr val="F0FDFA"/>
          </a:solidFill>
          <a:ln w="12700">
            <a:solidFill>
              <a:srgbClr val="0D9488"/>
            </a:solidFill>
            <a:prstDash val="solid"/>
          </a:ln>
        </p:spPr>
      </p:sp>
      <p:sp>
        <p:nvSpPr>
          <p:cNvPr id="23" name="Text 21"/>
          <p:cNvSpPr/>
          <p:nvPr/>
        </p:nvSpPr>
        <p:spPr>
          <a:xfrm>
            <a:off x="9838944" y="1636776"/>
            <a:ext cx="1536192" cy="585216"/>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Lucide React</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(Accessible Icons)</a:t>
            </a:r>
            <a:endParaRPr lang="en-US" sz="850" dirty="0"/>
          </a:p>
        </p:txBody>
      </p:sp>
      <p:sp>
        <p:nvSpPr>
          <p:cNvPr id="24" name="Shape 22"/>
          <p:cNvSpPr/>
          <p:nvPr/>
        </p:nvSpPr>
        <p:spPr>
          <a:xfrm>
            <a:off x="6035040" y="2331720"/>
            <a:ext cx="0" cy="365760"/>
          </a:xfrm>
          <a:prstGeom prst="line">
            <a:avLst/>
          </a:prstGeom>
          <a:noFill/>
          <a:ln w="16510">
            <a:solidFill>
              <a:srgbClr val="0D9488"/>
            </a:solidFill>
            <a:prstDash val="solid"/>
            <a:tailEnd type="triangle"/>
          </a:ln>
        </p:spPr>
      </p:sp>
      <p:sp>
        <p:nvSpPr>
          <p:cNvPr id="25" name="Shape 23"/>
          <p:cNvSpPr/>
          <p:nvPr/>
        </p:nvSpPr>
        <p:spPr>
          <a:xfrm>
            <a:off x="5623560" y="2386584"/>
            <a:ext cx="822960" cy="256032"/>
          </a:xfrm>
          <a:prstGeom prst="roundRect">
            <a:avLst>
              <a:gd name="adj" fmla="val 14286"/>
            </a:avLst>
          </a:prstGeom>
          <a:solidFill>
            <a:srgbClr val="FFFFFF"/>
          </a:solidFill>
          <a:ln w="6350">
            <a:solidFill>
              <a:srgbClr val="E2E8F0"/>
            </a:solidFill>
            <a:prstDash val="solid"/>
          </a:ln>
        </p:spPr>
      </p:sp>
      <p:sp>
        <p:nvSpPr>
          <p:cNvPr id="26" name="Text 24"/>
          <p:cNvSpPr/>
          <p:nvPr/>
        </p:nvSpPr>
        <p:spPr>
          <a:xfrm>
            <a:off x="5486400" y="2377440"/>
            <a:ext cx="1097280" cy="274320"/>
          </a:xfrm>
          <a:prstGeom prst="rect">
            <a:avLst/>
          </a:prstGeom>
          <a:noFill/>
          <a:ln/>
        </p:spPr>
        <p:txBody>
          <a:bodyPr wrap="square" rtlCol="0" anchor="ctr"/>
          <a:lstStyle/>
          <a:p>
            <a:pPr algn="ctr" indent="0" marL="0">
              <a:buNone/>
            </a:pPr>
            <a:r>
              <a:rPr lang="en-US" sz="750" b="1" dirty="0">
                <a:solidFill>
                  <a:srgbClr val="0D9488"/>
                </a:solidFill>
                <a:latin typeface="Calibri" pitchFamily="34" charset="0"/>
                <a:ea typeface="Calibri" pitchFamily="34" charset="-122"/>
                <a:cs typeface="Calibri" pitchFamily="34" charset="-120"/>
              </a:rPr>
              <a:t>HTTP REST / JSON</a:t>
            </a:r>
            <a:endParaRPr lang="en-US" sz="750" dirty="0"/>
          </a:p>
        </p:txBody>
      </p:sp>
      <p:sp>
        <p:nvSpPr>
          <p:cNvPr id="27" name="Text 25"/>
          <p:cNvSpPr/>
          <p:nvPr/>
        </p:nvSpPr>
        <p:spPr>
          <a:xfrm>
            <a:off x="731520" y="2761488"/>
            <a:ext cx="10698480" cy="228600"/>
          </a:xfrm>
          <a:prstGeom prst="rect">
            <a:avLst/>
          </a:prstGeom>
          <a:noFill/>
          <a:ln/>
        </p:spPr>
        <p:txBody>
          <a:bodyPr wrap="square" rtlCol="0" anchor="ctr"/>
          <a:lstStyle/>
          <a:p>
            <a:pPr indent="0" marL="0">
              <a:buNone/>
            </a:pPr>
            <a:r>
              <a:rPr lang="en-US" sz="850" b="1" spc="200" kern="0" dirty="0">
                <a:solidFill>
                  <a:srgbClr val="4338CA"/>
                </a:solidFill>
                <a:latin typeface="Calibri" pitchFamily="34" charset="0"/>
                <a:ea typeface="Calibri" pitchFamily="34" charset="-122"/>
                <a:cs typeface="Calibri" pitchFamily="34" charset="-120"/>
              </a:rPr>
              <a:t>APPLICATION &amp; BUSINESS LOGIC TIER (EXPRESS.JS / NODE.JS)</a:t>
            </a:r>
            <a:endParaRPr lang="en-US" sz="850" dirty="0"/>
          </a:p>
        </p:txBody>
      </p:sp>
      <p:sp>
        <p:nvSpPr>
          <p:cNvPr id="28" name="Shape 26"/>
          <p:cNvSpPr/>
          <p:nvPr/>
        </p:nvSpPr>
        <p:spPr>
          <a:xfrm>
            <a:off x="731520" y="3035808"/>
            <a:ext cx="1645920" cy="658368"/>
          </a:xfrm>
          <a:prstGeom prst="roundRect">
            <a:avLst>
              <a:gd name="adj" fmla="val 8333"/>
            </a:avLst>
          </a:prstGeom>
          <a:solidFill>
            <a:srgbClr val="EEF2FF"/>
          </a:solidFill>
          <a:ln w="12700">
            <a:solidFill>
              <a:srgbClr val="4338CA"/>
            </a:solidFill>
            <a:prstDash val="solid"/>
          </a:ln>
        </p:spPr>
      </p:sp>
      <p:sp>
        <p:nvSpPr>
          <p:cNvPr id="29" name="Text 27"/>
          <p:cNvSpPr/>
          <p:nvPr/>
        </p:nvSpPr>
        <p:spPr>
          <a:xfrm>
            <a:off x="786384" y="3072384"/>
            <a:ext cx="1536192" cy="585216"/>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Express.js REST API</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(Routing Gateway)</a:t>
            </a:r>
            <a:endParaRPr lang="en-US" sz="850" dirty="0"/>
          </a:p>
        </p:txBody>
      </p:sp>
      <p:sp>
        <p:nvSpPr>
          <p:cNvPr id="30" name="Shape 28"/>
          <p:cNvSpPr/>
          <p:nvPr/>
        </p:nvSpPr>
        <p:spPr>
          <a:xfrm>
            <a:off x="2542032" y="3035808"/>
            <a:ext cx="1645920" cy="658368"/>
          </a:xfrm>
          <a:prstGeom prst="roundRect">
            <a:avLst>
              <a:gd name="adj" fmla="val 8333"/>
            </a:avLst>
          </a:prstGeom>
          <a:solidFill>
            <a:srgbClr val="EEF2FF"/>
          </a:solidFill>
          <a:ln w="12700">
            <a:solidFill>
              <a:srgbClr val="4338CA"/>
            </a:solidFill>
            <a:prstDash val="solid"/>
          </a:ln>
        </p:spPr>
      </p:sp>
      <p:sp>
        <p:nvSpPr>
          <p:cNvPr id="31" name="Text 29"/>
          <p:cNvSpPr/>
          <p:nvPr/>
        </p:nvSpPr>
        <p:spPr>
          <a:xfrm>
            <a:off x="2596896" y="3072384"/>
            <a:ext cx="1536192" cy="585216"/>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JWT Auth Middleware</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(Token Verification)</a:t>
            </a:r>
            <a:endParaRPr lang="en-US" sz="850" dirty="0"/>
          </a:p>
        </p:txBody>
      </p:sp>
      <p:sp>
        <p:nvSpPr>
          <p:cNvPr id="32" name="Shape 30"/>
          <p:cNvSpPr/>
          <p:nvPr/>
        </p:nvSpPr>
        <p:spPr>
          <a:xfrm>
            <a:off x="4352544" y="3035808"/>
            <a:ext cx="1645920" cy="658368"/>
          </a:xfrm>
          <a:prstGeom prst="roundRect">
            <a:avLst>
              <a:gd name="adj" fmla="val 8333"/>
            </a:avLst>
          </a:prstGeom>
          <a:solidFill>
            <a:srgbClr val="EEF2FF"/>
          </a:solidFill>
          <a:ln w="12700">
            <a:solidFill>
              <a:srgbClr val="4338CA"/>
            </a:solidFill>
            <a:prstDash val="solid"/>
          </a:ln>
        </p:spPr>
      </p:sp>
      <p:sp>
        <p:nvSpPr>
          <p:cNvPr id="33" name="Text 31"/>
          <p:cNvSpPr/>
          <p:nvPr/>
        </p:nvSpPr>
        <p:spPr>
          <a:xfrm>
            <a:off x="4407408" y="3072384"/>
            <a:ext cx="1536192" cy="585216"/>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Multer Subsystem</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(Binary File Uploads)</a:t>
            </a:r>
            <a:endParaRPr lang="en-US" sz="850" dirty="0"/>
          </a:p>
        </p:txBody>
      </p:sp>
      <p:sp>
        <p:nvSpPr>
          <p:cNvPr id="34" name="Shape 32"/>
          <p:cNvSpPr/>
          <p:nvPr/>
        </p:nvSpPr>
        <p:spPr>
          <a:xfrm>
            <a:off x="6163056" y="3035808"/>
            <a:ext cx="1645920" cy="658368"/>
          </a:xfrm>
          <a:prstGeom prst="roundRect">
            <a:avLst>
              <a:gd name="adj" fmla="val 8333"/>
            </a:avLst>
          </a:prstGeom>
          <a:solidFill>
            <a:srgbClr val="EEF2FF"/>
          </a:solidFill>
          <a:ln w="12700">
            <a:solidFill>
              <a:srgbClr val="4338CA"/>
            </a:solidFill>
            <a:prstDash val="solid"/>
          </a:ln>
        </p:spPr>
      </p:sp>
      <p:sp>
        <p:nvSpPr>
          <p:cNvPr id="35" name="Text 33"/>
          <p:cNvSpPr/>
          <p:nvPr/>
        </p:nvSpPr>
        <p:spPr>
          <a:xfrm>
            <a:off x="6217920" y="3072384"/>
            <a:ext cx="1536192" cy="585216"/>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pdf-parse Engine</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(PDF Text Extraction)</a:t>
            </a:r>
            <a:endParaRPr lang="en-US" sz="850" dirty="0"/>
          </a:p>
        </p:txBody>
      </p:sp>
      <p:sp>
        <p:nvSpPr>
          <p:cNvPr id="36" name="Shape 34"/>
          <p:cNvSpPr/>
          <p:nvPr/>
        </p:nvSpPr>
        <p:spPr>
          <a:xfrm>
            <a:off x="7973568" y="3035808"/>
            <a:ext cx="1645920" cy="658368"/>
          </a:xfrm>
          <a:prstGeom prst="roundRect">
            <a:avLst>
              <a:gd name="adj" fmla="val 8333"/>
            </a:avLst>
          </a:prstGeom>
          <a:solidFill>
            <a:srgbClr val="EEF2FF"/>
          </a:solidFill>
          <a:ln w="12700">
            <a:solidFill>
              <a:srgbClr val="4338CA"/>
            </a:solidFill>
            <a:prstDash val="solid"/>
          </a:ln>
        </p:spPr>
      </p:sp>
      <p:sp>
        <p:nvSpPr>
          <p:cNvPr id="37" name="Text 35"/>
          <p:cNvSpPr/>
          <p:nvPr/>
        </p:nvSpPr>
        <p:spPr>
          <a:xfrm>
            <a:off x="8028432" y="3072384"/>
            <a:ext cx="1536192" cy="585216"/>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Mammoth Engine</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(DOCX Text Extraction)</a:t>
            </a:r>
            <a:endParaRPr lang="en-US" sz="850" dirty="0"/>
          </a:p>
        </p:txBody>
      </p:sp>
      <p:sp>
        <p:nvSpPr>
          <p:cNvPr id="38" name="Shape 36"/>
          <p:cNvSpPr/>
          <p:nvPr/>
        </p:nvSpPr>
        <p:spPr>
          <a:xfrm>
            <a:off x="9784080" y="3035808"/>
            <a:ext cx="1645920" cy="658368"/>
          </a:xfrm>
          <a:prstGeom prst="roundRect">
            <a:avLst>
              <a:gd name="adj" fmla="val 8333"/>
            </a:avLst>
          </a:prstGeom>
          <a:solidFill>
            <a:srgbClr val="EEF2FF"/>
          </a:solidFill>
          <a:ln w="12700">
            <a:solidFill>
              <a:srgbClr val="4338CA"/>
            </a:solidFill>
            <a:prstDash val="solid"/>
          </a:ln>
        </p:spPr>
      </p:sp>
      <p:sp>
        <p:nvSpPr>
          <p:cNvPr id="39" name="Text 37"/>
          <p:cNvSpPr/>
          <p:nvPr/>
        </p:nvSpPr>
        <p:spPr>
          <a:xfrm>
            <a:off x="9838944" y="3072384"/>
            <a:ext cx="1536192" cy="585216"/>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NodeMailer SMTP</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(Automated Alerts)</a:t>
            </a:r>
            <a:endParaRPr lang="en-US" sz="850" dirty="0"/>
          </a:p>
        </p:txBody>
      </p:sp>
      <p:sp>
        <p:nvSpPr>
          <p:cNvPr id="40" name="Shape 38"/>
          <p:cNvSpPr/>
          <p:nvPr/>
        </p:nvSpPr>
        <p:spPr>
          <a:xfrm>
            <a:off x="6035040" y="3767328"/>
            <a:ext cx="0" cy="365760"/>
          </a:xfrm>
          <a:prstGeom prst="line">
            <a:avLst/>
          </a:prstGeom>
          <a:noFill/>
          <a:ln w="16510">
            <a:solidFill>
              <a:srgbClr val="4338CA"/>
            </a:solidFill>
            <a:prstDash val="solid"/>
            <a:tailEnd type="triangle"/>
          </a:ln>
        </p:spPr>
      </p:sp>
      <p:sp>
        <p:nvSpPr>
          <p:cNvPr id="41" name="Shape 39"/>
          <p:cNvSpPr/>
          <p:nvPr/>
        </p:nvSpPr>
        <p:spPr>
          <a:xfrm>
            <a:off x="5623560" y="3822192"/>
            <a:ext cx="822960" cy="256032"/>
          </a:xfrm>
          <a:prstGeom prst="roundRect">
            <a:avLst>
              <a:gd name="adj" fmla="val 14286"/>
            </a:avLst>
          </a:prstGeom>
          <a:solidFill>
            <a:srgbClr val="FFFFFF"/>
          </a:solidFill>
          <a:ln w="6350">
            <a:solidFill>
              <a:srgbClr val="E2E8F0"/>
            </a:solidFill>
            <a:prstDash val="solid"/>
          </a:ln>
        </p:spPr>
      </p:sp>
      <p:sp>
        <p:nvSpPr>
          <p:cNvPr id="42" name="Text 40"/>
          <p:cNvSpPr/>
          <p:nvPr/>
        </p:nvSpPr>
        <p:spPr>
          <a:xfrm>
            <a:off x="5486400" y="3813048"/>
            <a:ext cx="1097280" cy="274320"/>
          </a:xfrm>
          <a:prstGeom prst="rect">
            <a:avLst/>
          </a:prstGeom>
          <a:noFill/>
          <a:ln/>
        </p:spPr>
        <p:txBody>
          <a:bodyPr wrap="square" rtlCol="0" anchor="ctr"/>
          <a:lstStyle/>
          <a:p>
            <a:pPr algn="ctr" indent="0" marL="0">
              <a:buNone/>
            </a:pPr>
            <a:r>
              <a:rPr lang="en-US" sz="750" b="1" dirty="0">
                <a:solidFill>
                  <a:srgbClr val="4338CA"/>
                </a:solidFill>
                <a:latin typeface="Calibri" pitchFamily="34" charset="0"/>
                <a:ea typeface="Calibri" pitchFamily="34" charset="-122"/>
                <a:cs typeface="Calibri" pitchFamily="34" charset="-120"/>
              </a:rPr>
              <a:t>API Endpoints</a:t>
            </a:r>
            <a:endParaRPr lang="en-US" sz="750" dirty="0"/>
          </a:p>
        </p:txBody>
      </p:sp>
      <p:sp>
        <p:nvSpPr>
          <p:cNvPr id="43" name="Text 41"/>
          <p:cNvSpPr/>
          <p:nvPr/>
        </p:nvSpPr>
        <p:spPr>
          <a:xfrm>
            <a:off x="731520" y="4187952"/>
            <a:ext cx="10698480" cy="228600"/>
          </a:xfrm>
          <a:prstGeom prst="rect">
            <a:avLst/>
          </a:prstGeom>
          <a:noFill/>
          <a:ln/>
        </p:spPr>
        <p:txBody>
          <a:bodyPr wrap="square" rtlCol="0" anchor="ctr"/>
          <a:lstStyle/>
          <a:p>
            <a:pPr indent="0" marL="0">
              <a:buNone/>
            </a:pPr>
            <a:r>
              <a:rPr lang="en-US" sz="850" b="1" spc="200" kern="0" dirty="0">
                <a:solidFill>
                  <a:srgbClr val="7C3AED"/>
                </a:solidFill>
                <a:latin typeface="Calibri" pitchFamily="34" charset="0"/>
                <a:ea typeface="Calibri" pitchFamily="34" charset="-122"/>
                <a:cs typeface="Calibri" pitchFamily="34" charset="-120"/>
              </a:rPr>
              <a:t>REST API ENDPOINT CONTRACTS (EXPRESS ROUTERS)</a:t>
            </a:r>
            <a:endParaRPr lang="en-US" sz="850" dirty="0"/>
          </a:p>
        </p:txBody>
      </p:sp>
      <p:sp>
        <p:nvSpPr>
          <p:cNvPr id="44" name="Shape 42"/>
          <p:cNvSpPr/>
          <p:nvPr/>
        </p:nvSpPr>
        <p:spPr>
          <a:xfrm>
            <a:off x="731520" y="4462272"/>
            <a:ext cx="1645920" cy="530352"/>
          </a:xfrm>
          <a:prstGeom prst="roundRect">
            <a:avLst>
              <a:gd name="adj" fmla="val 10345"/>
            </a:avLst>
          </a:prstGeom>
          <a:solidFill>
            <a:srgbClr val="F5F3FF"/>
          </a:solidFill>
          <a:ln w="12700">
            <a:solidFill>
              <a:srgbClr val="7C3AED"/>
            </a:solidFill>
            <a:prstDash val="solid"/>
          </a:ln>
        </p:spPr>
      </p:sp>
      <p:sp>
        <p:nvSpPr>
          <p:cNvPr id="45" name="Text 43"/>
          <p:cNvSpPr/>
          <p:nvPr/>
        </p:nvSpPr>
        <p:spPr>
          <a:xfrm>
            <a:off x="786384" y="4498848"/>
            <a:ext cx="1536192" cy="457200"/>
          </a:xfrm>
          <a:prstGeom prst="rect">
            <a:avLst/>
          </a:prstGeom>
          <a:noFill/>
          <a:ln/>
        </p:spPr>
        <p:txBody>
          <a:bodyPr wrap="square" rtlCol="0" anchor="ctr"/>
          <a:lstStyle/>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/api/auth</a:t>
            </a:r>
            <a:endParaRPr lang="en-US" sz="800" dirty="0"/>
          </a:p>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(Login/Register)</a:t>
            </a:r>
            <a:endParaRPr lang="en-US" sz="800" dirty="0"/>
          </a:p>
        </p:txBody>
      </p:sp>
      <p:sp>
        <p:nvSpPr>
          <p:cNvPr id="46" name="Shape 44"/>
          <p:cNvSpPr/>
          <p:nvPr/>
        </p:nvSpPr>
        <p:spPr>
          <a:xfrm>
            <a:off x="2542032" y="4462272"/>
            <a:ext cx="1645920" cy="530352"/>
          </a:xfrm>
          <a:prstGeom prst="roundRect">
            <a:avLst>
              <a:gd name="adj" fmla="val 10345"/>
            </a:avLst>
          </a:prstGeom>
          <a:solidFill>
            <a:srgbClr val="F5F3FF"/>
          </a:solidFill>
          <a:ln w="12700">
            <a:solidFill>
              <a:srgbClr val="7C3AED"/>
            </a:solidFill>
            <a:prstDash val="solid"/>
          </a:ln>
        </p:spPr>
      </p:sp>
      <p:sp>
        <p:nvSpPr>
          <p:cNvPr id="47" name="Text 45"/>
          <p:cNvSpPr/>
          <p:nvPr/>
        </p:nvSpPr>
        <p:spPr>
          <a:xfrm>
            <a:off x="2596896" y="4498848"/>
            <a:ext cx="1536192" cy="457200"/>
          </a:xfrm>
          <a:prstGeom prst="rect">
            <a:avLst/>
          </a:prstGeom>
          <a:noFill/>
          <a:ln/>
        </p:spPr>
        <p:txBody>
          <a:bodyPr wrap="square" rtlCol="0" anchor="ctr"/>
          <a:lstStyle/>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/api/jobs</a:t>
            </a:r>
            <a:endParaRPr lang="en-US" sz="800" dirty="0"/>
          </a:p>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(CRUD &amp; Filters)</a:t>
            </a:r>
            <a:endParaRPr lang="en-US" sz="800" dirty="0"/>
          </a:p>
        </p:txBody>
      </p:sp>
      <p:sp>
        <p:nvSpPr>
          <p:cNvPr id="48" name="Shape 46"/>
          <p:cNvSpPr/>
          <p:nvPr/>
        </p:nvSpPr>
        <p:spPr>
          <a:xfrm>
            <a:off x="4352544" y="4462272"/>
            <a:ext cx="1645920" cy="530352"/>
          </a:xfrm>
          <a:prstGeom prst="roundRect">
            <a:avLst>
              <a:gd name="adj" fmla="val 10345"/>
            </a:avLst>
          </a:prstGeom>
          <a:solidFill>
            <a:srgbClr val="F5F3FF"/>
          </a:solidFill>
          <a:ln w="12700">
            <a:solidFill>
              <a:srgbClr val="7C3AED"/>
            </a:solidFill>
            <a:prstDash val="solid"/>
          </a:ln>
        </p:spPr>
      </p:sp>
      <p:sp>
        <p:nvSpPr>
          <p:cNvPr id="49" name="Text 47"/>
          <p:cNvSpPr/>
          <p:nvPr/>
        </p:nvSpPr>
        <p:spPr>
          <a:xfrm>
            <a:off x="4407408" y="4498848"/>
            <a:ext cx="1536192" cy="457200"/>
          </a:xfrm>
          <a:prstGeom prst="rect">
            <a:avLst/>
          </a:prstGeom>
          <a:noFill/>
          <a:ln/>
        </p:spPr>
        <p:txBody>
          <a:bodyPr wrap="square" rtlCol="0" anchor="ctr"/>
          <a:lstStyle/>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/api/applications</a:t>
            </a:r>
            <a:endParaRPr lang="en-US" sz="800" dirty="0"/>
          </a:p>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(State Tracking)</a:t>
            </a:r>
            <a:endParaRPr lang="en-US" sz="800" dirty="0"/>
          </a:p>
        </p:txBody>
      </p:sp>
      <p:sp>
        <p:nvSpPr>
          <p:cNvPr id="50" name="Shape 48"/>
          <p:cNvSpPr/>
          <p:nvPr/>
        </p:nvSpPr>
        <p:spPr>
          <a:xfrm>
            <a:off x="6163056" y="4462272"/>
            <a:ext cx="1645920" cy="530352"/>
          </a:xfrm>
          <a:prstGeom prst="roundRect">
            <a:avLst>
              <a:gd name="adj" fmla="val 10345"/>
            </a:avLst>
          </a:prstGeom>
          <a:solidFill>
            <a:srgbClr val="F5F3FF"/>
          </a:solidFill>
          <a:ln w="12700">
            <a:solidFill>
              <a:srgbClr val="7C3AED"/>
            </a:solidFill>
            <a:prstDash val="solid"/>
          </a:ln>
        </p:spPr>
      </p:sp>
      <p:sp>
        <p:nvSpPr>
          <p:cNvPr id="51" name="Text 49"/>
          <p:cNvSpPr/>
          <p:nvPr/>
        </p:nvSpPr>
        <p:spPr>
          <a:xfrm>
            <a:off x="6217920" y="4498848"/>
            <a:ext cx="1536192" cy="457200"/>
          </a:xfrm>
          <a:prstGeom prst="rect">
            <a:avLst/>
          </a:prstGeom>
          <a:noFill/>
          <a:ln/>
        </p:spPr>
        <p:txBody>
          <a:bodyPr wrap="square" rtlCol="0" anchor="ctr"/>
          <a:lstStyle/>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/api/student</a:t>
            </a:r>
            <a:endParaRPr lang="en-US" sz="800" dirty="0"/>
          </a:p>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(Profile &amp; Resume)</a:t>
            </a:r>
            <a:endParaRPr lang="en-US" sz="800" dirty="0"/>
          </a:p>
        </p:txBody>
      </p:sp>
      <p:sp>
        <p:nvSpPr>
          <p:cNvPr id="52" name="Shape 50"/>
          <p:cNvSpPr/>
          <p:nvPr/>
        </p:nvSpPr>
        <p:spPr>
          <a:xfrm>
            <a:off x="7973568" y="4462272"/>
            <a:ext cx="1645920" cy="530352"/>
          </a:xfrm>
          <a:prstGeom prst="roundRect">
            <a:avLst>
              <a:gd name="adj" fmla="val 10345"/>
            </a:avLst>
          </a:prstGeom>
          <a:solidFill>
            <a:srgbClr val="F5F3FF"/>
          </a:solidFill>
          <a:ln w="12700">
            <a:solidFill>
              <a:srgbClr val="7C3AED"/>
            </a:solidFill>
            <a:prstDash val="solid"/>
          </a:ln>
        </p:spPr>
      </p:sp>
      <p:sp>
        <p:nvSpPr>
          <p:cNvPr id="53" name="Text 51"/>
          <p:cNvSpPr/>
          <p:nvPr/>
        </p:nvSpPr>
        <p:spPr>
          <a:xfrm>
            <a:off x="8028432" y="4498848"/>
            <a:ext cx="1536192" cy="457200"/>
          </a:xfrm>
          <a:prstGeom prst="rect">
            <a:avLst/>
          </a:prstGeom>
          <a:noFill/>
          <a:ln/>
        </p:spPr>
        <p:txBody>
          <a:bodyPr wrap="square" rtlCol="0" anchor="ctr"/>
          <a:lstStyle/>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/api/messages</a:t>
            </a:r>
            <a:endParaRPr lang="en-US" sz="800" dirty="0"/>
          </a:p>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(Direct Comms)</a:t>
            </a:r>
            <a:endParaRPr lang="en-US" sz="800" dirty="0"/>
          </a:p>
        </p:txBody>
      </p:sp>
      <p:sp>
        <p:nvSpPr>
          <p:cNvPr id="54" name="Shape 52"/>
          <p:cNvSpPr/>
          <p:nvPr/>
        </p:nvSpPr>
        <p:spPr>
          <a:xfrm>
            <a:off x="9784080" y="4462272"/>
            <a:ext cx="1645920" cy="530352"/>
          </a:xfrm>
          <a:prstGeom prst="roundRect">
            <a:avLst>
              <a:gd name="adj" fmla="val 10345"/>
            </a:avLst>
          </a:prstGeom>
          <a:solidFill>
            <a:srgbClr val="F5F3FF"/>
          </a:solidFill>
          <a:ln w="12700">
            <a:solidFill>
              <a:srgbClr val="7C3AED"/>
            </a:solidFill>
            <a:prstDash val="solid"/>
          </a:ln>
        </p:spPr>
      </p:sp>
      <p:sp>
        <p:nvSpPr>
          <p:cNvPr id="55" name="Text 53"/>
          <p:cNvSpPr/>
          <p:nvPr/>
        </p:nvSpPr>
        <p:spPr>
          <a:xfrm>
            <a:off x="9838944" y="4498848"/>
            <a:ext cx="1536192" cy="457200"/>
          </a:xfrm>
          <a:prstGeom prst="rect">
            <a:avLst/>
          </a:prstGeom>
          <a:noFill/>
          <a:ln/>
        </p:spPr>
        <p:txBody>
          <a:bodyPr wrap="square" rtlCol="0" anchor="ctr"/>
          <a:lstStyle/>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/api/admin</a:t>
            </a:r>
            <a:endParaRPr lang="en-US" sz="800" dirty="0"/>
          </a:p>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(Governance &amp; Approval)</a:t>
            </a:r>
            <a:endParaRPr lang="en-US" sz="800" dirty="0"/>
          </a:p>
        </p:txBody>
      </p:sp>
      <p:sp>
        <p:nvSpPr>
          <p:cNvPr id="56" name="Shape 54"/>
          <p:cNvSpPr/>
          <p:nvPr/>
        </p:nvSpPr>
        <p:spPr>
          <a:xfrm>
            <a:off x="6035040" y="5065776"/>
            <a:ext cx="0" cy="347472"/>
          </a:xfrm>
          <a:prstGeom prst="line">
            <a:avLst/>
          </a:prstGeom>
          <a:noFill/>
          <a:ln w="16510">
            <a:solidFill>
              <a:srgbClr val="7C3AED"/>
            </a:solidFill>
            <a:prstDash val="solid"/>
            <a:tailEnd type="triangle"/>
          </a:ln>
        </p:spPr>
      </p:sp>
      <p:sp>
        <p:nvSpPr>
          <p:cNvPr id="57" name="Shape 55"/>
          <p:cNvSpPr/>
          <p:nvPr/>
        </p:nvSpPr>
        <p:spPr>
          <a:xfrm>
            <a:off x="5623560" y="5111496"/>
            <a:ext cx="822960" cy="256032"/>
          </a:xfrm>
          <a:prstGeom prst="roundRect">
            <a:avLst>
              <a:gd name="adj" fmla="val 14286"/>
            </a:avLst>
          </a:prstGeom>
          <a:solidFill>
            <a:srgbClr val="FFFFFF"/>
          </a:solidFill>
          <a:ln w="6350">
            <a:solidFill>
              <a:srgbClr val="E2E8F0"/>
            </a:solidFill>
            <a:prstDash val="solid"/>
          </a:ln>
        </p:spPr>
      </p:sp>
      <p:sp>
        <p:nvSpPr>
          <p:cNvPr id="58" name="Text 56"/>
          <p:cNvSpPr/>
          <p:nvPr/>
        </p:nvSpPr>
        <p:spPr>
          <a:xfrm>
            <a:off x="5486400" y="5102352"/>
            <a:ext cx="1097280" cy="274320"/>
          </a:xfrm>
          <a:prstGeom prst="rect">
            <a:avLst/>
          </a:prstGeom>
          <a:noFill/>
          <a:ln/>
        </p:spPr>
        <p:txBody>
          <a:bodyPr wrap="square" rtlCol="0" anchor="ctr"/>
          <a:lstStyle/>
          <a:p>
            <a:pPr algn="ctr" indent="0" marL="0">
              <a:buNone/>
            </a:pPr>
            <a:r>
              <a:rPr lang="en-US" sz="750" b="1" dirty="0">
                <a:solidFill>
                  <a:srgbClr val="7C3AED"/>
                </a:solidFill>
                <a:latin typeface="Calibri" pitchFamily="34" charset="0"/>
                <a:ea typeface="Calibri" pitchFamily="34" charset="-122"/>
                <a:cs typeface="Calibri" pitchFamily="34" charset="-120"/>
              </a:rPr>
              <a:t>Mongoose ODM</a:t>
            </a:r>
            <a:endParaRPr lang="en-US" sz="750" dirty="0"/>
          </a:p>
        </p:txBody>
      </p:sp>
      <p:sp>
        <p:nvSpPr>
          <p:cNvPr id="59" name="Text 57"/>
          <p:cNvSpPr/>
          <p:nvPr/>
        </p:nvSpPr>
        <p:spPr>
          <a:xfrm>
            <a:off x="731520" y="5468112"/>
            <a:ext cx="10698480" cy="228600"/>
          </a:xfrm>
          <a:prstGeom prst="rect">
            <a:avLst/>
          </a:prstGeom>
          <a:noFill/>
          <a:ln/>
        </p:spPr>
        <p:txBody>
          <a:bodyPr wrap="square" rtlCol="0" anchor="ctr"/>
          <a:lstStyle/>
          <a:p>
            <a:pPr indent="0" marL="0">
              <a:buNone/>
            </a:pPr>
            <a:r>
              <a:rPr lang="en-US" sz="850" b="1" spc="200" kern="0" dirty="0">
                <a:solidFill>
                  <a:srgbClr val="059669"/>
                </a:solidFill>
                <a:latin typeface="Calibri" pitchFamily="34" charset="0"/>
                <a:ea typeface="Calibri" pitchFamily="34" charset="-122"/>
                <a:cs typeface="Calibri" pitchFamily="34" charset="-120"/>
              </a:rPr>
              <a:t>DATA PERSISTENCE &amp; STORAGE TIER (MONGODB &amp; CLUSTER)</a:t>
            </a:r>
            <a:endParaRPr lang="en-US" sz="850" dirty="0"/>
          </a:p>
        </p:txBody>
      </p:sp>
      <p:sp>
        <p:nvSpPr>
          <p:cNvPr id="60" name="Shape 58"/>
          <p:cNvSpPr/>
          <p:nvPr/>
        </p:nvSpPr>
        <p:spPr>
          <a:xfrm>
            <a:off x="731520" y="5742432"/>
            <a:ext cx="1645920" cy="594360"/>
          </a:xfrm>
          <a:prstGeom prst="roundRect">
            <a:avLst>
              <a:gd name="adj" fmla="val 9231"/>
            </a:avLst>
          </a:prstGeom>
          <a:solidFill>
            <a:srgbClr val="ECFDF5"/>
          </a:solidFill>
          <a:ln w="12700">
            <a:solidFill>
              <a:srgbClr val="059669"/>
            </a:solidFill>
            <a:prstDash val="solid"/>
          </a:ln>
        </p:spPr>
      </p:sp>
      <p:sp>
        <p:nvSpPr>
          <p:cNvPr id="61" name="Text 59"/>
          <p:cNvSpPr/>
          <p:nvPr/>
        </p:nvSpPr>
        <p:spPr>
          <a:xfrm>
            <a:off x="786384" y="5779008"/>
            <a:ext cx="1536192" cy="521208"/>
          </a:xfrm>
          <a:prstGeom prst="rect">
            <a:avLst/>
          </a:prstGeom>
          <a:noFill/>
          <a:ln/>
        </p:spPr>
        <p:txBody>
          <a:bodyPr wrap="square" rtlCol="0" anchor="ctr"/>
          <a:lstStyle/>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MongoDB Atlas</a:t>
            </a:r>
            <a:endParaRPr lang="en-US" sz="800" dirty="0"/>
          </a:p>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(Cloud Database)</a:t>
            </a:r>
            <a:endParaRPr lang="en-US" sz="800" dirty="0"/>
          </a:p>
        </p:txBody>
      </p:sp>
      <p:sp>
        <p:nvSpPr>
          <p:cNvPr id="62" name="Shape 60"/>
          <p:cNvSpPr/>
          <p:nvPr/>
        </p:nvSpPr>
        <p:spPr>
          <a:xfrm>
            <a:off x="2542032" y="5742432"/>
            <a:ext cx="1645920" cy="594360"/>
          </a:xfrm>
          <a:prstGeom prst="roundRect">
            <a:avLst>
              <a:gd name="adj" fmla="val 9231"/>
            </a:avLst>
          </a:prstGeom>
          <a:solidFill>
            <a:srgbClr val="ECFDF5"/>
          </a:solidFill>
          <a:ln w="12700">
            <a:solidFill>
              <a:srgbClr val="059669"/>
            </a:solidFill>
            <a:prstDash val="solid"/>
          </a:ln>
        </p:spPr>
      </p:sp>
      <p:sp>
        <p:nvSpPr>
          <p:cNvPr id="63" name="Text 61"/>
          <p:cNvSpPr/>
          <p:nvPr/>
        </p:nvSpPr>
        <p:spPr>
          <a:xfrm>
            <a:off x="2596896" y="5779008"/>
            <a:ext cx="1536192" cy="521208"/>
          </a:xfrm>
          <a:prstGeom prst="rect">
            <a:avLst/>
          </a:prstGeom>
          <a:noFill/>
          <a:ln/>
        </p:spPr>
        <p:txBody>
          <a:bodyPr wrap="square" rtlCol="0" anchor="ctr"/>
          <a:lstStyle/>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Users Collection</a:t>
            </a:r>
            <a:endParaRPr lang="en-US" sz="800" dirty="0"/>
          </a:p>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(Bcrypt Hashes)</a:t>
            </a:r>
            <a:endParaRPr lang="en-US" sz="800" dirty="0"/>
          </a:p>
        </p:txBody>
      </p:sp>
      <p:sp>
        <p:nvSpPr>
          <p:cNvPr id="64" name="Shape 62"/>
          <p:cNvSpPr/>
          <p:nvPr/>
        </p:nvSpPr>
        <p:spPr>
          <a:xfrm>
            <a:off x="4352544" y="5742432"/>
            <a:ext cx="1645920" cy="594360"/>
          </a:xfrm>
          <a:prstGeom prst="roundRect">
            <a:avLst>
              <a:gd name="adj" fmla="val 9231"/>
            </a:avLst>
          </a:prstGeom>
          <a:solidFill>
            <a:srgbClr val="ECFDF5"/>
          </a:solidFill>
          <a:ln w="12700">
            <a:solidFill>
              <a:srgbClr val="059669"/>
            </a:solidFill>
            <a:prstDash val="solid"/>
          </a:ln>
        </p:spPr>
      </p:sp>
      <p:sp>
        <p:nvSpPr>
          <p:cNvPr id="65" name="Text 63"/>
          <p:cNvSpPr/>
          <p:nvPr/>
        </p:nvSpPr>
        <p:spPr>
          <a:xfrm>
            <a:off x="4407408" y="5779008"/>
            <a:ext cx="1536192" cy="521208"/>
          </a:xfrm>
          <a:prstGeom prst="rect">
            <a:avLst/>
          </a:prstGeom>
          <a:noFill/>
          <a:ln/>
        </p:spPr>
        <p:txBody>
          <a:bodyPr wrap="square" rtlCol="0" anchor="ctr"/>
          <a:lstStyle/>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Jobs Collection</a:t>
            </a:r>
            <a:endParaRPr lang="en-US" sz="800" dirty="0"/>
          </a:p>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(Requirements/CTC)</a:t>
            </a:r>
            <a:endParaRPr lang="en-US" sz="800" dirty="0"/>
          </a:p>
        </p:txBody>
      </p:sp>
      <p:sp>
        <p:nvSpPr>
          <p:cNvPr id="66" name="Shape 64"/>
          <p:cNvSpPr/>
          <p:nvPr/>
        </p:nvSpPr>
        <p:spPr>
          <a:xfrm>
            <a:off x="6163056" y="5742432"/>
            <a:ext cx="1645920" cy="594360"/>
          </a:xfrm>
          <a:prstGeom prst="roundRect">
            <a:avLst>
              <a:gd name="adj" fmla="val 9231"/>
            </a:avLst>
          </a:prstGeom>
          <a:solidFill>
            <a:srgbClr val="ECFDF5"/>
          </a:solidFill>
          <a:ln w="12700">
            <a:solidFill>
              <a:srgbClr val="059669"/>
            </a:solidFill>
            <a:prstDash val="solid"/>
          </a:ln>
        </p:spPr>
      </p:sp>
      <p:sp>
        <p:nvSpPr>
          <p:cNvPr id="67" name="Text 65"/>
          <p:cNvSpPr/>
          <p:nvPr/>
        </p:nvSpPr>
        <p:spPr>
          <a:xfrm>
            <a:off x="6217920" y="5779008"/>
            <a:ext cx="1536192" cy="521208"/>
          </a:xfrm>
          <a:prstGeom prst="rect">
            <a:avLst/>
          </a:prstGeom>
          <a:noFill/>
          <a:ln/>
        </p:spPr>
        <p:txBody>
          <a:bodyPr wrap="square" rtlCol="0" anchor="ctr"/>
          <a:lstStyle/>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Applications Coll.</a:t>
            </a:r>
            <a:endParaRPr lang="en-US" sz="800" dirty="0"/>
          </a:p>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(Status/ATS Score)</a:t>
            </a:r>
            <a:endParaRPr lang="en-US" sz="800" dirty="0"/>
          </a:p>
        </p:txBody>
      </p:sp>
      <p:sp>
        <p:nvSpPr>
          <p:cNvPr id="68" name="Shape 66"/>
          <p:cNvSpPr/>
          <p:nvPr/>
        </p:nvSpPr>
        <p:spPr>
          <a:xfrm>
            <a:off x="7973568" y="5742432"/>
            <a:ext cx="1645920" cy="594360"/>
          </a:xfrm>
          <a:prstGeom prst="roundRect">
            <a:avLst>
              <a:gd name="adj" fmla="val 9231"/>
            </a:avLst>
          </a:prstGeom>
          <a:solidFill>
            <a:srgbClr val="ECFDF5"/>
          </a:solidFill>
          <a:ln w="12700">
            <a:solidFill>
              <a:srgbClr val="059669"/>
            </a:solidFill>
            <a:prstDash val="solid"/>
          </a:ln>
        </p:spPr>
      </p:sp>
      <p:sp>
        <p:nvSpPr>
          <p:cNvPr id="69" name="Text 67"/>
          <p:cNvSpPr/>
          <p:nvPr/>
        </p:nvSpPr>
        <p:spPr>
          <a:xfrm>
            <a:off x="8028432" y="5779008"/>
            <a:ext cx="1536192" cy="521208"/>
          </a:xfrm>
          <a:prstGeom prst="rect">
            <a:avLst/>
          </a:prstGeom>
          <a:noFill/>
          <a:ln/>
        </p:spPr>
        <p:txBody>
          <a:bodyPr wrap="square" rtlCol="0" anchor="ctr"/>
          <a:lstStyle/>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Messages Coll.</a:t>
            </a:r>
            <a:endParaRPr lang="en-US" sz="800" dirty="0"/>
          </a:p>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(Chat History)</a:t>
            </a:r>
            <a:endParaRPr lang="en-US" sz="800" dirty="0"/>
          </a:p>
        </p:txBody>
      </p:sp>
      <p:sp>
        <p:nvSpPr>
          <p:cNvPr id="70" name="Shape 68"/>
          <p:cNvSpPr/>
          <p:nvPr/>
        </p:nvSpPr>
        <p:spPr>
          <a:xfrm>
            <a:off x="9784080" y="5742432"/>
            <a:ext cx="1645920" cy="594360"/>
          </a:xfrm>
          <a:prstGeom prst="roundRect">
            <a:avLst>
              <a:gd name="adj" fmla="val 9231"/>
            </a:avLst>
          </a:prstGeom>
          <a:solidFill>
            <a:srgbClr val="ECFDF5"/>
          </a:solidFill>
          <a:ln w="12700">
            <a:solidFill>
              <a:srgbClr val="059669"/>
            </a:solidFill>
            <a:prstDash val="solid"/>
          </a:ln>
        </p:spPr>
      </p:sp>
      <p:sp>
        <p:nvSpPr>
          <p:cNvPr id="71" name="Text 69"/>
          <p:cNvSpPr/>
          <p:nvPr/>
        </p:nvSpPr>
        <p:spPr>
          <a:xfrm>
            <a:off x="9838944" y="5779008"/>
            <a:ext cx="1536192" cy="521208"/>
          </a:xfrm>
          <a:prstGeom prst="rect">
            <a:avLst/>
          </a:prstGeom>
          <a:noFill/>
          <a:ln/>
        </p:spPr>
        <p:txBody>
          <a:bodyPr wrap="square" rtlCol="0" anchor="ctr"/>
          <a:lstStyle/>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File System Storage</a:t>
            </a:r>
            <a:endParaRPr lang="en-US" sz="800" dirty="0"/>
          </a:p>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(uploads/ Resumes)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D9488"/>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CCFBF1"/>
          </a:solidFill>
          <a:ln w="10160">
            <a:solidFill>
              <a:srgbClr val="0D9488"/>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0D9488"/>
                </a:solidFill>
                <a:latin typeface="Calibri" pitchFamily="34" charset="0"/>
                <a:ea typeface="Calibri" pitchFamily="34" charset="-122"/>
                <a:cs typeface="Calibri" pitchFamily="34" charset="-120"/>
              </a:rPr>
              <a:t>ARCHITECTURE</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Component Interaction &amp; Data Flowchart</a:t>
            </a:r>
            <a:endParaRPr lang="en-US" sz="2300" dirty="0"/>
          </a:p>
        </p:txBody>
      </p:sp>
      <p:sp>
        <p:nvSpPr>
          <p:cNvPr id="8" name="Shape 6"/>
          <p:cNvSpPr/>
          <p:nvPr/>
        </p:nvSpPr>
        <p:spPr>
          <a:xfrm>
            <a:off x="731520" y="1097280"/>
            <a:ext cx="2194560" cy="32004"/>
          </a:xfrm>
          <a:prstGeom prst="rect">
            <a:avLst/>
          </a:prstGeom>
          <a:solidFill>
            <a:srgbClr val="0D9488"/>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0D9488"/>
                </a:solidFill>
                <a:latin typeface="Calibri" pitchFamily="34" charset="0"/>
                <a:ea typeface="Calibri" pitchFamily="34" charset="-122"/>
                <a:cs typeface="Calibri" pitchFamily="34" charset="-120"/>
              </a:rPr>
              <a:t>07</a:t>
            </a:r>
            <a:endParaRPr lang="en-US" sz="950" dirty="0"/>
          </a:p>
        </p:txBody>
      </p:sp>
      <p:sp>
        <p:nvSpPr>
          <p:cNvPr id="11" name="Shape 9"/>
          <p:cNvSpPr/>
          <p:nvPr/>
        </p:nvSpPr>
        <p:spPr>
          <a:xfrm>
            <a:off x="914400" y="1371600"/>
            <a:ext cx="3108960" cy="594360"/>
          </a:xfrm>
          <a:prstGeom prst="roundRect">
            <a:avLst>
              <a:gd name="adj" fmla="val 9231"/>
            </a:avLst>
          </a:prstGeom>
          <a:solidFill>
            <a:srgbClr val="EFF6FF"/>
          </a:solidFill>
          <a:ln w="12700">
            <a:solidFill>
              <a:srgbClr val="1D4ED8"/>
            </a:solidFill>
            <a:prstDash val="solid"/>
          </a:ln>
        </p:spPr>
      </p:sp>
      <p:sp>
        <p:nvSpPr>
          <p:cNvPr id="12" name="Text 10"/>
          <p:cNvSpPr/>
          <p:nvPr/>
        </p:nvSpPr>
        <p:spPr>
          <a:xfrm>
            <a:off x="969264" y="1408176"/>
            <a:ext cx="2999232" cy="521208"/>
          </a:xfrm>
          <a:prstGeom prst="rect">
            <a:avLst/>
          </a:prstGeom>
          <a:noFill/>
          <a:ln/>
        </p:spPr>
        <p:txBody>
          <a:bodyPr wrap="square" rtlCol="0" anchor="ctr"/>
          <a:lstStyle/>
          <a:p>
            <a:pPr algn="ctr" indent="0" marL="0">
              <a:lnSpc>
                <a:spcPct val="125000"/>
              </a:lnSpc>
              <a:buNone/>
            </a:pPr>
            <a:r>
              <a:rPr lang="en-US" sz="950" b="1" dirty="0">
                <a:solidFill>
                  <a:srgbClr val="0F172A"/>
                </a:solidFill>
                <a:latin typeface="Calibri" pitchFamily="34" charset="0"/>
                <a:ea typeface="Calibri" pitchFamily="34" charset="-122"/>
                <a:cs typeface="Calibri" pitchFamily="34" charset="-120"/>
              </a:rPr>
              <a:t>Student Client (ALTS)</a:t>
            </a:r>
            <a:endParaRPr lang="en-US" sz="950" dirty="0"/>
          </a:p>
          <a:p>
            <a:pPr algn="ctr" indent="0" marL="0">
              <a:lnSpc>
                <a:spcPct val="125000"/>
              </a:lnSpc>
              <a:buNone/>
            </a:pPr>
            <a:r>
              <a:rPr lang="en-US" sz="950" b="1" dirty="0">
                <a:solidFill>
                  <a:srgbClr val="0F172A"/>
                </a:solidFill>
                <a:latin typeface="Calibri" pitchFamily="34" charset="0"/>
                <a:ea typeface="Calibri" pitchFamily="34" charset="-122"/>
                <a:cs typeface="Calibri" pitchFamily="34" charset="-120"/>
              </a:rPr>
              <a:t>(React SPA / AuthContext)</a:t>
            </a:r>
            <a:endParaRPr lang="en-US" sz="950" dirty="0"/>
          </a:p>
        </p:txBody>
      </p:sp>
      <p:sp>
        <p:nvSpPr>
          <p:cNvPr id="13" name="Shape 11"/>
          <p:cNvSpPr/>
          <p:nvPr/>
        </p:nvSpPr>
        <p:spPr>
          <a:xfrm>
            <a:off x="2468880" y="1965960"/>
            <a:ext cx="0" cy="457200"/>
          </a:xfrm>
          <a:prstGeom prst="line">
            <a:avLst/>
          </a:prstGeom>
          <a:noFill/>
          <a:ln w="16510">
            <a:solidFill>
              <a:srgbClr val="1D4ED8"/>
            </a:solidFill>
            <a:prstDash val="solid"/>
            <a:tailEnd type="triangle"/>
          </a:ln>
        </p:spPr>
      </p:sp>
      <p:sp>
        <p:nvSpPr>
          <p:cNvPr id="14" name="Shape 12"/>
          <p:cNvSpPr/>
          <p:nvPr/>
        </p:nvSpPr>
        <p:spPr>
          <a:xfrm>
            <a:off x="4572000" y="1371600"/>
            <a:ext cx="3108960" cy="594360"/>
          </a:xfrm>
          <a:prstGeom prst="roundRect">
            <a:avLst>
              <a:gd name="adj" fmla="val 9231"/>
            </a:avLst>
          </a:prstGeom>
          <a:solidFill>
            <a:srgbClr val="F5F3FF"/>
          </a:solidFill>
          <a:ln w="12700">
            <a:solidFill>
              <a:srgbClr val="7C3AED"/>
            </a:solidFill>
            <a:prstDash val="solid"/>
          </a:ln>
        </p:spPr>
      </p:sp>
      <p:sp>
        <p:nvSpPr>
          <p:cNvPr id="15" name="Text 13"/>
          <p:cNvSpPr/>
          <p:nvPr/>
        </p:nvSpPr>
        <p:spPr>
          <a:xfrm>
            <a:off x="4626864" y="1408176"/>
            <a:ext cx="2999232" cy="521208"/>
          </a:xfrm>
          <a:prstGeom prst="rect">
            <a:avLst/>
          </a:prstGeom>
          <a:noFill/>
          <a:ln/>
        </p:spPr>
        <p:txBody>
          <a:bodyPr wrap="square" rtlCol="0" anchor="ctr"/>
          <a:lstStyle/>
          <a:p>
            <a:pPr algn="ctr" indent="0" marL="0">
              <a:lnSpc>
                <a:spcPct val="125000"/>
              </a:lnSpc>
              <a:buNone/>
            </a:pPr>
            <a:r>
              <a:rPr lang="en-US" sz="950" b="1" dirty="0">
                <a:solidFill>
                  <a:srgbClr val="0F172A"/>
                </a:solidFill>
                <a:latin typeface="Calibri" pitchFamily="34" charset="0"/>
                <a:ea typeface="Calibri" pitchFamily="34" charset="-122"/>
                <a:cs typeface="Calibri" pitchFamily="34" charset="-120"/>
              </a:rPr>
              <a:t>Recruiter Client</a:t>
            </a:r>
            <a:endParaRPr lang="en-US" sz="950" dirty="0"/>
          </a:p>
          <a:p>
            <a:pPr algn="ctr" indent="0" marL="0">
              <a:lnSpc>
                <a:spcPct val="125000"/>
              </a:lnSpc>
              <a:buNone/>
            </a:pPr>
            <a:r>
              <a:rPr lang="en-US" sz="950" b="1" dirty="0">
                <a:solidFill>
                  <a:srgbClr val="0F172A"/>
                </a:solidFill>
                <a:latin typeface="Calibri" pitchFamily="34" charset="0"/>
                <a:ea typeface="Calibri" pitchFamily="34" charset="-122"/>
                <a:cs typeface="Calibri" pitchFamily="34" charset="-120"/>
              </a:rPr>
              <a:t>(React SPA / Dashboard)</a:t>
            </a:r>
            <a:endParaRPr lang="en-US" sz="950" dirty="0"/>
          </a:p>
        </p:txBody>
      </p:sp>
      <p:sp>
        <p:nvSpPr>
          <p:cNvPr id="16" name="Shape 14"/>
          <p:cNvSpPr/>
          <p:nvPr/>
        </p:nvSpPr>
        <p:spPr>
          <a:xfrm>
            <a:off x="6126480" y="1965960"/>
            <a:ext cx="0" cy="457200"/>
          </a:xfrm>
          <a:prstGeom prst="line">
            <a:avLst/>
          </a:prstGeom>
          <a:noFill/>
          <a:ln w="16510">
            <a:solidFill>
              <a:srgbClr val="7C3AED"/>
            </a:solidFill>
            <a:prstDash val="solid"/>
            <a:tailEnd type="triangle"/>
          </a:ln>
        </p:spPr>
      </p:sp>
      <p:sp>
        <p:nvSpPr>
          <p:cNvPr id="17" name="Shape 15"/>
          <p:cNvSpPr/>
          <p:nvPr/>
        </p:nvSpPr>
        <p:spPr>
          <a:xfrm>
            <a:off x="8229600" y="1371600"/>
            <a:ext cx="3108960" cy="594360"/>
          </a:xfrm>
          <a:prstGeom prst="roundRect">
            <a:avLst>
              <a:gd name="adj" fmla="val 9231"/>
            </a:avLst>
          </a:prstGeom>
          <a:solidFill>
            <a:srgbClr val="F0FDFA"/>
          </a:solidFill>
          <a:ln w="12700">
            <a:solidFill>
              <a:srgbClr val="0D9488"/>
            </a:solidFill>
            <a:prstDash val="solid"/>
          </a:ln>
        </p:spPr>
      </p:sp>
      <p:sp>
        <p:nvSpPr>
          <p:cNvPr id="18" name="Text 16"/>
          <p:cNvSpPr/>
          <p:nvPr/>
        </p:nvSpPr>
        <p:spPr>
          <a:xfrm>
            <a:off x="8284464" y="1408176"/>
            <a:ext cx="2999232" cy="521208"/>
          </a:xfrm>
          <a:prstGeom prst="rect">
            <a:avLst/>
          </a:prstGeom>
          <a:noFill/>
          <a:ln/>
        </p:spPr>
        <p:txBody>
          <a:bodyPr wrap="square" rtlCol="0" anchor="ctr"/>
          <a:lstStyle/>
          <a:p>
            <a:pPr algn="ctr" indent="0" marL="0">
              <a:lnSpc>
                <a:spcPct val="125000"/>
              </a:lnSpc>
              <a:buNone/>
            </a:pPr>
            <a:r>
              <a:rPr lang="en-US" sz="950" b="1" dirty="0">
                <a:solidFill>
                  <a:srgbClr val="0F172A"/>
                </a:solidFill>
                <a:latin typeface="Calibri" pitchFamily="34" charset="0"/>
                <a:ea typeface="Calibri" pitchFamily="34" charset="-122"/>
                <a:cs typeface="Calibri" pitchFamily="34" charset="-120"/>
              </a:rPr>
              <a:t>Placement Admin (ALTS)</a:t>
            </a:r>
            <a:endParaRPr lang="en-US" sz="950" dirty="0"/>
          </a:p>
          <a:p>
            <a:pPr algn="ctr" indent="0" marL="0">
              <a:lnSpc>
                <a:spcPct val="125000"/>
              </a:lnSpc>
              <a:buNone/>
            </a:pPr>
            <a:r>
              <a:rPr lang="en-US" sz="950" b="1" dirty="0">
                <a:solidFill>
                  <a:srgbClr val="0F172A"/>
                </a:solidFill>
                <a:latin typeface="Calibri" pitchFamily="34" charset="0"/>
                <a:ea typeface="Calibri" pitchFamily="34" charset="-122"/>
                <a:cs typeface="Calibri" pitchFamily="34" charset="-120"/>
              </a:rPr>
              <a:t>(React SPA / Analytics)</a:t>
            </a:r>
            <a:endParaRPr lang="en-US" sz="950" dirty="0"/>
          </a:p>
        </p:txBody>
      </p:sp>
      <p:sp>
        <p:nvSpPr>
          <p:cNvPr id="19" name="Shape 17"/>
          <p:cNvSpPr/>
          <p:nvPr/>
        </p:nvSpPr>
        <p:spPr>
          <a:xfrm>
            <a:off x="9784080" y="1965960"/>
            <a:ext cx="0" cy="457200"/>
          </a:xfrm>
          <a:prstGeom prst="line">
            <a:avLst/>
          </a:prstGeom>
          <a:noFill/>
          <a:ln w="16510">
            <a:solidFill>
              <a:srgbClr val="0D9488"/>
            </a:solidFill>
            <a:prstDash val="solid"/>
            <a:tailEnd type="triangle"/>
          </a:ln>
        </p:spPr>
      </p:sp>
      <p:sp>
        <p:nvSpPr>
          <p:cNvPr id="20" name="Text 18"/>
          <p:cNvSpPr/>
          <p:nvPr/>
        </p:nvSpPr>
        <p:spPr>
          <a:xfrm>
            <a:off x="914400" y="2103120"/>
            <a:ext cx="10424160" cy="22860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Secure HTTPS REST Requests (with JWT Bearer Header in Authorization)</a:t>
            </a:r>
            <a:endParaRPr lang="en-US" sz="800" dirty="0"/>
          </a:p>
        </p:txBody>
      </p:sp>
      <p:sp>
        <p:nvSpPr>
          <p:cNvPr id="21" name="Shape 19"/>
          <p:cNvSpPr/>
          <p:nvPr/>
        </p:nvSpPr>
        <p:spPr>
          <a:xfrm>
            <a:off x="914400" y="2423160"/>
            <a:ext cx="10424160" cy="594360"/>
          </a:xfrm>
          <a:prstGeom prst="roundRect">
            <a:avLst>
              <a:gd name="adj" fmla="val 9231"/>
            </a:avLst>
          </a:prstGeom>
          <a:solidFill>
            <a:srgbClr val="FFFFFF"/>
          </a:solidFill>
          <a:ln w="17780">
            <a:solidFill>
              <a:srgbClr val="0F172A"/>
            </a:solidFill>
            <a:prstDash val="solid"/>
          </a:ln>
        </p:spPr>
      </p:sp>
      <p:sp>
        <p:nvSpPr>
          <p:cNvPr id="22" name="Text 20"/>
          <p:cNvSpPr/>
          <p:nvPr/>
        </p:nvSpPr>
        <p:spPr>
          <a:xfrm>
            <a:off x="969264" y="2459736"/>
            <a:ext cx="10314432" cy="521208"/>
          </a:xfrm>
          <a:prstGeom prst="rect">
            <a:avLst/>
          </a:prstGeom>
          <a:noFill/>
          <a:ln/>
        </p:spPr>
        <p:txBody>
          <a:bodyPr wrap="square" rtlCol="0" anchor="ctr"/>
          <a:lstStyle/>
          <a:p>
            <a:pPr algn="ctr" indent="0" marL="0">
              <a:lnSpc>
                <a:spcPct val="125000"/>
              </a:lnSpc>
              <a:buNone/>
            </a:pPr>
            <a:r>
              <a:rPr lang="en-US" sz="1000" b="1" dirty="0">
                <a:solidFill>
                  <a:srgbClr val="0F172A"/>
                </a:solidFill>
                <a:latin typeface="Calibri" pitchFamily="34" charset="0"/>
                <a:ea typeface="Calibri" pitchFamily="34" charset="-122"/>
                <a:cs typeface="Calibri" pitchFamily="34" charset="-120"/>
              </a:rPr>
              <a:t>Express.js API Gateway &amp; Security Gateway</a:t>
            </a:r>
            <a:endParaRPr lang="en-US" sz="1000" dirty="0"/>
          </a:p>
          <a:p>
            <a:pPr algn="ctr" indent="0" marL="0">
              <a:lnSpc>
                <a:spcPct val="125000"/>
              </a:lnSpc>
              <a:buNone/>
            </a:pPr>
            <a:r>
              <a:rPr lang="en-US" sz="1000" b="1" dirty="0">
                <a:solidFill>
                  <a:srgbClr val="0F172A"/>
                </a:solidFill>
                <a:latin typeface="Calibri" pitchFamily="34" charset="0"/>
                <a:ea typeface="Calibri" pitchFamily="34" charset="-122"/>
                <a:cs typeface="Calibri" pitchFamily="34" charset="-120"/>
              </a:rPr>
              <a:t>(CORS Policy, Helmet Protection, JSON Body Parser, Rate Limiter)</a:t>
            </a:r>
            <a:endParaRPr lang="en-US" sz="1000" dirty="0"/>
          </a:p>
        </p:txBody>
      </p:sp>
      <p:sp>
        <p:nvSpPr>
          <p:cNvPr id="23" name="Shape 21"/>
          <p:cNvSpPr/>
          <p:nvPr/>
        </p:nvSpPr>
        <p:spPr>
          <a:xfrm>
            <a:off x="2103120" y="3017520"/>
            <a:ext cx="0" cy="411480"/>
          </a:xfrm>
          <a:prstGeom prst="line">
            <a:avLst/>
          </a:prstGeom>
          <a:noFill/>
          <a:ln w="16510">
            <a:solidFill>
              <a:srgbClr val="4338CA"/>
            </a:solidFill>
            <a:prstDash val="solid"/>
            <a:tailEnd type="triangle"/>
          </a:ln>
        </p:spPr>
      </p:sp>
      <p:sp>
        <p:nvSpPr>
          <p:cNvPr id="24" name="Shape 22"/>
          <p:cNvSpPr/>
          <p:nvPr/>
        </p:nvSpPr>
        <p:spPr>
          <a:xfrm>
            <a:off x="914400" y="3429000"/>
            <a:ext cx="2377440" cy="1280160"/>
          </a:xfrm>
          <a:prstGeom prst="roundRect">
            <a:avLst>
              <a:gd name="adj" fmla="val 4286"/>
            </a:avLst>
          </a:prstGeom>
          <a:solidFill>
            <a:srgbClr val="EEF2FF"/>
          </a:solidFill>
          <a:ln w="12700">
            <a:solidFill>
              <a:srgbClr val="4338CA"/>
            </a:solidFill>
            <a:prstDash val="solid"/>
          </a:ln>
        </p:spPr>
      </p:sp>
      <p:sp>
        <p:nvSpPr>
          <p:cNvPr id="25" name="Text 23"/>
          <p:cNvSpPr/>
          <p:nvPr/>
        </p:nvSpPr>
        <p:spPr>
          <a:xfrm>
            <a:off x="969264" y="3465576"/>
            <a:ext cx="2267712" cy="1207008"/>
          </a:xfrm>
          <a:prstGeom prst="rect">
            <a:avLst/>
          </a:prstGeom>
          <a:noFill/>
          <a:ln/>
        </p:spPr>
        <p:txBody>
          <a:bodyPr wrap="square" rtlCol="0" anchor="ctr"/>
          <a:lstStyle/>
          <a:p>
            <a:pPr algn="ctr" indent="0" marL="0">
              <a:lnSpc>
                <a:spcPct val="130000"/>
              </a:lnSpc>
              <a:buNone/>
            </a:pPr>
            <a:r>
              <a:rPr lang="en-US" sz="850" b="1" dirty="0">
                <a:solidFill>
                  <a:srgbClr val="0F172A"/>
                </a:solidFill>
                <a:latin typeface="Calibri" pitchFamily="34" charset="0"/>
                <a:ea typeface="Calibri" pitchFamily="34" charset="-122"/>
                <a:cs typeface="Calibri" pitchFamily="34" charset="-120"/>
              </a:rPr>
              <a:t>Auth &amp; RBAC Guard</a:t>
            </a:r>
            <a:endParaRPr lang="en-US" sz="850" dirty="0"/>
          </a:p>
          <a:p>
            <a:pPr algn="ctr" indent="0" marL="0">
              <a:lnSpc>
                <a:spcPct val="130000"/>
              </a:lnSpc>
              <a:buNone/>
            </a:pPr>
            <a:r>
              <a:rPr lang="en-US" sz="850" b="1" dirty="0">
                <a:solidFill>
                  <a:srgbClr val="0F172A"/>
                </a:solidFill>
                <a:latin typeface="Calibri" pitchFamily="34" charset="0"/>
                <a:ea typeface="Calibri" pitchFamily="34" charset="-122"/>
                <a:cs typeface="Calibri" pitchFamily="34" charset="-120"/>
              </a:rPr>
              <a:t>• JWT Token Verifier</a:t>
            </a:r>
            <a:endParaRPr lang="en-US" sz="850" dirty="0"/>
          </a:p>
          <a:p>
            <a:pPr algn="ctr" indent="0" marL="0">
              <a:lnSpc>
                <a:spcPct val="130000"/>
              </a:lnSpc>
              <a:buNone/>
            </a:pPr>
            <a:r>
              <a:rPr lang="en-US" sz="850" b="1" dirty="0">
                <a:solidFill>
                  <a:srgbClr val="0F172A"/>
                </a:solidFill>
                <a:latin typeface="Calibri" pitchFamily="34" charset="0"/>
                <a:ea typeface="Calibri" pitchFamily="34" charset="-122"/>
                <a:cs typeface="Calibri" pitchFamily="34" charset="-120"/>
              </a:rPr>
              <a:t>• bcrypt Hash Check</a:t>
            </a:r>
            <a:endParaRPr lang="en-US" sz="850" dirty="0"/>
          </a:p>
          <a:p>
            <a:pPr algn="ctr" indent="0" marL="0">
              <a:lnSpc>
                <a:spcPct val="130000"/>
              </a:lnSpc>
              <a:buNone/>
            </a:pPr>
            <a:r>
              <a:rPr lang="en-US" sz="850" b="1" dirty="0">
                <a:solidFill>
                  <a:srgbClr val="0F172A"/>
                </a:solidFill>
                <a:latin typeface="Calibri" pitchFamily="34" charset="0"/>
                <a:ea typeface="Calibri" pitchFamily="34" charset="-122"/>
                <a:cs typeface="Calibri" pitchFamily="34" charset="-120"/>
              </a:rPr>
              <a:t>• Role Verification</a:t>
            </a:r>
            <a:endParaRPr lang="en-US" sz="850" dirty="0"/>
          </a:p>
        </p:txBody>
      </p:sp>
      <p:sp>
        <p:nvSpPr>
          <p:cNvPr id="26" name="Shape 24"/>
          <p:cNvSpPr/>
          <p:nvPr/>
        </p:nvSpPr>
        <p:spPr>
          <a:xfrm>
            <a:off x="4782312" y="3017520"/>
            <a:ext cx="0" cy="411480"/>
          </a:xfrm>
          <a:prstGeom prst="line">
            <a:avLst/>
          </a:prstGeom>
          <a:noFill/>
          <a:ln w="16510">
            <a:solidFill>
              <a:srgbClr val="D97706"/>
            </a:solidFill>
            <a:prstDash val="solid"/>
            <a:tailEnd type="triangle"/>
          </a:ln>
        </p:spPr>
      </p:sp>
      <p:sp>
        <p:nvSpPr>
          <p:cNvPr id="27" name="Shape 25"/>
          <p:cNvSpPr/>
          <p:nvPr/>
        </p:nvSpPr>
        <p:spPr>
          <a:xfrm>
            <a:off x="3593592" y="3429000"/>
            <a:ext cx="2377440" cy="1280160"/>
          </a:xfrm>
          <a:prstGeom prst="roundRect">
            <a:avLst>
              <a:gd name="adj" fmla="val 4286"/>
            </a:avLst>
          </a:prstGeom>
          <a:solidFill>
            <a:srgbClr val="FFFBEB"/>
          </a:solidFill>
          <a:ln w="12700">
            <a:solidFill>
              <a:srgbClr val="D97706"/>
            </a:solidFill>
            <a:prstDash val="solid"/>
          </a:ln>
        </p:spPr>
      </p:sp>
      <p:sp>
        <p:nvSpPr>
          <p:cNvPr id="28" name="Text 26"/>
          <p:cNvSpPr/>
          <p:nvPr/>
        </p:nvSpPr>
        <p:spPr>
          <a:xfrm>
            <a:off x="3648456" y="3465576"/>
            <a:ext cx="2267712" cy="1207008"/>
          </a:xfrm>
          <a:prstGeom prst="rect">
            <a:avLst/>
          </a:prstGeom>
          <a:noFill/>
          <a:ln/>
        </p:spPr>
        <p:txBody>
          <a:bodyPr wrap="square" rtlCol="0" anchor="ctr"/>
          <a:lstStyle/>
          <a:p>
            <a:pPr algn="ctr" indent="0" marL="0">
              <a:lnSpc>
                <a:spcPct val="130000"/>
              </a:lnSpc>
              <a:buNone/>
            </a:pPr>
            <a:r>
              <a:rPr lang="en-US" sz="850" b="1" dirty="0">
                <a:solidFill>
                  <a:srgbClr val="0F172A"/>
                </a:solidFill>
                <a:latin typeface="Calibri" pitchFamily="34" charset="0"/>
                <a:ea typeface="Calibri" pitchFamily="34" charset="-122"/>
                <a:cs typeface="Calibri" pitchFamily="34" charset="-120"/>
              </a:rPr>
              <a:t>Resume Engine</a:t>
            </a:r>
            <a:endParaRPr lang="en-US" sz="850" dirty="0"/>
          </a:p>
          <a:p>
            <a:pPr algn="ctr" indent="0" marL="0">
              <a:lnSpc>
                <a:spcPct val="130000"/>
              </a:lnSpc>
              <a:buNone/>
            </a:pPr>
            <a:r>
              <a:rPr lang="en-US" sz="850" b="1" dirty="0">
                <a:solidFill>
                  <a:srgbClr val="0F172A"/>
                </a:solidFill>
                <a:latin typeface="Calibri" pitchFamily="34" charset="0"/>
                <a:ea typeface="Calibri" pitchFamily="34" charset="-122"/>
                <a:cs typeface="Calibri" pitchFamily="34" charset="-120"/>
              </a:rPr>
              <a:t>• Multer Multipart Stream</a:t>
            </a:r>
            <a:endParaRPr lang="en-US" sz="850" dirty="0"/>
          </a:p>
          <a:p>
            <a:pPr algn="ctr" indent="0" marL="0">
              <a:lnSpc>
                <a:spcPct val="130000"/>
              </a:lnSpc>
              <a:buNone/>
            </a:pPr>
            <a:r>
              <a:rPr lang="en-US" sz="850" b="1" dirty="0">
                <a:solidFill>
                  <a:srgbClr val="0F172A"/>
                </a:solidFill>
                <a:latin typeface="Calibri" pitchFamily="34" charset="0"/>
                <a:ea typeface="Calibri" pitchFamily="34" charset="-122"/>
                <a:cs typeface="Calibri" pitchFamily="34" charset="-120"/>
              </a:rPr>
              <a:t>• pdf-parse Reader</a:t>
            </a:r>
            <a:endParaRPr lang="en-US" sz="850" dirty="0"/>
          </a:p>
          <a:p>
            <a:pPr algn="ctr" indent="0" marL="0">
              <a:lnSpc>
                <a:spcPct val="130000"/>
              </a:lnSpc>
              <a:buNone/>
            </a:pPr>
            <a:r>
              <a:rPr lang="en-US" sz="850" b="1" dirty="0">
                <a:solidFill>
                  <a:srgbClr val="0F172A"/>
                </a:solidFill>
                <a:latin typeface="Calibri" pitchFamily="34" charset="0"/>
                <a:ea typeface="Calibri" pitchFamily="34" charset="-122"/>
                <a:cs typeface="Calibri" pitchFamily="34" charset="-120"/>
              </a:rPr>
              <a:t>• mammoth DOCX Reader</a:t>
            </a:r>
            <a:endParaRPr lang="en-US" sz="850" dirty="0"/>
          </a:p>
        </p:txBody>
      </p:sp>
      <p:sp>
        <p:nvSpPr>
          <p:cNvPr id="29" name="Shape 27"/>
          <p:cNvSpPr/>
          <p:nvPr/>
        </p:nvSpPr>
        <p:spPr>
          <a:xfrm>
            <a:off x="7461504" y="3017520"/>
            <a:ext cx="0" cy="411480"/>
          </a:xfrm>
          <a:prstGeom prst="line">
            <a:avLst/>
          </a:prstGeom>
          <a:noFill/>
          <a:ln w="16510">
            <a:solidFill>
              <a:srgbClr val="7C3AED"/>
            </a:solidFill>
            <a:prstDash val="solid"/>
            <a:tailEnd type="triangle"/>
          </a:ln>
        </p:spPr>
      </p:sp>
      <p:sp>
        <p:nvSpPr>
          <p:cNvPr id="30" name="Shape 28"/>
          <p:cNvSpPr/>
          <p:nvPr/>
        </p:nvSpPr>
        <p:spPr>
          <a:xfrm>
            <a:off x="6272784" y="3429000"/>
            <a:ext cx="2377440" cy="1280160"/>
          </a:xfrm>
          <a:prstGeom prst="roundRect">
            <a:avLst>
              <a:gd name="adj" fmla="val 4286"/>
            </a:avLst>
          </a:prstGeom>
          <a:solidFill>
            <a:srgbClr val="F5F3FF"/>
          </a:solidFill>
          <a:ln w="12700">
            <a:solidFill>
              <a:srgbClr val="7C3AED"/>
            </a:solidFill>
            <a:prstDash val="solid"/>
          </a:ln>
        </p:spPr>
      </p:sp>
      <p:sp>
        <p:nvSpPr>
          <p:cNvPr id="31" name="Text 29"/>
          <p:cNvSpPr/>
          <p:nvPr/>
        </p:nvSpPr>
        <p:spPr>
          <a:xfrm>
            <a:off x="6327648" y="3465576"/>
            <a:ext cx="2267712" cy="1207008"/>
          </a:xfrm>
          <a:prstGeom prst="rect">
            <a:avLst/>
          </a:prstGeom>
          <a:noFill/>
          <a:ln/>
        </p:spPr>
        <p:txBody>
          <a:bodyPr wrap="square" rtlCol="0" anchor="ctr"/>
          <a:lstStyle/>
          <a:p>
            <a:pPr algn="ctr" indent="0" marL="0">
              <a:lnSpc>
                <a:spcPct val="130000"/>
              </a:lnSpc>
              <a:buNone/>
            </a:pPr>
            <a:r>
              <a:rPr lang="en-US" sz="850" b="1" dirty="0">
                <a:solidFill>
                  <a:srgbClr val="0F172A"/>
                </a:solidFill>
                <a:latin typeface="Calibri" pitchFamily="34" charset="0"/>
                <a:ea typeface="Calibri" pitchFamily="34" charset="-122"/>
                <a:cs typeface="Calibri" pitchFamily="34" charset="-120"/>
              </a:rPr>
              <a:t>Job &amp; ATS Logic</a:t>
            </a:r>
            <a:endParaRPr lang="en-US" sz="850" dirty="0"/>
          </a:p>
          <a:p>
            <a:pPr algn="ctr" indent="0" marL="0">
              <a:lnSpc>
                <a:spcPct val="130000"/>
              </a:lnSpc>
              <a:buNone/>
            </a:pPr>
            <a:r>
              <a:rPr lang="en-US" sz="850" b="1" dirty="0">
                <a:solidFill>
                  <a:srgbClr val="0F172A"/>
                </a:solidFill>
                <a:latin typeface="Calibri" pitchFamily="34" charset="0"/>
                <a:ea typeface="Calibri" pitchFamily="34" charset="-122"/>
                <a:cs typeface="Calibri" pitchFamily="34" charset="-120"/>
              </a:rPr>
              <a:t>• Vector Skill Matching</a:t>
            </a:r>
            <a:endParaRPr lang="en-US" sz="850" dirty="0"/>
          </a:p>
          <a:p>
            <a:pPr algn="ctr" indent="0" marL="0">
              <a:lnSpc>
                <a:spcPct val="130000"/>
              </a:lnSpc>
              <a:buNone/>
            </a:pPr>
            <a:r>
              <a:rPr lang="en-US" sz="850" b="1" dirty="0">
                <a:solidFill>
                  <a:srgbClr val="0F172A"/>
                </a:solidFill>
                <a:latin typeface="Calibri" pitchFamily="34" charset="0"/>
                <a:ea typeface="Calibri" pitchFamily="34" charset="-122"/>
                <a:cs typeface="Calibri" pitchFamily="34" charset="-120"/>
              </a:rPr>
              <a:t>• Eligibility Filter</a:t>
            </a:r>
            <a:endParaRPr lang="en-US" sz="850" dirty="0"/>
          </a:p>
          <a:p>
            <a:pPr algn="ctr" indent="0" marL="0">
              <a:lnSpc>
                <a:spcPct val="130000"/>
              </a:lnSpc>
              <a:buNone/>
            </a:pPr>
            <a:r>
              <a:rPr lang="en-US" sz="850" b="1" dirty="0">
                <a:solidFill>
                  <a:srgbClr val="0F172A"/>
                </a:solidFill>
                <a:latin typeface="Calibri" pitchFamily="34" charset="0"/>
                <a:ea typeface="Calibri" pitchFamily="34" charset="-122"/>
                <a:cs typeface="Calibri" pitchFamily="34" charset="-120"/>
              </a:rPr>
              <a:t>• Application Pipeline</a:t>
            </a:r>
            <a:endParaRPr lang="en-US" sz="850" dirty="0"/>
          </a:p>
        </p:txBody>
      </p:sp>
      <p:sp>
        <p:nvSpPr>
          <p:cNvPr id="32" name="Shape 30"/>
          <p:cNvSpPr/>
          <p:nvPr/>
        </p:nvSpPr>
        <p:spPr>
          <a:xfrm>
            <a:off x="10149840" y="3017520"/>
            <a:ext cx="0" cy="411480"/>
          </a:xfrm>
          <a:prstGeom prst="line">
            <a:avLst/>
          </a:prstGeom>
          <a:noFill/>
          <a:ln w="16510">
            <a:solidFill>
              <a:srgbClr val="059669"/>
            </a:solidFill>
            <a:prstDash val="solid"/>
            <a:tailEnd type="triangle"/>
          </a:ln>
        </p:spPr>
      </p:sp>
      <p:sp>
        <p:nvSpPr>
          <p:cNvPr id="33" name="Shape 31"/>
          <p:cNvSpPr/>
          <p:nvPr/>
        </p:nvSpPr>
        <p:spPr>
          <a:xfrm>
            <a:off x="8961120" y="3429000"/>
            <a:ext cx="2377440" cy="1280160"/>
          </a:xfrm>
          <a:prstGeom prst="roundRect">
            <a:avLst>
              <a:gd name="adj" fmla="val 4286"/>
            </a:avLst>
          </a:prstGeom>
          <a:solidFill>
            <a:srgbClr val="ECFDF5"/>
          </a:solidFill>
          <a:ln w="12700">
            <a:solidFill>
              <a:srgbClr val="059669"/>
            </a:solidFill>
            <a:prstDash val="solid"/>
          </a:ln>
        </p:spPr>
      </p:sp>
      <p:sp>
        <p:nvSpPr>
          <p:cNvPr id="34" name="Text 32"/>
          <p:cNvSpPr/>
          <p:nvPr/>
        </p:nvSpPr>
        <p:spPr>
          <a:xfrm>
            <a:off x="9015984" y="3465576"/>
            <a:ext cx="2267712" cy="1207008"/>
          </a:xfrm>
          <a:prstGeom prst="rect">
            <a:avLst/>
          </a:prstGeom>
          <a:noFill/>
          <a:ln/>
        </p:spPr>
        <p:txBody>
          <a:bodyPr wrap="square" rtlCol="0" anchor="ctr"/>
          <a:lstStyle/>
          <a:p>
            <a:pPr algn="ctr" indent="0" marL="0">
              <a:lnSpc>
                <a:spcPct val="130000"/>
              </a:lnSpc>
              <a:buNone/>
            </a:pPr>
            <a:r>
              <a:rPr lang="en-US" sz="850" b="1" dirty="0">
                <a:solidFill>
                  <a:srgbClr val="0F172A"/>
                </a:solidFill>
                <a:latin typeface="Calibri" pitchFamily="34" charset="0"/>
                <a:ea typeface="Calibri" pitchFamily="34" charset="-122"/>
                <a:cs typeface="Calibri" pitchFamily="34" charset="-120"/>
              </a:rPr>
              <a:t>Notification Service</a:t>
            </a:r>
            <a:endParaRPr lang="en-US" sz="850" dirty="0"/>
          </a:p>
          <a:p>
            <a:pPr algn="ctr" indent="0" marL="0">
              <a:lnSpc>
                <a:spcPct val="130000"/>
              </a:lnSpc>
              <a:buNone/>
            </a:pPr>
            <a:r>
              <a:rPr lang="en-US" sz="850" b="1" dirty="0">
                <a:solidFill>
                  <a:srgbClr val="0F172A"/>
                </a:solidFill>
                <a:latin typeface="Calibri" pitchFamily="34" charset="0"/>
                <a:ea typeface="Calibri" pitchFamily="34" charset="-122"/>
                <a:cs typeface="Calibri" pitchFamily="34" charset="-120"/>
              </a:rPr>
              <a:t>• NodeMailer SMTP Client</a:t>
            </a:r>
            <a:endParaRPr lang="en-US" sz="850" dirty="0"/>
          </a:p>
          <a:p>
            <a:pPr algn="ctr" indent="0" marL="0">
              <a:lnSpc>
                <a:spcPct val="130000"/>
              </a:lnSpc>
              <a:buNone/>
            </a:pPr>
            <a:r>
              <a:rPr lang="en-US" sz="850" b="1" dirty="0">
                <a:solidFill>
                  <a:srgbClr val="0F172A"/>
                </a:solidFill>
                <a:latin typeface="Calibri" pitchFamily="34" charset="0"/>
                <a:ea typeface="Calibri" pitchFamily="34" charset="-122"/>
                <a:cs typeface="Calibri" pitchFamily="34" charset="-120"/>
              </a:rPr>
              <a:t>• HTML Template Engine</a:t>
            </a:r>
            <a:endParaRPr lang="en-US" sz="850" dirty="0"/>
          </a:p>
          <a:p>
            <a:pPr algn="ctr" indent="0" marL="0">
              <a:lnSpc>
                <a:spcPct val="130000"/>
              </a:lnSpc>
              <a:buNone/>
            </a:pPr>
            <a:r>
              <a:rPr lang="en-US" sz="850" b="1" dirty="0">
                <a:solidFill>
                  <a:srgbClr val="0F172A"/>
                </a:solidFill>
                <a:latin typeface="Calibri" pitchFamily="34" charset="0"/>
                <a:ea typeface="Calibri" pitchFamily="34" charset="-122"/>
                <a:cs typeface="Calibri" pitchFamily="34" charset="-120"/>
              </a:rPr>
              <a:t>• Status Event Triggers</a:t>
            </a:r>
            <a:endParaRPr lang="en-US" sz="850" dirty="0"/>
          </a:p>
        </p:txBody>
      </p:sp>
      <p:sp>
        <p:nvSpPr>
          <p:cNvPr id="35" name="Shape 33"/>
          <p:cNvSpPr/>
          <p:nvPr/>
        </p:nvSpPr>
        <p:spPr>
          <a:xfrm>
            <a:off x="2103120" y="4709160"/>
            <a:ext cx="0" cy="457200"/>
          </a:xfrm>
          <a:prstGeom prst="line">
            <a:avLst/>
          </a:prstGeom>
          <a:noFill/>
          <a:ln w="16510">
            <a:solidFill>
              <a:srgbClr val="4338CA"/>
            </a:solidFill>
            <a:prstDash val="solid"/>
            <a:tailEnd type="triangle"/>
          </a:ln>
        </p:spPr>
      </p:sp>
      <p:sp>
        <p:nvSpPr>
          <p:cNvPr id="36" name="Shape 34"/>
          <p:cNvSpPr/>
          <p:nvPr/>
        </p:nvSpPr>
        <p:spPr>
          <a:xfrm>
            <a:off x="4782312" y="4709160"/>
            <a:ext cx="1344168" cy="457200"/>
          </a:xfrm>
          <a:prstGeom prst="line">
            <a:avLst/>
          </a:prstGeom>
          <a:noFill/>
          <a:ln w="16510">
            <a:solidFill>
              <a:srgbClr val="D97706"/>
            </a:solidFill>
            <a:prstDash val="solid"/>
            <a:tailEnd type="triangle"/>
          </a:ln>
        </p:spPr>
      </p:sp>
      <p:sp>
        <p:nvSpPr>
          <p:cNvPr id="37" name="Shape 35"/>
          <p:cNvSpPr/>
          <p:nvPr/>
        </p:nvSpPr>
        <p:spPr>
          <a:xfrm>
            <a:off x="7461504" y="4709160"/>
            <a:ext cx="-3803904" cy="457200"/>
          </a:xfrm>
          <a:prstGeom prst="line">
            <a:avLst/>
          </a:prstGeom>
          <a:noFill/>
          <a:ln w="16510">
            <a:solidFill>
              <a:srgbClr val="7C3AED"/>
            </a:solidFill>
            <a:prstDash val="solid"/>
            <a:tailEnd type="triangle"/>
          </a:ln>
        </p:spPr>
      </p:sp>
      <p:sp>
        <p:nvSpPr>
          <p:cNvPr id="38" name="Shape 36"/>
          <p:cNvSpPr/>
          <p:nvPr/>
        </p:nvSpPr>
        <p:spPr>
          <a:xfrm>
            <a:off x="10149840" y="4709160"/>
            <a:ext cx="0" cy="457200"/>
          </a:xfrm>
          <a:prstGeom prst="line">
            <a:avLst/>
          </a:prstGeom>
          <a:noFill/>
          <a:ln w="16510">
            <a:solidFill>
              <a:srgbClr val="059669"/>
            </a:solidFill>
            <a:prstDash val="solid"/>
            <a:tailEnd type="triangle"/>
          </a:ln>
        </p:spPr>
      </p:sp>
      <p:sp>
        <p:nvSpPr>
          <p:cNvPr id="39" name="Shape 37"/>
          <p:cNvSpPr/>
          <p:nvPr/>
        </p:nvSpPr>
        <p:spPr>
          <a:xfrm>
            <a:off x="914400" y="5166360"/>
            <a:ext cx="4114800" cy="777240"/>
          </a:xfrm>
          <a:prstGeom prst="roundRect">
            <a:avLst>
              <a:gd name="adj" fmla="val 7059"/>
            </a:avLst>
          </a:prstGeom>
          <a:solidFill>
            <a:srgbClr val="EFF6FF"/>
          </a:solidFill>
          <a:ln w="12700">
            <a:solidFill>
              <a:srgbClr val="1D4ED8"/>
            </a:solidFill>
            <a:prstDash val="solid"/>
          </a:ln>
        </p:spPr>
      </p:sp>
      <p:sp>
        <p:nvSpPr>
          <p:cNvPr id="40" name="Text 38"/>
          <p:cNvSpPr/>
          <p:nvPr/>
        </p:nvSpPr>
        <p:spPr>
          <a:xfrm>
            <a:off x="969264" y="5202936"/>
            <a:ext cx="4005072" cy="704088"/>
          </a:xfrm>
          <a:prstGeom prst="rect">
            <a:avLst/>
          </a:prstGeom>
          <a:noFill/>
          <a:ln/>
        </p:spPr>
        <p:txBody>
          <a:bodyPr wrap="square" rtlCol="0" anchor="ctr"/>
          <a:lstStyle/>
          <a:p>
            <a:pPr algn="ctr" indent="0" marL="0">
              <a:lnSpc>
                <a:spcPct val="125000"/>
              </a:lnSpc>
              <a:buNone/>
            </a:pPr>
            <a:r>
              <a:rPr lang="en-US" sz="900" b="1" dirty="0">
                <a:solidFill>
                  <a:srgbClr val="0F172A"/>
                </a:solidFill>
                <a:latin typeface="Calibri" pitchFamily="34" charset="0"/>
                <a:ea typeface="Calibri" pitchFamily="34" charset="-122"/>
                <a:cs typeface="Calibri" pitchFamily="34" charset="-120"/>
              </a:rPr>
              <a:t>MongoDB Atlas Database (Mongoose ODM)</a:t>
            </a:r>
            <a:endParaRPr lang="en-US" sz="900" dirty="0"/>
          </a:p>
          <a:p>
            <a:pPr algn="ctr" indent="0" marL="0">
              <a:lnSpc>
                <a:spcPct val="125000"/>
              </a:lnSpc>
              <a:buNone/>
            </a:pPr>
            <a:r>
              <a:rPr lang="en-US" sz="900" b="1" dirty="0">
                <a:solidFill>
                  <a:srgbClr val="0F172A"/>
                </a:solidFill>
                <a:latin typeface="Calibri" pitchFamily="34" charset="0"/>
                <a:ea typeface="Calibri" pitchFamily="34" charset="-122"/>
                <a:cs typeface="Calibri" pitchFamily="34" charset="-120"/>
              </a:rPr>
              <a:t>Schemas: User, Job, Application, Message, StudentProfile</a:t>
            </a:r>
            <a:endParaRPr lang="en-US" sz="900" dirty="0"/>
          </a:p>
        </p:txBody>
      </p:sp>
      <p:sp>
        <p:nvSpPr>
          <p:cNvPr id="41" name="Shape 39"/>
          <p:cNvSpPr/>
          <p:nvPr/>
        </p:nvSpPr>
        <p:spPr>
          <a:xfrm>
            <a:off x="5303520" y="5166360"/>
            <a:ext cx="3200400" cy="777240"/>
          </a:xfrm>
          <a:prstGeom prst="roundRect">
            <a:avLst>
              <a:gd name="adj" fmla="val 7059"/>
            </a:avLst>
          </a:prstGeom>
          <a:solidFill>
            <a:srgbClr val="FFFBEB"/>
          </a:solidFill>
          <a:ln w="12700">
            <a:solidFill>
              <a:srgbClr val="D97706"/>
            </a:solidFill>
            <a:prstDash val="solid"/>
          </a:ln>
        </p:spPr>
      </p:sp>
      <p:sp>
        <p:nvSpPr>
          <p:cNvPr id="42" name="Text 40"/>
          <p:cNvSpPr/>
          <p:nvPr/>
        </p:nvSpPr>
        <p:spPr>
          <a:xfrm>
            <a:off x="5358384" y="5202936"/>
            <a:ext cx="3090672" cy="704088"/>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Server File System (/uploads)</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Stores binary PDF/DOCX resumes with sanitized filenames</a:t>
            </a:r>
            <a:endParaRPr lang="en-US" sz="850" dirty="0"/>
          </a:p>
        </p:txBody>
      </p:sp>
      <p:sp>
        <p:nvSpPr>
          <p:cNvPr id="43" name="Shape 41"/>
          <p:cNvSpPr/>
          <p:nvPr/>
        </p:nvSpPr>
        <p:spPr>
          <a:xfrm>
            <a:off x="8778240" y="5166360"/>
            <a:ext cx="2560320" cy="777240"/>
          </a:xfrm>
          <a:prstGeom prst="roundRect">
            <a:avLst>
              <a:gd name="adj" fmla="val 7059"/>
            </a:avLst>
          </a:prstGeom>
          <a:solidFill>
            <a:srgbClr val="ECFDF5"/>
          </a:solidFill>
          <a:ln w="12700">
            <a:solidFill>
              <a:srgbClr val="059669"/>
            </a:solidFill>
            <a:prstDash val="solid"/>
          </a:ln>
        </p:spPr>
      </p:sp>
      <p:sp>
        <p:nvSpPr>
          <p:cNvPr id="44" name="Text 42"/>
          <p:cNvSpPr/>
          <p:nvPr/>
        </p:nvSpPr>
        <p:spPr>
          <a:xfrm>
            <a:off x="8833104" y="5202936"/>
            <a:ext cx="2450592" cy="704088"/>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External SMTP Server</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Transmits transactional HTML emails directly to Student Inbox</a:t>
            </a:r>
            <a:endParaRPr lang="en-US" sz="850" dirty="0"/>
          </a:p>
        </p:txBody>
      </p:sp>
      <p:sp>
        <p:nvSpPr>
          <p:cNvPr id="45" name="Shape 43"/>
          <p:cNvSpPr/>
          <p:nvPr/>
        </p:nvSpPr>
        <p:spPr>
          <a:xfrm>
            <a:off x="914400" y="6080760"/>
            <a:ext cx="10424160" cy="347472"/>
          </a:xfrm>
          <a:prstGeom prst="roundRect">
            <a:avLst>
              <a:gd name="adj" fmla="val 15789"/>
            </a:avLst>
          </a:prstGeom>
          <a:solidFill>
            <a:srgbClr val="F8FAFC"/>
          </a:solidFill>
          <a:ln w="12700">
            <a:solidFill>
              <a:srgbClr val="E2E8F0"/>
            </a:solidFill>
            <a:prstDash val="solid"/>
          </a:ln>
        </p:spPr>
      </p:sp>
      <p:sp>
        <p:nvSpPr>
          <p:cNvPr id="46" name="Text 44"/>
          <p:cNvSpPr/>
          <p:nvPr/>
        </p:nvSpPr>
        <p:spPr>
          <a:xfrm>
            <a:off x="969264" y="6117336"/>
            <a:ext cx="10314432" cy="274320"/>
          </a:xfrm>
          <a:prstGeom prst="rect">
            <a:avLst/>
          </a:prstGeom>
          <a:noFill/>
          <a:ln/>
        </p:spPr>
        <p:txBody>
          <a:bodyPr wrap="square" rtlCol="0" anchor="ctr"/>
          <a:lstStyle/>
          <a:p>
            <a:pPr algn="ctr" indent="0" marL="0">
              <a:lnSpc>
                <a:spcPct val="125000"/>
              </a:lnSpc>
              <a:buNone/>
            </a:pPr>
            <a:r>
              <a:rPr lang="en-US" sz="850" dirty="0">
                <a:solidFill>
                  <a:srgbClr val="0F172A"/>
                </a:solidFill>
                <a:latin typeface="Calibri" pitchFamily="34" charset="0"/>
                <a:ea typeface="Calibri" pitchFamily="34" charset="-122"/>
                <a:cs typeface="Calibri" pitchFamily="34" charset="-120"/>
              </a:rPr>
              <a:t>Lifecycle: 1. SPA sends Bearer JWT ➔ 2. Gateway authenticates role ➔ 3. Controller executes logic ➔ 4. MongoDB updates ➔ 5. Alerts dispatched via SMTP.</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7C3AED"/>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EDE9FE"/>
          </a:solidFill>
          <a:ln w="10160">
            <a:solidFill>
              <a:srgbClr val="7C3AED"/>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7C3AED"/>
                </a:solidFill>
                <a:latin typeface="Calibri" pitchFamily="34" charset="0"/>
                <a:ea typeface="Calibri" pitchFamily="34" charset="-122"/>
                <a:cs typeface="Calibri" pitchFamily="34" charset="-120"/>
              </a:rPr>
              <a:t>METHODOLOGY</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Methodology &amp; Processing Logic: Mathematical Formulations</a:t>
            </a:r>
            <a:endParaRPr lang="en-US" sz="2300" dirty="0"/>
          </a:p>
        </p:txBody>
      </p:sp>
      <p:sp>
        <p:nvSpPr>
          <p:cNvPr id="8" name="Shape 6"/>
          <p:cNvSpPr/>
          <p:nvPr/>
        </p:nvSpPr>
        <p:spPr>
          <a:xfrm>
            <a:off x="731520" y="1097280"/>
            <a:ext cx="2194560" cy="32004"/>
          </a:xfrm>
          <a:prstGeom prst="rect">
            <a:avLst/>
          </a:prstGeom>
          <a:solidFill>
            <a:srgbClr val="7C3AED"/>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7C3AED"/>
                </a:solidFill>
                <a:latin typeface="Calibri" pitchFamily="34" charset="0"/>
                <a:ea typeface="Calibri" pitchFamily="34" charset="-122"/>
                <a:cs typeface="Calibri" pitchFamily="34" charset="-120"/>
              </a:rPr>
              <a:t>08</a:t>
            </a:r>
            <a:endParaRPr lang="en-US" sz="950" dirty="0"/>
          </a:p>
        </p:txBody>
      </p:sp>
      <p:sp>
        <p:nvSpPr>
          <p:cNvPr id="11" name="Shape 9"/>
          <p:cNvSpPr/>
          <p:nvPr/>
        </p:nvSpPr>
        <p:spPr>
          <a:xfrm>
            <a:off x="731520" y="1325880"/>
            <a:ext cx="5212080" cy="4937760"/>
          </a:xfrm>
          <a:prstGeom prst="roundRect">
            <a:avLst>
              <a:gd name="adj" fmla="val 1481"/>
            </a:avLst>
          </a:prstGeom>
          <a:solidFill>
            <a:srgbClr val="FFFFFF"/>
          </a:solidFill>
          <a:ln w="17780">
            <a:solidFill>
              <a:srgbClr val="7C3AED"/>
            </a:solidFill>
            <a:prstDash val="solid"/>
          </a:ln>
        </p:spPr>
      </p:sp>
      <p:sp>
        <p:nvSpPr>
          <p:cNvPr id="12" name="Shape 10"/>
          <p:cNvSpPr/>
          <p:nvPr/>
        </p:nvSpPr>
        <p:spPr>
          <a:xfrm>
            <a:off x="1005840" y="1444752"/>
            <a:ext cx="3108960" cy="256032"/>
          </a:xfrm>
          <a:prstGeom prst="roundRect">
            <a:avLst>
              <a:gd name="adj" fmla="val 14286"/>
            </a:avLst>
          </a:prstGeom>
          <a:solidFill>
            <a:srgbClr val="EDE9FE"/>
          </a:solidFill>
          <a:ln w="7620">
            <a:solidFill>
              <a:srgbClr val="7C3AED"/>
            </a:solidFill>
            <a:prstDash val="solid"/>
          </a:ln>
        </p:spPr>
      </p:sp>
      <p:sp>
        <p:nvSpPr>
          <p:cNvPr id="13" name="Text 11"/>
          <p:cNvSpPr/>
          <p:nvPr/>
        </p:nvSpPr>
        <p:spPr>
          <a:xfrm>
            <a:off x="1005840" y="1444752"/>
            <a:ext cx="3108960" cy="256032"/>
          </a:xfrm>
          <a:prstGeom prst="rect">
            <a:avLst/>
          </a:prstGeom>
          <a:noFill/>
          <a:ln/>
        </p:spPr>
        <p:txBody>
          <a:bodyPr wrap="square" rtlCol="0" anchor="ctr"/>
          <a:lstStyle/>
          <a:p>
            <a:pPr algn="ctr" indent="0" marL="0">
              <a:buNone/>
            </a:pPr>
            <a:r>
              <a:rPr lang="en-US" sz="850" b="1" spc="200" kern="0" dirty="0">
                <a:solidFill>
                  <a:srgbClr val="7C3AED"/>
                </a:solidFill>
                <a:latin typeface="Calibri" pitchFamily="34" charset="0"/>
                <a:ea typeface="Calibri" pitchFamily="34" charset="-122"/>
                <a:cs typeface="Calibri" pitchFamily="34" charset="-120"/>
              </a:rPr>
              <a:t>CORE MATHEMATICAL EQUATIONS</a:t>
            </a:r>
            <a:endParaRPr lang="en-US" sz="850" dirty="0"/>
          </a:p>
        </p:txBody>
      </p:sp>
      <p:sp>
        <p:nvSpPr>
          <p:cNvPr id="14" name="Text 12"/>
          <p:cNvSpPr/>
          <p:nvPr/>
        </p:nvSpPr>
        <p:spPr>
          <a:xfrm>
            <a:off x="1005840" y="1783080"/>
            <a:ext cx="4663440" cy="22860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1. Composite ATS Candidate Match Score</a:t>
            </a:r>
            <a:endParaRPr lang="en-US" sz="1000" dirty="0"/>
          </a:p>
        </p:txBody>
      </p:sp>
      <p:sp>
        <p:nvSpPr>
          <p:cNvPr id="15" name="Shape 13"/>
          <p:cNvSpPr/>
          <p:nvPr/>
        </p:nvSpPr>
        <p:spPr>
          <a:xfrm>
            <a:off x="1005840" y="2020824"/>
            <a:ext cx="4663440" cy="329184"/>
          </a:xfrm>
          <a:prstGeom prst="roundRect">
            <a:avLst>
              <a:gd name="adj" fmla="val 11111"/>
            </a:avLst>
          </a:prstGeom>
          <a:solidFill>
            <a:srgbClr val="F5F3FF"/>
          </a:solidFill>
          <a:ln w="10160">
            <a:solidFill>
              <a:srgbClr val="EDE9FE"/>
            </a:solidFill>
            <a:prstDash val="solid"/>
          </a:ln>
        </p:spPr>
      </p:sp>
      <p:sp>
        <p:nvSpPr>
          <p:cNvPr id="16" name="Text 14"/>
          <p:cNvSpPr/>
          <p:nvPr/>
        </p:nvSpPr>
        <p:spPr>
          <a:xfrm>
            <a:off x="1097280" y="2020824"/>
            <a:ext cx="4480560" cy="329184"/>
          </a:xfrm>
          <a:prstGeom prst="rect">
            <a:avLst/>
          </a:prstGeom>
          <a:noFill/>
          <a:ln/>
        </p:spPr>
        <p:txBody>
          <a:bodyPr wrap="square" rtlCol="0" anchor="ctr"/>
          <a:lstStyle/>
          <a:p>
            <a:pPr indent="0" marL="0">
              <a:buNone/>
            </a:pPr>
            <a:r>
              <a:rPr lang="en-US" sz="880" b="1" dirty="0">
                <a:solidFill>
                  <a:srgbClr val="7C3AED"/>
                </a:solidFill>
                <a:latin typeface="Consolas" pitchFamily="34" charset="0"/>
                <a:ea typeface="Consolas" pitchFamily="34" charset="-122"/>
                <a:cs typeface="Consolas" pitchFamily="34" charset="-120"/>
              </a:rPr>
              <a:t>S_total = (w_s · S_skills) + (w_e · E_exp) + (w_a · A_cgpa) + (w_p · P_proj)</a:t>
            </a:r>
            <a:endParaRPr lang="en-US" sz="880" dirty="0"/>
          </a:p>
        </p:txBody>
      </p:sp>
      <p:sp>
        <p:nvSpPr>
          <p:cNvPr id="17" name="Text 15"/>
          <p:cNvSpPr/>
          <p:nvPr/>
        </p:nvSpPr>
        <p:spPr>
          <a:xfrm>
            <a:off x="1005840" y="2377440"/>
            <a:ext cx="4663440" cy="411480"/>
          </a:xfrm>
          <a:prstGeom prst="rect">
            <a:avLst/>
          </a:prstGeom>
          <a:noFill/>
          <a:ln/>
        </p:spPr>
        <p:txBody>
          <a:bodyPr wrap="square" rtlCol="0" anchor="t"/>
          <a:lstStyle/>
          <a:p>
            <a:pPr indent="0" marL="0">
              <a:lnSpc>
                <a:spcPct val="125000"/>
              </a:lnSpc>
              <a:buNone/>
            </a:pPr>
            <a:r>
              <a:rPr lang="en-US" sz="850" dirty="0">
                <a:solidFill>
                  <a:srgbClr val="334155"/>
                </a:solidFill>
                <a:latin typeface="Calibri" pitchFamily="34" charset="0"/>
                <a:ea typeface="Calibri" pitchFamily="34" charset="-122"/>
                <a:cs typeface="Calibri" pitchFamily="34" charset="-120"/>
              </a:rPr>
              <a:t>Weighted linear combination where weights sum to unity:</a:t>
            </a:r>
            <a:endParaRPr lang="en-US" sz="850" dirty="0"/>
          </a:p>
          <a:p>
            <a:pPr indent="0" marL="0">
              <a:lnSpc>
                <a:spcPct val="125000"/>
              </a:lnSpc>
              <a:buNone/>
            </a:pPr>
            <a:r>
              <a:rPr lang="en-US" sz="850" dirty="0">
                <a:solidFill>
                  <a:srgbClr val="334155"/>
                </a:solidFill>
                <a:latin typeface="Calibri" pitchFamily="34" charset="0"/>
                <a:ea typeface="Calibri" pitchFamily="34" charset="-122"/>
                <a:cs typeface="Calibri" pitchFamily="34" charset="-120"/>
              </a:rPr>
              <a:t>w_s = 0.45 (Skills), w_e = 0.25 (Internships), w_a = 0.15 (Academic CGPA), w_p = 0.15 (Projects).</a:t>
            </a:r>
            <a:endParaRPr lang="en-US" sz="850" dirty="0"/>
          </a:p>
        </p:txBody>
      </p:sp>
      <p:sp>
        <p:nvSpPr>
          <p:cNvPr id="18" name="Text 16"/>
          <p:cNvSpPr/>
          <p:nvPr/>
        </p:nvSpPr>
        <p:spPr>
          <a:xfrm>
            <a:off x="1005840" y="2880360"/>
            <a:ext cx="4663440" cy="22860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2. Cosine Similarity for Skill Vector Alignment</a:t>
            </a:r>
            <a:endParaRPr lang="en-US" sz="1000" dirty="0"/>
          </a:p>
        </p:txBody>
      </p:sp>
      <p:sp>
        <p:nvSpPr>
          <p:cNvPr id="19" name="Shape 17"/>
          <p:cNvSpPr/>
          <p:nvPr/>
        </p:nvSpPr>
        <p:spPr>
          <a:xfrm>
            <a:off x="1005840" y="3118104"/>
            <a:ext cx="4663440" cy="329184"/>
          </a:xfrm>
          <a:prstGeom prst="roundRect">
            <a:avLst>
              <a:gd name="adj" fmla="val 11111"/>
            </a:avLst>
          </a:prstGeom>
          <a:solidFill>
            <a:srgbClr val="F5F3FF"/>
          </a:solidFill>
          <a:ln w="10160">
            <a:solidFill>
              <a:srgbClr val="EDE9FE"/>
            </a:solidFill>
            <a:prstDash val="solid"/>
          </a:ln>
        </p:spPr>
      </p:sp>
      <p:sp>
        <p:nvSpPr>
          <p:cNvPr id="20" name="Text 18"/>
          <p:cNvSpPr/>
          <p:nvPr/>
        </p:nvSpPr>
        <p:spPr>
          <a:xfrm>
            <a:off x="1097280" y="3118104"/>
            <a:ext cx="4480560" cy="329184"/>
          </a:xfrm>
          <a:prstGeom prst="rect">
            <a:avLst/>
          </a:prstGeom>
          <a:noFill/>
          <a:ln/>
        </p:spPr>
        <p:txBody>
          <a:bodyPr wrap="square" rtlCol="0" anchor="ctr"/>
          <a:lstStyle/>
          <a:p>
            <a:pPr indent="0" marL="0">
              <a:buNone/>
            </a:pPr>
            <a:r>
              <a:rPr lang="en-US" sz="880" b="1" dirty="0">
                <a:solidFill>
                  <a:srgbClr val="7C3AED"/>
                </a:solidFill>
                <a:latin typeface="Consolas" pitchFamily="34" charset="0"/>
                <a:ea typeface="Consolas" pitchFamily="34" charset="-122"/>
                <a:cs typeface="Consolas" pitchFamily="34" charset="-120"/>
              </a:rPr>
              <a:t>Cosine(R, J) = ( R · J ) / ( ||R|| · ||J|| ) = Σ(R_i · J_i) / ( √Σ R_i² · √Σ J_i² )</a:t>
            </a:r>
            <a:endParaRPr lang="en-US" sz="880" dirty="0"/>
          </a:p>
        </p:txBody>
      </p:sp>
      <p:sp>
        <p:nvSpPr>
          <p:cNvPr id="21" name="Text 19"/>
          <p:cNvSpPr/>
          <p:nvPr/>
        </p:nvSpPr>
        <p:spPr>
          <a:xfrm>
            <a:off x="1005840" y="3474720"/>
            <a:ext cx="4663440" cy="411480"/>
          </a:xfrm>
          <a:prstGeom prst="rect">
            <a:avLst/>
          </a:prstGeom>
          <a:noFill/>
          <a:ln/>
        </p:spPr>
        <p:txBody>
          <a:bodyPr wrap="square" rtlCol="0" anchor="t"/>
          <a:lstStyle/>
          <a:p>
            <a:pPr indent="0" marL="0">
              <a:lnSpc>
                <a:spcPct val="125000"/>
              </a:lnSpc>
              <a:buNone/>
            </a:pPr>
            <a:r>
              <a:rPr lang="en-US" sz="850" dirty="0">
                <a:solidFill>
                  <a:srgbClr val="334155"/>
                </a:solidFill>
                <a:latin typeface="Calibri" pitchFamily="34" charset="0"/>
                <a:ea typeface="Calibri" pitchFamily="34" charset="-122"/>
                <a:cs typeface="Calibri" pitchFamily="34" charset="-120"/>
              </a:rPr>
              <a:t>Measures angular proximity between resume skill frequency vector R and job requirement vector J in multi-dimensional skill space.</a:t>
            </a:r>
            <a:endParaRPr lang="en-US" sz="850" dirty="0"/>
          </a:p>
        </p:txBody>
      </p:sp>
      <p:sp>
        <p:nvSpPr>
          <p:cNvPr id="22" name="Text 20"/>
          <p:cNvSpPr/>
          <p:nvPr/>
        </p:nvSpPr>
        <p:spPr>
          <a:xfrm>
            <a:off x="1005840" y="3977640"/>
            <a:ext cx="4663440" cy="22860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3. Keyword Coverage Metric</a:t>
            </a:r>
            <a:endParaRPr lang="en-US" sz="1000" dirty="0"/>
          </a:p>
        </p:txBody>
      </p:sp>
      <p:sp>
        <p:nvSpPr>
          <p:cNvPr id="23" name="Shape 21"/>
          <p:cNvSpPr/>
          <p:nvPr/>
        </p:nvSpPr>
        <p:spPr>
          <a:xfrm>
            <a:off x="1005840" y="4215384"/>
            <a:ext cx="4663440" cy="329184"/>
          </a:xfrm>
          <a:prstGeom prst="roundRect">
            <a:avLst>
              <a:gd name="adj" fmla="val 11111"/>
            </a:avLst>
          </a:prstGeom>
          <a:solidFill>
            <a:srgbClr val="F5F3FF"/>
          </a:solidFill>
          <a:ln w="10160">
            <a:solidFill>
              <a:srgbClr val="EDE9FE"/>
            </a:solidFill>
            <a:prstDash val="solid"/>
          </a:ln>
        </p:spPr>
      </p:sp>
      <p:sp>
        <p:nvSpPr>
          <p:cNvPr id="24" name="Text 22"/>
          <p:cNvSpPr/>
          <p:nvPr/>
        </p:nvSpPr>
        <p:spPr>
          <a:xfrm>
            <a:off x="1097280" y="4215384"/>
            <a:ext cx="4480560" cy="329184"/>
          </a:xfrm>
          <a:prstGeom prst="rect">
            <a:avLst/>
          </a:prstGeom>
          <a:noFill/>
          <a:ln/>
        </p:spPr>
        <p:txBody>
          <a:bodyPr wrap="square" rtlCol="0" anchor="ctr"/>
          <a:lstStyle/>
          <a:p>
            <a:pPr indent="0" marL="0">
              <a:buNone/>
            </a:pPr>
            <a:r>
              <a:rPr lang="en-US" sz="880" b="1" dirty="0">
                <a:solidFill>
                  <a:srgbClr val="7C3AED"/>
                </a:solidFill>
                <a:latin typeface="Consolas" pitchFamily="34" charset="0"/>
                <a:ea typeface="Consolas" pitchFamily="34" charset="-122"/>
                <a:cs typeface="Consolas" pitchFamily="34" charset="-120"/>
              </a:rPr>
              <a:t>Coverage % = ( | K_Resume ∩ K_Job | / | K_Job | ) × 100%</a:t>
            </a:r>
            <a:endParaRPr lang="en-US" sz="880" dirty="0"/>
          </a:p>
        </p:txBody>
      </p:sp>
      <p:sp>
        <p:nvSpPr>
          <p:cNvPr id="25" name="Text 23"/>
          <p:cNvSpPr/>
          <p:nvPr/>
        </p:nvSpPr>
        <p:spPr>
          <a:xfrm>
            <a:off x="1005840" y="4572000"/>
            <a:ext cx="4663440" cy="411480"/>
          </a:xfrm>
          <a:prstGeom prst="rect">
            <a:avLst/>
          </a:prstGeom>
          <a:noFill/>
          <a:ln/>
        </p:spPr>
        <p:txBody>
          <a:bodyPr wrap="square" rtlCol="0" anchor="t"/>
          <a:lstStyle/>
          <a:p>
            <a:pPr indent="0" marL="0">
              <a:lnSpc>
                <a:spcPct val="125000"/>
              </a:lnSpc>
              <a:buNone/>
            </a:pPr>
            <a:r>
              <a:rPr lang="en-US" sz="850" dirty="0">
                <a:solidFill>
                  <a:srgbClr val="334155"/>
                </a:solidFill>
                <a:latin typeface="Calibri" pitchFamily="34" charset="0"/>
                <a:ea typeface="Calibri" pitchFamily="34" charset="-122"/>
                <a:cs typeface="Calibri" pitchFamily="34" charset="-120"/>
              </a:rPr>
              <a:t>Calculates percentage of mandatory recruiter technical competencies satisfied directly within candidate resume text.</a:t>
            </a:r>
            <a:endParaRPr lang="en-US" sz="850" dirty="0"/>
          </a:p>
        </p:txBody>
      </p:sp>
      <p:sp>
        <p:nvSpPr>
          <p:cNvPr id="26" name="Text 24"/>
          <p:cNvSpPr/>
          <p:nvPr/>
        </p:nvSpPr>
        <p:spPr>
          <a:xfrm>
            <a:off x="1005840" y="5074920"/>
            <a:ext cx="4663440" cy="22860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4. Cryptographic JWT Verification HMAC-SHA256</a:t>
            </a:r>
            <a:endParaRPr lang="en-US" sz="1000" dirty="0"/>
          </a:p>
        </p:txBody>
      </p:sp>
      <p:sp>
        <p:nvSpPr>
          <p:cNvPr id="27" name="Shape 25"/>
          <p:cNvSpPr/>
          <p:nvPr/>
        </p:nvSpPr>
        <p:spPr>
          <a:xfrm>
            <a:off x="1005840" y="5312664"/>
            <a:ext cx="4663440" cy="329184"/>
          </a:xfrm>
          <a:prstGeom prst="roundRect">
            <a:avLst>
              <a:gd name="adj" fmla="val 11111"/>
            </a:avLst>
          </a:prstGeom>
          <a:solidFill>
            <a:srgbClr val="F5F3FF"/>
          </a:solidFill>
          <a:ln w="10160">
            <a:solidFill>
              <a:srgbClr val="EDE9FE"/>
            </a:solidFill>
            <a:prstDash val="solid"/>
          </a:ln>
        </p:spPr>
      </p:sp>
      <p:sp>
        <p:nvSpPr>
          <p:cNvPr id="28" name="Text 26"/>
          <p:cNvSpPr/>
          <p:nvPr/>
        </p:nvSpPr>
        <p:spPr>
          <a:xfrm>
            <a:off x="1097280" y="5312664"/>
            <a:ext cx="4480560" cy="329184"/>
          </a:xfrm>
          <a:prstGeom prst="rect">
            <a:avLst/>
          </a:prstGeom>
          <a:noFill/>
          <a:ln/>
        </p:spPr>
        <p:txBody>
          <a:bodyPr wrap="square" rtlCol="0" anchor="ctr"/>
          <a:lstStyle/>
          <a:p>
            <a:pPr indent="0" marL="0">
              <a:buNone/>
            </a:pPr>
            <a:r>
              <a:rPr lang="en-US" sz="880" b="1" dirty="0">
                <a:solidFill>
                  <a:srgbClr val="7C3AED"/>
                </a:solidFill>
                <a:latin typeface="Consolas" pitchFamily="34" charset="0"/>
                <a:ea typeface="Consolas" pitchFamily="34" charset="-122"/>
                <a:cs typeface="Consolas" pitchFamily="34" charset="-120"/>
              </a:rPr>
              <a:t>Signature = HMAC-SHA256( Base64URL(Header) || "." || Base64URL(Payload), Secret )</a:t>
            </a:r>
            <a:endParaRPr lang="en-US" sz="880" dirty="0"/>
          </a:p>
        </p:txBody>
      </p:sp>
      <p:sp>
        <p:nvSpPr>
          <p:cNvPr id="29" name="Text 27"/>
          <p:cNvSpPr/>
          <p:nvPr/>
        </p:nvSpPr>
        <p:spPr>
          <a:xfrm>
            <a:off x="1005840" y="5669280"/>
            <a:ext cx="4663440" cy="411480"/>
          </a:xfrm>
          <a:prstGeom prst="rect">
            <a:avLst/>
          </a:prstGeom>
          <a:noFill/>
          <a:ln/>
        </p:spPr>
        <p:txBody>
          <a:bodyPr wrap="square" rtlCol="0" anchor="t"/>
          <a:lstStyle/>
          <a:p>
            <a:pPr indent="0" marL="0">
              <a:lnSpc>
                <a:spcPct val="125000"/>
              </a:lnSpc>
              <a:buNone/>
            </a:pPr>
            <a:r>
              <a:rPr lang="en-US" sz="850" dirty="0">
                <a:solidFill>
                  <a:srgbClr val="334155"/>
                </a:solidFill>
                <a:latin typeface="Calibri" pitchFamily="34" charset="0"/>
                <a:ea typeface="Calibri" pitchFamily="34" charset="-122"/>
                <a:cs typeface="Calibri" pitchFamily="34" charset="-120"/>
              </a:rPr>
              <a:t>Tamper-evident stateless token validation executed on every API route invocation.</a:t>
            </a:r>
            <a:endParaRPr lang="en-US" sz="850" dirty="0"/>
          </a:p>
        </p:txBody>
      </p:sp>
      <p:sp>
        <p:nvSpPr>
          <p:cNvPr id="30" name="Shape 28"/>
          <p:cNvSpPr/>
          <p:nvPr/>
        </p:nvSpPr>
        <p:spPr>
          <a:xfrm>
            <a:off x="6217920" y="1325880"/>
            <a:ext cx="5212080" cy="4937760"/>
          </a:xfrm>
          <a:prstGeom prst="roundRect">
            <a:avLst>
              <a:gd name="adj" fmla="val 1481"/>
            </a:avLst>
          </a:prstGeom>
          <a:solidFill>
            <a:srgbClr val="FFFFFF"/>
          </a:solidFill>
          <a:ln w="12700">
            <a:solidFill>
              <a:srgbClr val="CBD5E1"/>
            </a:solidFill>
            <a:prstDash val="solid"/>
          </a:ln>
        </p:spPr>
      </p:sp>
      <p:sp>
        <p:nvSpPr>
          <p:cNvPr id="31" name="Shape 29"/>
          <p:cNvSpPr/>
          <p:nvPr/>
        </p:nvSpPr>
        <p:spPr>
          <a:xfrm>
            <a:off x="6492240" y="1444752"/>
            <a:ext cx="3474720" cy="256032"/>
          </a:xfrm>
          <a:prstGeom prst="roundRect">
            <a:avLst>
              <a:gd name="adj" fmla="val 14286"/>
            </a:avLst>
          </a:prstGeom>
          <a:solidFill>
            <a:srgbClr val="E0E7FF"/>
          </a:solidFill>
          <a:ln w="7620">
            <a:solidFill>
              <a:srgbClr val="4338CA"/>
            </a:solidFill>
            <a:prstDash val="solid"/>
          </a:ln>
        </p:spPr>
      </p:sp>
      <p:sp>
        <p:nvSpPr>
          <p:cNvPr id="32" name="Text 30"/>
          <p:cNvSpPr/>
          <p:nvPr/>
        </p:nvSpPr>
        <p:spPr>
          <a:xfrm>
            <a:off x="6492240" y="1444752"/>
            <a:ext cx="3474720" cy="256032"/>
          </a:xfrm>
          <a:prstGeom prst="rect">
            <a:avLst/>
          </a:prstGeom>
          <a:noFill/>
          <a:ln/>
        </p:spPr>
        <p:txBody>
          <a:bodyPr wrap="square" rtlCol="0" anchor="ctr"/>
          <a:lstStyle/>
          <a:p>
            <a:pPr algn="ctr" indent="0" marL="0">
              <a:buNone/>
            </a:pPr>
            <a:r>
              <a:rPr lang="en-US" sz="850" b="1" spc="200" kern="0" dirty="0">
                <a:solidFill>
                  <a:srgbClr val="4338CA"/>
                </a:solidFill>
                <a:latin typeface="Calibri" pitchFamily="34" charset="0"/>
                <a:ea typeface="Calibri" pitchFamily="34" charset="-122"/>
                <a:cs typeface="Calibri" pitchFamily="34" charset="-120"/>
              </a:rPr>
              <a:t>PROCESSING WORKFLOW &amp; BUSINESS LOGIC</a:t>
            </a:r>
            <a:endParaRPr lang="en-US" sz="850" dirty="0"/>
          </a:p>
        </p:txBody>
      </p:sp>
      <p:sp>
        <p:nvSpPr>
          <p:cNvPr id="33" name="Shape 31"/>
          <p:cNvSpPr/>
          <p:nvPr/>
        </p:nvSpPr>
        <p:spPr>
          <a:xfrm>
            <a:off x="6492240" y="1783080"/>
            <a:ext cx="4663440" cy="804672"/>
          </a:xfrm>
          <a:prstGeom prst="roundRect">
            <a:avLst>
              <a:gd name="adj" fmla="val 5682"/>
            </a:avLst>
          </a:prstGeom>
          <a:solidFill>
            <a:srgbClr val="EEF2FF"/>
          </a:solidFill>
          <a:ln w="6350">
            <a:solidFill>
              <a:srgbClr val="E2E8F0"/>
            </a:solidFill>
            <a:prstDash val="solid"/>
          </a:ln>
        </p:spPr>
      </p:sp>
      <p:sp>
        <p:nvSpPr>
          <p:cNvPr id="34" name="Text 32"/>
          <p:cNvSpPr/>
          <p:nvPr/>
        </p:nvSpPr>
        <p:spPr>
          <a:xfrm>
            <a:off x="6629400" y="1856232"/>
            <a:ext cx="4389120" cy="22860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Stateless Authentication (JWT)</a:t>
            </a:r>
            <a:endParaRPr lang="en-US" sz="1000" dirty="0"/>
          </a:p>
        </p:txBody>
      </p:sp>
      <p:sp>
        <p:nvSpPr>
          <p:cNvPr id="35" name="Text 33"/>
          <p:cNvSpPr/>
          <p:nvPr/>
        </p:nvSpPr>
        <p:spPr>
          <a:xfrm>
            <a:off x="6629400" y="2075688"/>
            <a:ext cx="4389120" cy="457200"/>
          </a:xfrm>
          <a:prstGeom prst="rect">
            <a:avLst/>
          </a:prstGeom>
          <a:noFill/>
          <a:ln/>
        </p:spPr>
        <p:txBody>
          <a:bodyPr wrap="square" rtlCol="0" anchor="t"/>
          <a:lstStyle/>
          <a:p>
            <a:pPr indent="0" marL="0">
              <a:lnSpc>
                <a:spcPct val="125000"/>
              </a:lnSpc>
              <a:buNone/>
            </a:pPr>
            <a:r>
              <a:rPr lang="en-US" sz="850" dirty="0">
                <a:solidFill>
                  <a:srgbClr val="334155"/>
                </a:solidFill>
                <a:latin typeface="Calibri" pitchFamily="34" charset="0"/>
                <a:ea typeface="Calibri" pitchFamily="34" charset="-122"/>
                <a:cs typeface="Calibri" pitchFamily="34" charset="-120"/>
              </a:rPr>
              <a:t>Client transmits credentials to /api/auth/login. Server verifies bcrypt hash. Generates signed JWT payload containing { id, role } with 7-day expiration.</a:t>
            </a:r>
            <a:endParaRPr lang="en-US" sz="850" dirty="0"/>
          </a:p>
        </p:txBody>
      </p:sp>
      <p:sp>
        <p:nvSpPr>
          <p:cNvPr id="36" name="Shape 34"/>
          <p:cNvSpPr/>
          <p:nvPr/>
        </p:nvSpPr>
        <p:spPr>
          <a:xfrm>
            <a:off x="6492240" y="2660904"/>
            <a:ext cx="4663440" cy="804672"/>
          </a:xfrm>
          <a:prstGeom prst="roundRect">
            <a:avLst>
              <a:gd name="adj" fmla="val 5682"/>
            </a:avLst>
          </a:prstGeom>
          <a:solidFill>
            <a:srgbClr val="FFFFFF"/>
          </a:solidFill>
          <a:ln w="6350">
            <a:solidFill>
              <a:srgbClr val="E2E8F0"/>
            </a:solidFill>
            <a:prstDash val="solid"/>
          </a:ln>
        </p:spPr>
      </p:sp>
      <p:sp>
        <p:nvSpPr>
          <p:cNvPr id="37" name="Text 35"/>
          <p:cNvSpPr/>
          <p:nvPr/>
        </p:nvSpPr>
        <p:spPr>
          <a:xfrm>
            <a:off x="6629400" y="2734056"/>
            <a:ext cx="4389120" cy="22860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Asynchronous Document Parsing</a:t>
            </a:r>
            <a:endParaRPr lang="en-US" sz="1000" dirty="0"/>
          </a:p>
        </p:txBody>
      </p:sp>
      <p:sp>
        <p:nvSpPr>
          <p:cNvPr id="38" name="Text 36"/>
          <p:cNvSpPr/>
          <p:nvPr/>
        </p:nvSpPr>
        <p:spPr>
          <a:xfrm>
            <a:off x="6629400" y="2953512"/>
            <a:ext cx="4389120" cy="457200"/>
          </a:xfrm>
          <a:prstGeom prst="rect">
            <a:avLst/>
          </a:prstGeom>
          <a:noFill/>
          <a:ln/>
        </p:spPr>
        <p:txBody>
          <a:bodyPr wrap="square" rtlCol="0" anchor="t"/>
          <a:lstStyle/>
          <a:p>
            <a:pPr indent="0" marL="0">
              <a:lnSpc>
                <a:spcPct val="125000"/>
              </a:lnSpc>
              <a:buNone/>
            </a:pPr>
            <a:r>
              <a:rPr lang="en-US" sz="850" dirty="0">
                <a:solidFill>
                  <a:srgbClr val="334155"/>
                </a:solidFill>
                <a:latin typeface="Calibri" pitchFamily="34" charset="0"/>
                <a:ea typeface="Calibri" pitchFamily="34" charset="-122"/>
                <a:cs typeface="Calibri" pitchFamily="34" charset="-120"/>
              </a:rPr>
              <a:t>Resumes ingested via Multer. If MIME type is PDF, pdf-parse extracts raw UTF-8 string. If DOCX, mammoth unpacks internal document.xml to extract formatted text.</a:t>
            </a:r>
            <a:endParaRPr lang="en-US" sz="850" dirty="0"/>
          </a:p>
        </p:txBody>
      </p:sp>
      <p:sp>
        <p:nvSpPr>
          <p:cNvPr id="39" name="Shape 37"/>
          <p:cNvSpPr/>
          <p:nvPr/>
        </p:nvSpPr>
        <p:spPr>
          <a:xfrm>
            <a:off x="6492240" y="3538728"/>
            <a:ext cx="4663440" cy="804672"/>
          </a:xfrm>
          <a:prstGeom prst="roundRect">
            <a:avLst>
              <a:gd name="adj" fmla="val 5682"/>
            </a:avLst>
          </a:prstGeom>
          <a:solidFill>
            <a:srgbClr val="EEF2FF"/>
          </a:solidFill>
          <a:ln w="6350">
            <a:solidFill>
              <a:srgbClr val="E2E8F0"/>
            </a:solidFill>
            <a:prstDash val="solid"/>
          </a:ln>
        </p:spPr>
      </p:sp>
      <p:sp>
        <p:nvSpPr>
          <p:cNvPr id="40" name="Text 38"/>
          <p:cNvSpPr/>
          <p:nvPr/>
        </p:nvSpPr>
        <p:spPr>
          <a:xfrm>
            <a:off x="6629400" y="3611880"/>
            <a:ext cx="4389120" cy="22860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Taxonomy Skill Normalization</a:t>
            </a:r>
            <a:endParaRPr lang="en-US" sz="1000" dirty="0"/>
          </a:p>
        </p:txBody>
      </p:sp>
      <p:sp>
        <p:nvSpPr>
          <p:cNvPr id="41" name="Text 39"/>
          <p:cNvSpPr/>
          <p:nvPr/>
        </p:nvSpPr>
        <p:spPr>
          <a:xfrm>
            <a:off x="6629400" y="3831336"/>
            <a:ext cx="4389120" cy="457200"/>
          </a:xfrm>
          <a:prstGeom prst="rect">
            <a:avLst/>
          </a:prstGeom>
          <a:noFill/>
          <a:ln/>
        </p:spPr>
        <p:txBody>
          <a:bodyPr wrap="square" rtlCol="0" anchor="t"/>
          <a:lstStyle/>
          <a:p>
            <a:pPr indent="0" marL="0">
              <a:lnSpc>
                <a:spcPct val="125000"/>
              </a:lnSpc>
              <a:buNone/>
            </a:pPr>
            <a:r>
              <a:rPr lang="en-US" sz="850" dirty="0">
                <a:solidFill>
                  <a:srgbClr val="334155"/>
                </a:solidFill>
                <a:latin typeface="Calibri" pitchFamily="34" charset="0"/>
                <a:ea typeface="Calibri" pitchFamily="34" charset="-122"/>
                <a:cs typeface="Calibri" pitchFamily="34" charset="-120"/>
              </a:rPr>
              <a:t>Text is tokenized, stripped of non-alphanumeric noise, and matched against a curated dictionary of 250+ technical competencies (e.g., "JS" ➔ "JavaScript").</a:t>
            </a:r>
            <a:endParaRPr lang="en-US" sz="850" dirty="0"/>
          </a:p>
        </p:txBody>
      </p:sp>
      <p:sp>
        <p:nvSpPr>
          <p:cNvPr id="42" name="Shape 40"/>
          <p:cNvSpPr/>
          <p:nvPr/>
        </p:nvSpPr>
        <p:spPr>
          <a:xfrm>
            <a:off x="6492240" y="4416552"/>
            <a:ext cx="4663440" cy="804672"/>
          </a:xfrm>
          <a:prstGeom prst="roundRect">
            <a:avLst>
              <a:gd name="adj" fmla="val 5682"/>
            </a:avLst>
          </a:prstGeom>
          <a:solidFill>
            <a:srgbClr val="FFFFFF"/>
          </a:solidFill>
          <a:ln w="6350">
            <a:solidFill>
              <a:srgbClr val="E2E8F0"/>
            </a:solidFill>
            <a:prstDash val="solid"/>
          </a:ln>
        </p:spPr>
      </p:sp>
      <p:sp>
        <p:nvSpPr>
          <p:cNvPr id="43" name="Text 41"/>
          <p:cNvSpPr/>
          <p:nvPr/>
        </p:nvSpPr>
        <p:spPr>
          <a:xfrm>
            <a:off x="6629400" y="4489704"/>
            <a:ext cx="4389120" cy="22860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Automated Status State Machine</a:t>
            </a:r>
            <a:endParaRPr lang="en-US" sz="1000" dirty="0"/>
          </a:p>
        </p:txBody>
      </p:sp>
      <p:sp>
        <p:nvSpPr>
          <p:cNvPr id="44" name="Text 42"/>
          <p:cNvSpPr/>
          <p:nvPr/>
        </p:nvSpPr>
        <p:spPr>
          <a:xfrm>
            <a:off x="6629400" y="4709160"/>
            <a:ext cx="4389120" cy="457200"/>
          </a:xfrm>
          <a:prstGeom prst="rect">
            <a:avLst/>
          </a:prstGeom>
          <a:noFill/>
          <a:ln/>
        </p:spPr>
        <p:txBody>
          <a:bodyPr wrap="square" rtlCol="0" anchor="t"/>
          <a:lstStyle/>
          <a:p>
            <a:pPr indent="0" marL="0">
              <a:lnSpc>
                <a:spcPct val="125000"/>
              </a:lnSpc>
              <a:buNone/>
            </a:pPr>
            <a:r>
              <a:rPr lang="en-US" sz="850" dirty="0">
                <a:solidFill>
                  <a:srgbClr val="334155"/>
                </a:solidFill>
                <a:latin typeface="Calibri" pitchFamily="34" charset="0"/>
                <a:ea typeface="Calibri" pitchFamily="34" charset="-122"/>
                <a:cs typeface="Calibri" pitchFamily="34" charset="-120"/>
              </a:rPr>
              <a:t>Application state transitions are strictly governed: Applied ➔ Screened ➔ Shortlisted ➔ Interview Scheduled ➔ Selected / Rejected.</a:t>
            </a:r>
            <a:endParaRPr lang="en-US" sz="850" dirty="0"/>
          </a:p>
        </p:txBody>
      </p:sp>
      <p:sp>
        <p:nvSpPr>
          <p:cNvPr id="45" name="Shape 43"/>
          <p:cNvSpPr/>
          <p:nvPr/>
        </p:nvSpPr>
        <p:spPr>
          <a:xfrm>
            <a:off x="6492240" y="5294376"/>
            <a:ext cx="4663440" cy="804672"/>
          </a:xfrm>
          <a:prstGeom prst="roundRect">
            <a:avLst>
              <a:gd name="adj" fmla="val 5682"/>
            </a:avLst>
          </a:prstGeom>
          <a:solidFill>
            <a:srgbClr val="EEF2FF"/>
          </a:solidFill>
          <a:ln w="6350">
            <a:solidFill>
              <a:srgbClr val="E2E8F0"/>
            </a:solidFill>
            <a:prstDash val="solid"/>
          </a:ln>
        </p:spPr>
      </p:sp>
      <p:sp>
        <p:nvSpPr>
          <p:cNvPr id="46" name="Text 44"/>
          <p:cNvSpPr/>
          <p:nvPr/>
        </p:nvSpPr>
        <p:spPr>
          <a:xfrm>
            <a:off x="6629400" y="5367528"/>
            <a:ext cx="4389120" cy="22860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Event-Driven SMTP Dispatch</a:t>
            </a:r>
            <a:endParaRPr lang="en-US" sz="1000" dirty="0"/>
          </a:p>
        </p:txBody>
      </p:sp>
      <p:sp>
        <p:nvSpPr>
          <p:cNvPr id="47" name="Text 45"/>
          <p:cNvSpPr/>
          <p:nvPr/>
        </p:nvSpPr>
        <p:spPr>
          <a:xfrm>
            <a:off x="6629400" y="5586984"/>
            <a:ext cx="4389120" cy="457200"/>
          </a:xfrm>
          <a:prstGeom prst="rect">
            <a:avLst/>
          </a:prstGeom>
          <a:noFill/>
          <a:ln/>
        </p:spPr>
        <p:txBody>
          <a:bodyPr wrap="square" rtlCol="0" anchor="t"/>
          <a:lstStyle/>
          <a:p>
            <a:pPr indent="0" marL="0">
              <a:lnSpc>
                <a:spcPct val="125000"/>
              </a:lnSpc>
              <a:buNone/>
            </a:pPr>
            <a:r>
              <a:rPr lang="en-US" sz="850" dirty="0">
                <a:solidFill>
                  <a:srgbClr val="334155"/>
                </a:solidFill>
                <a:latin typeface="Calibri" pitchFamily="34" charset="0"/>
                <a:ea typeface="Calibri" pitchFamily="34" charset="-122"/>
                <a:cs typeface="Calibri" pitchFamily="34" charset="-120"/>
              </a:rPr>
              <a:t>Status modifications trigger NodeMailer asynchronous worker, rendering customized HTML template with candidate name, drive details, and recruiter notes.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7C3AED"/>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EDE9FE"/>
          </a:solidFill>
          <a:ln w="10160">
            <a:solidFill>
              <a:srgbClr val="7C3AED"/>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7C3AED"/>
                </a:solidFill>
                <a:latin typeface="Calibri" pitchFamily="34" charset="0"/>
                <a:ea typeface="Calibri" pitchFamily="34" charset="-122"/>
                <a:cs typeface="Calibri" pitchFamily="34" charset="-120"/>
              </a:rPr>
              <a:t>METHODOLOGY</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Operational Lifecycle Flowcharts: Student &amp; Recruiter Journeys</a:t>
            </a:r>
            <a:endParaRPr lang="en-US" sz="2300" dirty="0"/>
          </a:p>
        </p:txBody>
      </p:sp>
      <p:sp>
        <p:nvSpPr>
          <p:cNvPr id="8" name="Shape 6"/>
          <p:cNvSpPr/>
          <p:nvPr/>
        </p:nvSpPr>
        <p:spPr>
          <a:xfrm>
            <a:off x="731520" y="1097280"/>
            <a:ext cx="2194560" cy="32004"/>
          </a:xfrm>
          <a:prstGeom prst="rect">
            <a:avLst/>
          </a:prstGeom>
          <a:solidFill>
            <a:srgbClr val="7C3AED"/>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7C3AED"/>
                </a:solidFill>
                <a:latin typeface="Calibri" pitchFamily="34" charset="0"/>
                <a:ea typeface="Calibri" pitchFamily="34" charset="-122"/>
                <a:cs typeface="Calibri" pitchFamily="34" charset="-120"/>
              </a:rPr>
              <a:t>09</a:t>
            </a:r>
            <a:endParaRPr lang="en-US" sz="950" dirty="0"/>
          </a:p>
        </p:txBody>
      </p:sp>
      <p:sp>
        <p:nvSpPr>
          <p:cNvPr id="11" name="Shape 9"/>
          <p:cNvSpPr/>
          <p:nvPr/>
        </p:nvSpPr>
        <p:spPr>
          <a:xfrm>
            <a:off x="731520" y="1280160"/>
            <a:ext cx="5029200" cy="274320"/>
          </a:xfrm>
          <a:prstGeom prst="roundRect">
            <a:avLst>
              <a:gd name="adj" fmla="val 13333"/>
            </a:avLst>
          </a:prstGeom>
          <a:solidFill>
            <a:srgbClr val="DBEAFE"/>
          </a:solidFill>
          <a:ln w="10160">
            <a:solidFill>
              <a:srgbClr val="1D4ED8"/>
            </a:solidFill>
            <a:prstDash val="solid"/>
          </a:ln>
        </p:spPr>
      </p:sp>
      <p:sp>
        <p:nvSpPr>
          <p:cNvPr id="12" name="Text 10"/>
          <p:cNvSpPr/>
          <p:nvPr/>
        </p:nvSpPr>
        <p:spPr>
          <a:xfrm>
            <a:off x="731520" y="1280160"/>
            <a:ext cx="5029200" cy="274320"/>
          </a:xfrm>
          <a:prstGeom prst="rect">
            <a:avLst/>
          </a:prstGeom>
          <a:noFill/>
          <a:ln/>
        </p:spPr>
        <p:txBody>
          <a:bodyPr wrap="square" rtlCol="0" anchor="ctr"/>
          <a:lstStyle/>
          <a:p>
            <a:pPr algn="ctr" indent="0" marL="0">
              <a:buNone/>
            </a:pPr>
            <a:r>
              <a:rPr lang="en-US" sz="850" b="1" spc="150" kern="0" dirty="0">
                <a:solidFill>
                  <a:srgbClr val="1D4ED8"/>
                </a:solidFill>
                <a:latin typeface="Calibri" pitchFamily="34" charset="0"/>
                <a:ea typeface="Calibri" pitchFamily="34" charset="-122"/>
                <a:cs typeface="Calibri" pitchFamily="34" charset="-120"/>
              </a:rPr>
              <a:t>ALTS STUDENT APPLICATION LIFECYCLE</a:t>
            </a:r>
            <a:endParaRPr lang="en-US" sz="850" dirty="0"/>
          </a:p>
        </p:txBody>
      </p:sp>
      <p:sp>
        <p:nvSpPr>
          <p:cNvPr id="13" name="Shape 11"/>
          <p:cNvSpPr/>
          <p:nvPr/>
        </p:nvSpPr>
        <p:spPr>
          <a:xfrm>
            <a:off x="1645920" y="1645920"/>
            <a:ext cx="3291840" cy="365760"/>
          </a:xfrm>
          <a:prstGeom prst="flowChartTerminator">
            <a:avLst/>
          </a:prstGeom>
          <a:solidFill>
            <a:srgbClr val="FFFFFF"/>
          </a:solidFill>
          <a:ln w="12700">
            <a:solidFill>
              <a:srgbClr val="1D4ED8"/>
            </a:solidFill>
            <a:prstDash val="solid"/>
          </a:ln>
        </p:spPr>
      </p:sp>
      <p:sp>
        <p:nvSpPr>
          <p:cNvPr id="14" name="Text 12"/>
          <p:cNvSpPr/>
          <p:nvPr/>
        </p:nvSpPr>
        <p:spPr>
          <a:xfrm>
            <a:off x="1691640" y="1664208"/>
            <a:ext cx="3200400"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START: ALTS Student Portal Login</a:t>
            </a:r>
            <a:endParaRPr lang="en-US" sz="900" dirty="0"/>
          </a:p>
        </p:txBody>
      </p:sp>
      <p:sp>
        <p:nvSpPr>
          <p:cNvPr id="15" name="Shape 13"/>
          <p:cNvSpPr/>
          <p:nvPr/>
        </p:nvSpPr>
        <p:spPr>
          <a:xfrm>
            <a:off x="3291840" y="2011680"/>
            <a:ext cx="0" cy="274320"/>
          </a:xfrm>
          <a:prstGeom prst="line">
            <a:avLst/>
          </a:prstGeom>
          <a:noFill/>
          <a:ln w="16510">
            <a:solidFill>
              <a:srgbClr val="1D4ED8"/>
            </a:solidFill>
            <a:prstDash val="solid"/>
            <a:tailEnd type="triangle"/>
          </a:ln>
        </p:spPr>
      </p:sp>
      <p:sp>
        <p:nvSpPr>
          <p:cNvPr id="16" name="Shape 14"/>
          <p:cNvSpPr/>
          <p:nvPr/>
        </p:nvSpPr>
        <p:spPr>
          <a:xfrm>
            <a:off x="1645920" y="2286000"/>
            <a:ext cx="3291840" cy="411480"/>
          </a:xfrm>
          <a:prstGeom prst="roundRect">
            <a:avLst>
              <a:gd name="adj" fmla="val 13333"/>
            </a:avLst>
          </a:prstGeom>
          <a:solidFill>
            <a:srgbClr val="EFF6FF"/>
          </a:solidFill>
          <a:ln w="12700">
            <a:solidFill>
              <a:srgbClr val="1D4ED8"/>
            </a:solidFill>
            <a:prstDash val="solid"/>
          </a:ln>
        </p:spPr>
      </p:sp>
      <p:sp>
        <p:nvSpPr>
          <p:cNvPr id="17" name="Text 15"/>
          <p:cNvSpPr/>
          <p:nvPr/>
        </p:nvSpPr>
        <p:spPr>
          <a:xfrm>
            <a:off x="1700784" y="2322576"/>
            <a:ext cx="3182112" cy="338328"/>
          </a:xfrm>
          <a:prstGeom prst="rect">
            <a:avLst/>
          </a:prstGeom>
          <a:noFill/>
          <a:ln/>
        </p:spPr>
        <p:txBody>
          <a:bodyPr wrap="square" rtlCol="0" anchor="ctr"/>
          <a:lstStyle/>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Complete Profile &amp; Upload Resume</a:t>
            </a:r>
            <a:endParaRPr lang="en-US" sz="920" dirty="0"/>
          </a:p>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(PDF / DOCX File)</a:t>
            </a:r>
            <a:endParaRPr lang="en-US" sz="920" dirty="0"/>
          </a:p>
        </p:txBody>
      </p:sp>
      <p:sp>
        <p:nvSpPr>
          <p:cNvPr id="18" name="Shape 16"/>
          <p:cNvSpPr/>
          <p:nvPr/>
        </p:nvSpPr>
        <p:spPr>
          <a:xfrm>
            <a:off x="3291840" y="2697480"/>
            <a:ext cx="0" cy="274320"/>
          </a:xfrm>
          <a:prstGeom prst="line">
            <a:avLst/>
          </a:prstGeom>
          <a:noFill/>
          <a:ln w="16510">
            <a:solidFill>
              <a:srgbClr val="1D4ED8"/>
            </a:solidFill>
            <a:prstDash val="solid"/>
            <a:tailEnd type="triangle"/>
          </a:ln>
        </p:spPr>
      </p:sp>
      <p:sp>
        <p:nvSpPr>
          <p:cNvPr id="19" name="Shape 17"/>
          <p:cNvSpPr/>
          <p:nvPr/>
        </p:nvSpPr>
        <p:spPr>
          <a:xfrm>
            <a:off x="2103120" y="2971800"/>
            <a:ext cx="2377440" cy="640080"/>
          </a:xfrm>
          <a:prstGeom prst="flowChartDecision">
            <a:avLst/>
          </a:prstGeom>
          <a:solidFill>
            <a:srgbClr val="0F172A"/>
          </a:solidFill>
          <a:ln w="15240">
            <a:solidFill>
              <a:srgbClr val="D97706"/>
            </a:solidFill>
            <a:prstDash val="solid"/>
          </a:ln>
        </p:spPr>
      </p:sp>
      <p:sp>
        <p:nvSpPr>
          <p:cNvPr id="20" name="Text 18"/>
          <p:cNvSpPr/>
          <p:nvPr/>
        </p:nvSpPr>
        <p:spPr>
          <a:xfrm>
            <a:off x="2267712" y="3063240"/>
            <a:ext cx="2048256" cy="457200"/>
          </a:xfrm>
          <a:prstGeom prst="rect">
            <a:avLst/>
          </a:prstGeom>
          <a:noFill/>
          <a:ln/>
        </p:spPr>
        <p:txBody>
          <a:bodyPr wrap="square" rtlCol="0" anchor="ctr"/>
          <a:lstStyle/>
          <a:p>
            <a:pPr algn="ctr" indent="0" marL="0">
              <a:lnSpc>
                <a:spcPct val="115000"/>
              </a:lnSpc>
              <a:buNone/>
            </a:pPr>
            <a:r>
              <a:rPr lang="en-US" sz="850" b="1" dirty="0">
                <a:solidFill>
                  <a:srgbClr val="0F172A"/>
                </a:solidFill>
                <a:latin typeface="Calibri" pitchFamily="34" charset="0"/>
                <a:ea typeface="Calibri" pitchFamily="34" charset="-122"/>
                <a:cs typeface="Calibri" pitchFamily="34" charset="-120"/>
              </a:rPr>
              <a:t>ATS Score</a:t>
            </a:r>
            <a:endParaRPr lang="en-US" sz="850" dirty="0"/>
          </a:p>
          <a:p>
            <a:pPr algn="ctr" indent="0" marL="0">
              <a:lnSpc>
                <a:spcPct val="115000"/>
              </a:lnSpc>
              <a:buNone/>
            </a:pPr>
            <a:r>
              <a:rPr lang="en-US" sz="850" b="1" dirty="0">
                <a:solidFill>
                  <a:srgbClr val="0F172A"/>
                </a:solidFill>
                <a:latin typeface="Calibri" pitchFamily="34" charset="0"/>
                <a:ea typeface="Calibri" pitchFamily="34" charset="-122"/>
                <a:cs typeface="Calibri" pitchFamily="34" charset="-120"/>
              </a:rPr>
              <a:t>≥ 70%?</a:t>
            </a:r>
            <a:endParaRPr lang="en-US" sz="850" dirty="0"/>
          </a:p>
        </p:txBody>
      </p:sp>
      <p:sp>
        <p:nvSpPr>
          <p:cNvPr id="21" name="Shape 19"/>
          <p:cNvSpPr/>
          <p:nvPr/>
        </p:nvSpPr>
        <p:spPr>
          <a:xfrm>
            <a:off x="4480560" y="3291840"/>
            <a:ext cx="365760" cy="0"/>
          </a:xfrm>
          <a:prstGeom prst="line">
            <a:avLst/>
          </a:prstGeom>
          <a:noFill/>
          <a:ln w="16510">
            <a:solidFill>
              <a:srgbClr val="E11D48"/>
            </a:solidFill>
            <a:prstDash val="solid"/>
            <a:tailEnd type="triangle"/>
          </a:ln>
        </p:spPr>
      </p:sp>
      <p:sp>
        <p:nvSpPr>
          <p:cNvPr id="22" name="Shape 20"/>
          <p:cNvSpPr/>
          <p:nvPr/>
        </p:nvSpPr>
        <p:spPr>
          <a:xfrm>
            <a:off x="4251960" y="3163824"/>
            <a:ext cx="822960" cy="256032"/>
          </a:xfrm>
          <a:prstGeom prst="roundRect">
            <a:avLst>
              <a:gd name="adj" fmla="val 14286"/>
            </a:avLst>
          </a:prstGeom>
          <a:solidFill>
            <a:srgbClr val="FFFFFF"/>
          </a:solidFill>
          <a:ln w="6350">
            <a:solidFill>
              <a:srgbClr val="E2E8F0"/>
            </a:solidFill>
            <a:prstDash val="solid"/>
          </a:ln>
        </p:spPr>
      </p:sp>
      <p:sp>
        <p:nvSpPr>
          <p:cNvPr id="23" name="Text 21"/>
          <p:cNvSpPr/>
          <p:nvPr/>
        </p:nvSpPr>
        <p:spPr>
          <a:xfrm>
            <a:off x="4114800" y="3154680"/>
            <a:ext cx="1097280" cy="274320"/>
          </a:xfrm>
          <a:prstGeom prst="rect">
            <a:avLst/>
          </a:prstGeom>
          <a:noFill/>
          <a:ln/>
        </p:spPr>
        <p:txBody>
          <a:bodyPr wrap="square" rtlCol="0" anchor="ctr"/>
          <a:lstStyle/>
          <a:p>
            <a:pPr algn="ctr" indent="0" marL="0">
              <a:buNone/>
            </a:pPr>
            <a:r>
              <a:rPr lang="en-US" sz="750" b="1" dirty="0">
                <a:solidFill>
                  <a:srgbClr val="E11D48"/>
                </a:solidFill>
                <a:latin typeface="Calibri" pitchFamily="34" charset="0"/>
                <a:ea typeface="Calibri" pitchFamily="34" charset="-122"/>
                <a:cs typeface="Calibri" pitchFamily="34" charset="-120"/>
              </a:rPr>
              <a:t>No</a:t>
            </a:r>
            <a:endParaRPr lang="en-US" sz="750" dirty="0"/>
          </a:p>
        </p:txBody>
      </p:sp>
      <p:sp>
        <p:nvSpPr>
          <p:cNvPr id="24" name="Shape 22"/>
          <p:cNvSpPr/>
          <p:nvPr/>
        </p:nvSpPr>
        <p:spPr>
          <a:xfrm>
            <a:off x="4846320" y="3063240"/>
            <a:ext cx="1005840" cy="457200"/>
          </a:xfrm>
          <a:prstGeom prst="roundRect">
            <a:avLst>
              <a:gd name="adj" fmla="val 12000"/>
            </a:avLst>
          </a:prstGeom>
          <a:solidFill>
            <a:srgbClr val="FFE4E6"/>
          </a:solidFill>
          <a:ln w="12700">
            <a:solidFill>
              <a:srgbClr val="E11D48"/>
            </a:solidFill>
            <a:prstDash val="solid"/>
          </a:ln>
        </p:spPr>
      </p:sp>
      <p:sp>
        <p:nvSpPr>
          <p:cNvPr id="25" name="Text 23"/>
          <p:cNvSpPr/>
          <p:nvPr/>
        </p:nvSpPr>
        <p:spPr>
          <a:xfrm>
            <a:off x="4901184" y="3099816"/>
            <a:ext cx="896112" cy="384048"/>
          </a:xfrm>
          <a:prstGeom prst="rect">
            <a:avLst/>
          </a:prstGeom>
          <a:noFill/>
          <a:ln/>
        </p:spPr>
        <p:txBody>
          <a:bodyPr wrap="square" rtlCol="0" anchor="ctr"/>
          <a:lstStyle/>
          <a:p>
            <a:pPr algn="ctr" indent="0" marL="0">
              <a:lnSpc>
                <a:spcPct val="125000"/>
              </a:lnSpc>
              <a:buNone/>
            </a:pPr>
            <a:r>
              <a:rPr lang="en-US" sz="750" b="1" dirty="0">
                <a:solidFill>
                  <a:srgbClr val="E11D48"/>
                </a:solidFill>
                <a:latin typeface="Calibri" pitchFamily="34" charset="0"/>
                <a:ea typeface="Calibri" pitchFamily="34" charset="-122"/>
                <a:cs typeface="Calibri" pitchFamily="34" charset="-120"/>
              </a:rPr>
              <a:t>Refine</a:t>
            </a:r>
            <a:endParaRPr lang="en-US" sz="750" dirty="0"/>
          </a:p>
          <a:p>
            <a:pPr algn="ctr" indent="0" marL="0">
              <a:lnSpc>
                <a:spcPct val="125000"/>
              </a:lnSpc>
              <a:buNone/>
            </a:pPr>
            <a:r>
              <a:rPr lang="en-US" sz="750" b="1" dirty="0">
                <a:solidFill>
                  <a:srgbClr val="E11D48"/>
                </a:solidFill>
                <a:latin typeface="Calibri" pitchFamily="34" charset="0"/>
                <a:ea typeface="Calibri" pitchFamily="34" charset="-122"/>
                <a:cs typeface="Calibri" pitchFamily="34" charset="-120"/>
              </a:rPr>
              <a:t>Skills</a:t>
            </a:r>
            <a:endParaRPr lang="en-US" sz="750" dirty="0"/>
          </a:p>
        </p:txBody>
      </p:sp>
      <p:sp>
        <p:nvSpPr>
          <p:cNvPr id="26" name="Shape 24"/>
          <p:cNvSpPr/>
          <p:nvPr/>
        </p:nvSpPr>
        <p:spPr>
          <a:xfrm>
            <a:off x="5349240" y="3063240"/>
            <a:ext cx="0" cy="-576072"/>
          </a:xfrm>
          <a:prstGeom prst="line">
            <a:avLst/>
          </a:prstGeom>
          <a:noFill/>
          <a:ln w="16510">
            <a:solidFill>
              <a:srgbClr val="E11D48"/>
            </a:solidFill>
            <a:prstDash val="solid"/>
            <a:tailEnd type="triangle"/>
          </a:ln>
        </p:spPr>
      </p:sp>
      <p:sp>
        <p:nvSpPr>
          <p:cNvPr id="27" name="Shape 25"/>
          <p:cNvSpPr/>
          <p:nvPr/>
        </p:nvSpPr>
        <p:spPr>
          <a:xfrm>
            <a:off x="5349240" y="2487168"/>
            <a:ext cx="-411480" cy="0"/>
          </a:xfrm>
          <a:prstGeom prst="line">
            <a:avLst/>
          </a:prstGeom>
          <a:noFill/>
          <a:ln w="16510">
            <a:solidFill>
              <a:srgbClr val="E11D48"/>
            </a:solidFill>
            <a:prstDash val="solid"/>
            <a:tailEnd type="triangle"/>
          </a:ln>
        </p:spPr>
      </p:sp>
      <p:sp>
        <p:nvSpPr>
          <p:cNvPr id="28" name="Shape 26"/>
          <p:cNvSpPr/>
          <p:nvPr/>
        </p:nvSpPr>
        <p:spPr>
          <a:xfrm>
            <a:off x="3291840" y="3611880"/>
            <a:ext cx="0" cy="274320"/>
          </a:xfrm>
          <a:prstGeom prst="line">
            <a:avLst/>
          </a:prstGeom>
          <a:noFill/>
          <a:ln w="16510">
            <a:solidFill>
              <a:srgbClr val="059669"/>
            </a:solidFill>
            <a:prstDash val="solid"/>
            <a:tailEnd type="triangle"/>
          </a:ln>
        </p:spPr>
      </p:sp>
      <p:sp>
        <p:nvSpPr>
          <p:cNvPr id="29" name="Shape 27"/>
          <p:cNvSpPr/>
          <p:nvPr/>
        </p:nvSpPr>
        <p:spPr>
          <a:xfrm>
            <a:off x="2880360" y="3621024"/>
            <a:ext cx="822960" cy="256032"/>
          </a:xfrm>
          <a:prstGeom prst="roundRect">
            <a:avLst>
              <a:gd name="adj" fmla="val 14286"/>
            </a:avLst>
          </a:prstGeom>
          <a:solidFill>
            <a:srgbClr val="FFFFFF"/>
          </a:solidFill>
          <a:ln w="6350">
            <a:solidFill>
              <a:srgbClr val="E2E8F0"/>
            </a:solidFill>
            <a:prstDash val="solid"/>
          </a:ln>
        </p:spPr>
      </p:sp>
      <p:sp>
        <p:nvSpPr>
          <p:cNvPr id="30" name="Text 28"/>
          <p:cNvSpPr/>
          <p:nvPr/>
        </p:nvSpPr>
        <p:spPr>
          <a:xfrm>
            <a:off x="2743200" y="3611880"/>
            <a:ext cx="1097280" cy="274320"/>
          </a:xfrm>
          <a:prstGeom prst="rect">
            <a:avLst/>
          </a:prstGeom>
          <a:noFill/>
          <a:ln/>
        </p:spPr>
        <p:txBody>
          <a:bodyPr wrap="square" rtlCol="0" anchor="ctr"/>
          <a:lstStyle/>
          <a:p>
            <a:pPr algn="ctr" indent="0" marL="0">
              <a:buNone/>
            </a:pPr>
            <a:r>
              <a:rPr lang="en-US" sz="750" b="1" dirty="0">
                <a:solidFill>
                  <a:srgbClr val="059669"/>
                </a:solidFill>
                <a:latin typeface="Calibri" pitchFamily="34" charset="0"/>
                <a:ea typeface="Calibri" pitchFamily="34" charset="-122"/>
                <a:cs typeface="Calibri" pitchFamily="34" charset="-120"/>
              </a:rPr>
              <a:t>Yes</a:t>
            </a:r>
            <a:endParaRPr lang="en-US" sz="750" dirty="0"/>
          </a:p>
        </p:txBody>
      </p:sp>
      <p:sp>
        <p:nvSpPr>
          <p:cNvPr id="31" name="Shape 29"/>
          <p:cNvSpPr/>
          <p:nvPr/>
        </p:nvSpPr>
        <p:spPr>
          <a:xfrm>
            <a:off x="1645920" y="3886200"/>
            <a:ext cx="3291840" cy="411480"/>
          </a:xfrm>
          <a:prstGeom prst="roundRect">
            <a:avLst>
              <a:gd name="adj" fmla="val 13333"/>
            </a:avLst>
          </a:prstGeom>
          <a:solidFill>
            <a:srgbClr val="EFF6FF"/>
          </a:solidFill>
          <a:ln w="12700">
            <a:solidFill>
              <a:srgbClr val="1D4ED8"/>
            </a:solidFill>
            <a:prstDash val="solid"/>
          </a:ln>
        </p:spPr>
      </p:sp>
      <p:sp>
        <p:nvSpPr>
          <p:cNvPr id="32" name="Text 30"/>
          <p:cNvSpPr/>
          <p:nvPr/>
        </p:nvSpPr>
        <p:spPr>
          <a:xfrm>
            <a:off x="1700784" y="3922776"/>
            <a:ext cx="3182112" cy="338328"/>
          </a:xfrm>
          <a:prstGeom prst="rect">
            <a:avLst/>
          </a:prstGeom>
          <a:noFill/>
          <a:ln/>
        </p:spPr>
        <p:txBody>
          <a:bodyPr wrap="square" rtlCol="0" anchor="ctr"/>
          <a:lstStyle/>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Browse Open Placement Drives</a:t>
            </a:r>
            <a:endParaRPr lang="en-US" sz="920" dirty="0"/>
          </a:p>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Filter by Role, CTC, &amp; Tech Stack</a:t>
            </a:r>
            <a:endParaRPr lang="en-US" sz="920" dirty="0"/>
          </a:p>
        </p:txBody>
      </p:sp>
      <p:sp>
        <p:nvSpPr>
          <p:cNvPr id="33" name="Shape 31"/>
          <p:cNvSpPr/>
          <p:nvPr/>
        </p:nvSpPr>
        <p:spPr>
          <a:xfrm>
            <a:off x="3291840" y="4297680"/>
            <a:ext cx="0" cy="274320"/>
          </a:xfrm>
          <a:prstGeom prst="line">
            <a:avLst/>
          </a:prstGeom>
          <a:noFill/>
          <a:ln w="16510">
            <a:solidFill>
              <a:srgbClr val="1D4ED8"/>
            </a:solidFill>
            <a:prstDash val="solid"/>
            <a:tailEnd type="triangle"/>
          </a:ln>
        </p:spPr>
      </p:sp>
      <p:sp>
        <p:nvSpPr>
          <p:cNvPr id="34" name="Shape 32"/>
          <p:cNvSpPr/>
          <p:nvPr/>
        </p:nvSpPr>
        <p:spPr>
          <a:xfrm>
            <a:off x="1645920" y="4572000"/>
            <a:ext cx="3291840" cy="411480"/>
          </a:xfrm>
          <a:prstGeom prst="roundRect">
            <a:avLst>
              <a:gd name="adj" fmla="val 13333"/>
            </a:avLst>
          </a:prstGeom>
          <a:solidFill>
            <a:srgbClr val="EFF6FF"/>
          </a:solidFill>
          <a:ln w="12700">
            <a:solidFill>
              <a:srgbClr val="1D4ED8"/>
            </a:solidFill>
            <a:prstDash val="solid"/>
          </a:ln>
        </p:spPr>
      </p:sp>
      <p:sp>
        <p:nvSpPr>
          <p:cNvPr id="35" name="Text 33"/>
          <p:cNvSpPr/>
          <p:nvPr/>
        </p:nvSpPr>
        <p:spPr>
          <a:xfrm>
            <a:off x="1700784" y="4608576"/>
            <a:ext cx="3182112" cy="338328"/>
          </a:xfrm>
          <a:prstGeom prst="rect">
            <a:avLst/>
          </a:prstGeom>
          <a:noFill/>
          <a:ln/>
        </p:spPr>
        <p:txBody>
          <a:bodyPr wrap="square" rtlCol="0" anchor="ctr"/>
          <a:lstStyle/>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Submit One-Click Job Application</a:t>
            </a:r>
            <a:endParaRPr lang="en-US" sz="920" dirty="0"/>
          </a:p>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Attach Current ATS Resume Snapshot</a:t>
            </a:r>
            <a:endParaRPr lang="en-US" sz="920" dirty="0"/>
          </a:p>
        </p:txBody>
      </p:sp>
      <p:sp>
        <p:nvSpPr>
          <p:cNvPr id="36" name="Shape 34"/>
          <p:cNvSpPr/>
          <p:nvPr/>
        </p:nvSpPr>
        <p:spPr>
          <a:xfrm>
            <a:off x="3291840" y="4983480"/>
            <a:ext cx="0" cy="274320"/>
          </a:xfrm>
          <a:prstGeom prst="line">
            <a:avLst/>
          </a:prstGeom>
          <a:noFill/>
          <a:ln w="16510">
            <a:solidFill>
              <a:srgbClr val="1D4ED8"/>
            </a:solidFill>
            <a:prstDash val="solid"/>
            <a:tailEnd type="triangle"/>
          </a:ln>
        </p:spPr>
      </p:sp>
      <p:sp>
        <p:nvSpPr>
          <p:cNvPr id="37" name="Shape 35"/>
          <p:cNvSpPr/>
          <p:nvPr/>
        </p:nvSpPr>
        <p:spPr>
          <a:xfrm>
            <a:off x="2103120" y="5257800"/>
            <a:ext cx="2377440" cy="594360"/>
          </a:xfrm>
          <a:prstGeom prst="flowChartDecision">
            <a:avLst/>
          </a:prstGeom>
          <a:solidFill>
            <a:srgbClr val="0F172A"/>
          </a:solidFill>
          <a:ln w="15240">
            <a:solidFill>
              <a:srgbClr val="D97706"/>
            </a:solidFill>
            <a:prstDash val="solid"/>
          </a:ln>
        </p:spPr>
      </p:sp>
      <p:sp>
        <p:nvSpPr>
          <p:cNvPr id="38" name="Text 36"/>
          <p:cNvSpPr/>
          <p:nvPr/>
        </p:nvSpPr>
        <p:spPr>
          <a:xfrm>
            <a:off x="2267712" y="5349240"/>
            <a:ext cx="2048256" cy="411480"/>
          </a:xfrm>
          <a:prstGeom prst="rect">
            <a:avLst/>
          </a:prstGeom>
          <a:noFill/>
          <a:ln/>
        </p:spPr>
        <p:txBody>
          <a:bodyPr wrap="square" rtlCol="0" anchor="ctr"/>
          <a:lstStyle/>
          <a:p>
            <a:pPr algn="ctr" indent="0" marL="0">
              <a:lnSpc>
                <a:spcPct val="115000"/>
              </a:lnSpc>
              <a:buNone/>
            </a:pPr>
            <a:r>
              <a:rPr lang="en-US" sz="850" b="1" dirty="0">
                <a:solidFill>
                  <a:srgbClr val="0F172A"/>
                </a:solidFill>
                <a:latin typeface="Calibri" pitchFamily="34" charset="0"/>
                <a:ea typeface="Calibri" pitchFamily="34" charset="-122"/>
                <a:cs typeface="Calibri" pitchFamily="34" charset="-120"/>
              </a:rPr>
              <a:t>Recruiter</a:t>
            </a:r>
            <a:endParaRPr lang="en-US" sz="850" dirty="0"/>
          </a:p>
          <a:p>
            <a:pPr algn="ctr" indent="0" marL="0">
              <a:lnSpc>
                <a:spcPct val="115000"/>
              </a:lnSpc>
              <a:buNone/>
            </a:pPr>
            <a:r>
              <a:rPr lang="en-US" sz="850" b="1" dirty="0">
                <a:solidFill>
                  <a:srgbClr val="0F172A"/>
                </a:solidFill>
                <a:latin typeface="Calibri" pitchFamily="34" charset="0"/>
                <a:ea typeface="Calibri" pitchFamily="34" charset="-122"/>
                <a:cs typeface="Calibri" pitchFamily="34" charset="-120"/>
              </a:rPr>
              <a:t>Decision?</a:t>
            </a:r>
            <a:endParaRPr lang="en-US" sz="850" dirty="0"/>
          </a:p>
        </p:txBody>
      </p:sp>
      <p:sp>
        <p:nvSpPr>
          <p:cNvPr id="39" name="Shape 37"/>
          <p:cNvSpPr/>
          <p:nvPr/>
        </p:nvSpPr>
        <p:spPr>
          <a:xfrm>
            <a:off x="2103120" y="5550408"/>
            <a:ext cx="-1097280" cy="0"/>
          </a:xfrm>
          <a:prstGeom prst="line">
            <a:avLst/>
          </a:prstGeom>
          <a:noFill/>
          <a:ln w="16510">
            <a:solidFill>
              <a:srgbClr val="059669"/>
            </a:solidFill>
            <a:prstDash val="solid"/>
            <a:tailEnd type="triangle"/>
          </a:ln>
        </p:spPr>
      </p:sp>
      <p:sp>
        <p:nvSpPr>
          <p:cNvPr id="40" name="Shape 38"/>
          <p:cNvSpPr/>
          <p:nvPr/>
        </p:nvSpPr>
        <p:spPr>
          <a:xfrm>
            <a:off x="1143000" y="5422392"/>
            <a:ext cx="822960" cy="256032"/>
          </a:xfrm>
          <a:prstGeom prst="roundRect">
            <a:avLst>
              <a:gd name="adj" fmla="val 14286"/>
            </a:avLst>
          </a:prstGeom>
          <a:solidFill>
            <a:srgbClr val="FFFFFF"/>
          </a:solidFill>
          <a:ln w="6350">
            <a:solidFill>
              <a:srgbClr val="E2E8F0"/>
            </a:solidFill>
            <a:prstDash val="solid"/>
          </a:ln>
        </p:spPr>
      </p:sp>
      <p:sp>
        <p:nvSpPr>
          <p:cNvPr id="41" name="Text 39"/>
          <p:cNvSpPr/>
          <p:nvPr/>
        </p:nvSpPr>
        <p:spPr>
          <a:xfrm>
            <a:off x="1005840" y="5413248"/>
            <a:ext cx="1097280" cy="274320"/>
          </a:xfrm>
          <a:prstGeom prst="rect">
            <a:avLst/>
          </a:prstGeom>
          <a:noFill/>
          <a:ln/>
        </p:spPr>
        <p:txBody>
          <a:bodyPr wrap="square" rtlCol="0" anchor="ctr"/>
          <a:lstStyle/>
          <a:p>
            <a:pPr algn="ctr" indent="0" marL="0">
              <a:buNone/>
            </a:pPr>
            <a:r>
              <a:rPr lang="en-US" sz="750" b="1" dirty="0">
                <a:solidFill>
                  <a:srgbClr val="059669"/>
                </a:solidFill>
                <a:latin typeface="Calibri" pitchFamily="34" charset="0"/>
                <a:ea typeface="Calibri" pitchFamily="34" charset="-122"/>
                <a:cs typeface="Calibri" pitchFamily="34" charset="-120"/>
              </a:rPr>
              <a:t>Shortlist</a:t>
            </a:r>
            <a:endParaRPr lang="en-US" sz="750" dirty="0"/>
          </a:p>
        </p:txBody>
      </p:sp>
      <p:sp>
        <p:nvSpPr>
          <p:cNvPr id="42" name="Shape 40"/>
          <p:cNvSpPr/>
          <p:nvPr/>
        </p:nvSpPr>
        <p:spPr>
          <a:xfrm>
            <a:off x="731520" y="5806440"/>
            <a:ext cx="2286000" cy="384048"/>
          </a:xfrm>
          <a:prstGeom prst="flowChartTerminator">
            <a:avLst/>
          </a:prstGeom>
          <a:solidFill>
            <a:srgbClr val="059669"/>
          </a:solidFill>
          <a:ln w="12700">
            <a:solidFill>
              <a:srgbClr val="059669"/>
            </a:solidFill>
            <a:prstDash val="solid"/>
          </a:ln>
        </p:spPr>
      </p:sp>
      <p:sp>
        <p:nvSpPr>
          <p:cNvPr id="43" name="Text 41"/>
          <p:cNvSpPr/>
          <p:nvPr/>
        </p:nvSpPr>
        <p:spPr>
          <a:xfrm>
            <a:off x="777240" y="5824728"/>
            <a:ext cx="2194560" cy="347472"/>
          </a:xfrm>
          <a:prstGeom prst="rect">
            <a:avLst/>
          </a:prstGeom>
          <a:noFill/>
          <a:ln/>
        </p:spPr>
        <p:txBody>
          <a:bodyPr wrap="square" rtlCol="0" anchor="ctr"/>
          <a:lstStyle/>
          <a:p>
            <a:pPr algn="ctr" indent="0" marL="0">
              <a:buNone/>
            </a:pPr>
            <a:r>
              <a:rPr lang="en-US" sz="800" b="1" dirty="0">
                <a:solidFill>
                  <a:srgbClr val="059669"/>
                </a:solidFill>
                <a:latin typeface="Calibri" pitchFamily="34" charset="0"/>
                <a:ea typeface="Calibri" pitchFamily="34" charset="-122"/>
                <a:cs typeface="Calibri" pitchFamily="34" charset="-120"/>
              </a:rPr>
              <a:t>Interview / Offer Email via SMTP</a:t>
            </a:r>
            <a:endParaRPr lang="en-US" sz="800" dirty="0"/>
          </a:p>
        </p:txBody>
      </p:sp>
      <p:sp>
        <p:nvSpPr>
          <p:cNvPr id="44" name="Shape 42"/>
          <p:cNvSpPr/>
          <p:nvPr/>
        </p:nvSpPr>
        <p:spPr>
          <a:xfrm>
            <a:off x="1005840" y="5550408"/>
            <a:ext cx="0" cy="256032"/>
          </a:xfrm>
          <a:prstGeom prst="line">
            <a:avLst/>
          </a:prstGeom>
          <a:noFill/>
          <a:ln w="16510">
            <a:solidFill>
              <a:srgbClr val="059669"/>
            </a:solidFill>
            <a:prstDash val="solid"/>
            <a:tailEnd type="triangle"/>
          </a:ln>
        </p:spPr>
      </p:sp>
      <p:sp>
        <p:nvSpPr>
          <p:cNvPr id="45" name="Shape 43"/>
          <p:cNvSpPr/>
          <p:nvPr/>
        </p:nvSpPr>
        <p:spPr>
          <a:xfrm>
            <a:off x="4480560" y="5550408"/>
            <a:ext cx="822960" cy="0"/>
          </a:xfrm>
          <a:prstGeom prst="line">
            <a:avLst/>
          </a:prstGeom>
          <a:noFill/>
          <a:ln w="16510">
            <a:solidFill>
              <a:srgbClr val="E11D48"/>
            </a:solidFill>
            <a:prstDash val="solid"/>
            <a:tailEnd type="triangle"/>
          </a:ln>
        </p:spPr>
      </p:sp>
      <p:sp>
        <p:nvSpPr>
          <p:cNvPr id="46" name="Shape 44"/>
          <p:cNvSpPr/>
          <p:nvPr/>
        </p:nvSpPr>
        <p:spPr>
          <a:xfrm>
            <a:off x="4480560" y="5422392"/>
            <a:ext cx="822960" cy="256032"/>
          </a:xfrm>
          <a:prstGeom prst="roundRect">
            <a:avLst>
              <a:gd name="adj" fmla="val 14286"/>
            </a:avLst>
          </a:prstGeom>
          <a:solidFill>
            <a:srgbClr val="FFFFFF"/>
          </a:solidFill>
          <a:ln w="6350">
            <a:solidFill>
              <a:srgbClr val="E2E8F0"/>
            </a:solidFill>
            <a:prstDash val="solid"/>
          </a:ln>
        </p:spPr>
      </p:sp>
      <p:sp>
        <p:nvSpPr>
          <p:cNvPr id="47" name="Text 45"/>
          <p:cNvSpPr/>
          <p:nvPr/>
        </p:nvSpPr>
        <p:spPr>
          <a:xfrm>
            <a:off x="4343400" y="5413248"/>
            <a:ext cx="1097280" cy="274320"/>
          </a:xfrm>
          <a:prstGeom prst="rect">
            <a:avLst/>
          </a:prstGeom>
          <a:noFill/>
          <a:ln/>
        </p:spPr>
        <p:txBody>
          <a:bodyPr wrap="square" rtlCol="0" anchor="ctr"/>
          <a:lstStyle/>
          <a:p>
            <a:pPr algn="ctr" indent="0" marL="0">
              <a:buNone/>
            </a:pPr>
            <a:r>
              <a:rPr lang="en-US" sz="750" b="1" dirty="0">
                <a:solidFill>
                  <a:srgbClr val="E11D48"/>
                </a:solidFill>
                <a:latin typeface="Calibri" pitchFamily="34" charset="0"/>
                <a:ea typeface="Calibri" pitchFamily="34" charset="-122"/>
                <a:cs typeface="Calibri" pitchFamily="34" charset="-120"/>
              </a:rPr>
              <a:t>Reject</a:t>
            </a:r>
            <a:endParaRPr lang="en-US" sz="750" dirty="0"/>
          </a:p>
        </p:txBody>
      </p:sp>
      <p:sp>
        <p:nvSpPr>
          <p:cNvPr id="48" name="Shape 46"/>
          <p:cNvSpPr/>
          <p:nvPr/>
        </p:nvSpPr>
        <p:spPr>
          <a:xfrm>
            <a:off x="3474720" y="5806440"/>
            <a:ext cx="2377440" cy="384048"/>
          </a:xfrm>
          <a:prstGeom prst="flowChartTerminator">
            <a:avLst/>
          </a:prstGeom>
          <a:solidFill>
            <a:srgbClr val="E11D48"/>
          </a:solidFill>
          <a:ln w="12700">
            <a:solidFill>
              <a:srgbClr val="E11D48"/>
            </a:solidFill>
            <a:prstDash val="solid"/>
          </a:ln>
        </p:spPr>
      </p:sp>
      <p:sp>
        <p:nvSpPr>
          <p:cNvPr id="49" name="Text 47"/>
          <p:cNvSpPr/>
          <p:nvPr/>
        </p:nvSpPr>
        <p:spPr>
          <a:xfrm>
            <a:off x="3520440" y="5824728"/>
            <a:ext cx="2286000" cy="347472"/>
          </a:xfrm>
          <a:prstGeom prst="rect">
            <a:avLst/>
          </a:prstGeom>
          <a:noFill/>
          <a:ln/>
        </p:spPr>
        <p:txBody>
          <a:bodyPr wrap="square" rtlCol="0" anchor="ctr"/>
          <a:lstStyle/>
          <a:p>
            <a:pPr algn="ctr" indent="0" marL="0">
              <a:buNone/>
            </a:pPr>
            <a:r>
              <a:rPr lang="en-US" sz="800" b="1" dirty="0">
                <a:solidFill>
                  <a:srgbClr val="E11D48"/>
                </a:solidFill>
                <a:latin typeface="Calibri" pitchFamily="34" charset="0"/>
                <a:ea typeface="Calibri" pitchFamily="34" charset="-122"/>
                <a:cs typeface="Calibri" pitchFamily="34" charset="-120"/>
              </a:rPr>
              <a:t>Feedback &amp; Skill Gap Report</a:t>
            </a:r>
            <a:endParaRPr lang="en-US" sz="800" dirty="0"/>
          </a:p>
        </p:txBody>
      </p:sp>
      <p:sp>
        <p:nvSpPr>
          <p:cNvPr id="50" name="Shape 48"/>
          <p:cNvSpPr/>
          <p:nvPr/>
        </p:nvSpPr>
        <p:spPr>
          <a:xfrm>
            <a:off x="5303520" y="5550408"/>
            <a:ext cx="0" cy="256032"/>
          </a:xfrm>
          <a:prstGeom prst="line">
            <a:avLst/>
          </a:prstGeom>
          <a:noFill/>
          <a:ln w="16510">
            <a:solidFill>
              <a:srgbClr val="E11D48"/>
            </a:solidFill>
            <a:prstDash val="solid"/>
            <a:tailEnd type="triangle"/>
          </a:ln>
        </p:spPr>
      </p:sp>
      <p:sp>
        <p:nvSpPr>
          <p:cNvPr id="51" name="Shape 49"/>
          <p:cNvSpPr/>
          <p:nvPr/>
        </p:nvSpPr>
        <p:spPr>
          <a:xfrm>
            <a:off x="6400800" y="1280160"/>
            <a:ext cx="5029200" cy="274320"/>
          </a:xfrm>
          <a:prstGeom prst="roundRect">
            <a:avLst>
              <a:gd name="adj" fmla="val 13333"/>
            </a:avLst>
          </a:prstGeom>
          <a:solidFill>
            <a:srgbClr val="EDE9FE"/>
          </a:solidFill>
          <a:ln w="10160">
            <a:solidFill>
              <a:srgbClr val="7C3AED"/>
            </a:solidFill>
            <a:prstDash val="solid"/>
          </a:ln>
        </p:spPr>
      </p:sp>
      <p:sp>
        <p:nvSpPr>
          <p:cNvPr id="52" name="Text 50"/>
          <p:cNvSpPr/>
          <p:nvPr/>
        </p:nvSpPr>
        <p:spPr>
          <a:xfrm>
            <a:off x="6400800" y="1280160"/>
            <a:ext cx="5029200" cy="274320"/>
          </a:xfrm>
          <a:prstGeom prst="rect">
            <a:avLst/>
          </a:prstGeom>
          <a:noFill/>
          <a:ln/>
        </p:spPr>
        <p:txBody>
          <a:bodyPr wrap="square" rtlCol="0" anchor="ctr"/>
          <a:lstStyle/>
          <a:p>
            <a:pPr algn="ctr" indent="0" marL="0">
              <a:buNone/>
            </a:pPr>
            <a:r>
              <a:rPr lang="en-US" sz="850" b="1" spc="150" kern="0" dirty="0">
                <a:solidFill>
                  <a:srgbClr val="7C3AED"/>
                </a:solidFill>
                <a:latin typeface="Calibri" pitchFamily="34" charset="0"/>
                <a:ea typeface="Calibri" pitchFamily="34" charset="-122"/>
                <a:cs typeface="Calibri" pitchFamily="34" charset="-120"/>
              </a:rPr>
              <a:t>RECRUITER HIRING &amp; SELECTION FLOWCHART</a:t>
            </a:r>
            <a:endParaRPr lang="en-US" sz="850" dirty="0"/>
          </a:p>
        </p:txBody>
      </p:sp>
      <p:sp>
        <p:nvSpPr>
          <p:cNvPr id="53" name="Shape 51"/>
          <p:cNvSpPr/>
          <p:nvPr/>
        </p:nvSpPr>
        <p:spPr>
          <a:xfrm>
            <a:off x="7223760" y="1645920"/>
            <a:ext cx="3291840" cy="365760"/>
          </a:xfrm>
          <a:prstGeom prst="flowChartTerminator">
            <a:avLst/>
          </a:prstGeom>
          <a:solidFill>
            <a:srgbClr val="FFFFFF"/>
          </a:solidFill>
          <a:ln w="12700">
            <a:solidFill>
              <a:srgbClr val="1D4ED8"/>
            </a:solidFill>
            <a:prstDash val="solid"/>
          </a:ln>
        </p:spPr>
      </p:sp>
      <p:sp>
        <p:nvSpPr>
          <p:cNvPr id="54" name="Text 52"/>
          <p:cNvSpPr/>
          <p:nvPr/>
        </p:nvSpPr>
        <p:spPr>
          <a:xfrm>
            <a:off x="7269480" y="1664208"/>
            <a:ext cx="3200400" cy="32918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START: Company Portal Login / Verification</a:t>
            </a:r>
            <a:endParaRPr lang="en-US" sz="900" dirty="0"/>
          </a:p>
        </p:txBody>
      </p:sp>
      <p:sp>
        <p:nvSpPr>
          <p:cNvPr id="55" name="Shape 53"/>
          <p:cNvSpPr/>
          <p:nvPr/>
        </p:nvSpPr>
        <p:spPr>
          <a:xfrm>
            <a:off x="8869680" y="2011680"/>
            <a:ext cx="0" cy="274320"/>
          </a:xfrm>
          <a:prstGeom prst="line">
            <a:avLst/>
          </a:prstGeom>
          <a:noFill/>
          <a:ln w="16510">
            <a:solidFill>
              <a:srgbClr val="7C3AED"/>
            </a:solidFill>
            <a:prstDash val="solid"/>
            <a:tailEnd type="triangle"/>
          </a:ln>
        </p:spPr>
      </p:sp>
      <p:sp>
        <p:nvSpPr>
          <p:cNvPr id="56" name="Shape 54"/>
          <p:cNvSpPr/>
          <p:nvPr/>
        </p:nvSpPr>
        <p:spPr>
          <a:xfrm>
            <a:off x="7223760" y="2286000"/>
            <a:ext cx="3291840" cy="411480"/>
          </a:xfrm>
          <a:prstGeom prst="roundRect">
            <a:avLst>
              <a:gd name="adj" fmla="val 13333"/>
            </a:avLst>
          </a:prstGeom>
          <a:solidFill>
            <a:srgbClr val="F5F3FF"/>
          </a:solidFill>
          <a:ln w="12700">
            <a:solidFill>
              <a:srgbClr val="7C3AED"/>
            </a:solidFill>
            <a:prstDash val="solid"/>
          </a:ln>
        </p:spPr>
      </p:sp>
      <p:sp>
        <p:nvSpPr>
          <p:cNvPr id="57" name="Text 55"/>
          <p:cNvSpPr/>
          <p:nvPr/>
        </p:nvSpPr>
        <p:spPr>
          <a:xfrm>
            <a:off x="7278624" y="2322576"/>
            <a:ext cx="3182112" cy="338328"/>
          </a:xfrm>
          <a:prstGeom prst="rect">
            <a:avLst/>
          </a:prstGeom>
          <a:noFill/>
          <a:ln/>
        </p:spPr>
        <p:txBody>
          <a:bodyPr wrap="square" rtlCol="0" anchor="ctr"/>
          <a:lstStyle/>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Create Job Posting</a:t>
            </a:r>
            <a:endParaRPr lang="en-US" sz="920" dirty="0"/>
          </a:p>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(Required Skills, Min CGPA, CTC, Deadline)</a:t>
            </a:r>
            <a:endParaRPr lang="en-US" sz="920" dirty="0"/>
          </a:p>
        </p:txBody>
      </p:sp>
      <p:sp>
        <p:nvSpPr>
          <p:cNvPr id="58" name="Shape 56"/>
          <p:cNvSpPr/>
          <p:nvPr/>
        </p:nvSpPr>
        <p:spPr>
          <a:xfrm>
            <a:off x="8869680" y="2697480"/>
            <a:ext cx="0" cy="274320"/>
          </a:xfrm>
          <a:prstGeom prst="line">
            <a:avLst/>
          </a:prstGeom>
          <a:noFill/>
          <a:ln w="16510">
            <a:solidFill>
              <a:srgbClr val="7C3AED"/>
            </a:solidFill>
            <a:prstDash val="solid"/>
            <a:tailEnd type="triangle"/>
          </a:ln>
        </p:spPr>
      </p:sp>
      <p:sp>
        <p:nvSpPr>
          <p:cNvPr id="59" name="Shape 57"/>
          <p:cNvSpPr/>
          <p:nvPr/>
        </p:nvSpPr>
        <p:spPr>
          <a:xfrm>
            <a:off x="7223760" y="2971800"/>
            <a:ext cx="3291840" cy="411480"/>
          </a:xfrm>
          <a:prstGeom prst="roundRect">
            <a:avLst>
              <a:gd name="adj" fmla="val 13333"/>
            </a:avLst>
          </a:prstGeom>
          <a:solidFill>
            <a:srgbClr val="F5F3FF"/>
          </a:solidFill>
          <a:ln w="12700">
            <a:solidFill>
              <a:srgbClr val="7C3AED"/>
            </a:solidFill>
            <a:prstDash val="solid"/>
          </a:ln>
        </p:spPr>
      </p:sp>
      <p:sp>
        <p:nvSpPr>
          <p:cNvPr id="60" name="Text 58"/>
          <p:cNvSpPr/>
          <p:nvPr/>
        </p:nvSpPr>
        <p:spPr>
          <a:xfrm>
            <a:off x="7278624" y="3008376"/>
            <a:ext cx="3182112" cy="338328"/>
          </a:xfrm>
          <a:prstGeom prst="rect">
            <a:avLst/>
          </a:prstGeom>
          <a:noFill/>
          <a:ln/>
        </p:spPr>
        <p:txBody>
          <a:bodyPr wrap="square" rtlCol="0" anchor="ctr"/>
          <a:lstStyle/>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Applicants Ingested into Recruiter Dashboard</a:t>
            </a:r>
            <a:endParaRPr lang="en-US" sz="920" dirty="0"/>
          </a:p>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Automatic Resume Extraction &amp; Parsing</a:t>
            </a:r>
            <a:endParaRPr lang="en-US" sz="920" dirty="0"/>
          </a:p>
        </p:txBody>
      </p:sp>
      <p:sp>
        <p:nvSpPr>
          <p:cNvPr id="61" name="Shape 59"/>
          <p:cNvSpPr/>
          <p:nvPr/>
        </p:nvSpPr>
        <p:spPr>
          <a:xfrm>
            <a:off x="8869680" y="3383280"/>
            <a:ext cx="0" cy="274320"/>
          </a:xfrm>
          <a:prstGeom prst="line">
            <a:avLst/>
          </a:prstGeom>
          <a:noFill/>
          <a:ln w="16510">
            <a:solidFill>
              <a:srgbClr val="7C3AED"/>
            </a:solidFill>
            <a:prstDash val="solid"/>
            <a:tailEnd type="triangle"/>
          </a:ln>
        </p:spPr>
      </p:sp>
      <p:sp>
        <p:nvSpPr>
          <p:cNvPr id="62" name="Shape 60"/>
          <p:cNvSpPr/>
          <p:nvPr/>
        </p:nvSpPr>
        <p:spPr>
          <a:xfrm>
            <a:off x="7223760" y="3657600"/>
            <a:ext cx="3291840" cy="411480"/>
          </a:xfrm>
          <a:prstGeom prst="roundRect">
            <a:avLst>
              <a:gd name="adj" fmla="val 13333"/>
            </a:avLst>
          </a:prstGeom>
          <a:solidFill>
            <a:srgbClr val="EEF2FF"/>
          </a:solidFill>
          <a:ln w="12700">
            <a:solidFill>
              <a:srgbClr val="4338CA"/>
            </a:solidFill>
            <a:prstDash val="solid"/>
          </a:ln>
        </p:spPr>
      </p:sp>
      <p:sp>
        <p:nvSpPr>
          <p:cNvPr id="63" name="Text 61"/>
          <p:cNvSpPr/>
          <p:nvPr/>
        </p:nvSpPr>
        <p:spPr>
          <a:xfrm>
            <a:off x="7278624" y="3694176"/>
            <a:ext cx="3182112" cy="338328"/>
          </a:xfrm>
          <a:prstGeom prst="rect">
            <a:avLst/>
          </a:prstGeom>
          <a:noFill/>
          <a:ln/>
        </p:spPr>
        <p:txBody>
          <a:bodyPr wrap="square" rtlCol="0" anchor="ctr"/>
          <a:lstStyle/>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Automated ATS Ranking Algorithm</a:t>
            </a:r>
            <a:endParaRPr lang="en-US" sz="920" dirty="0"/>
          </a:p>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Candidates Sorted by Compatibility Score</a:t>
            </a:r>
            <a:endParaRPr lang="en-US" sz="920" dirty="0"/>
          </a:p>
        </p:txBody>
      </p:sp>
      <p:sp>
        <p:nvSpPr>
          <p:cNvPr id="64" name="Shape 62"/>
          <p:cNvSpPr/>
          <p:nvPr/>
        </p:nvSpPr>
        <p:spPr>
          <a:xfrm>
            <a:off x="8869680" y="4069080"/>
            <a:ext cx="0" cy="274320"/>
          </a:xfrm>
          <a:prstGeom prst="line">
            <a:avLst/>
          </a:prstGeom>
          <a:noFill/>
          <a:ln w="16510">
            <a:solidFill>
              <a:srgbClr val="7C3AED"/>
            </a:solidFill>
            <a:prstDash val="solid"/>
            <a:tailEnd type="triangle"/>
          </a:ln>
        </p:spPr>
      </p:sp>
      <p:sp>
        <p:nvSpPr>
          <p:cNvPr id="65" name="Shape 63"/>
          <p:cNvSpPr/>
          <p:nvPr/>
        </p:nvSpPr>
        <p:spPr>
          <a:xfrm>
            <a:off x="7680960" y="4343400"/>
            <a:ext cx="2377440" cy="594360"/>
          </a:xfrm>
          <a:prstGeom prst="flowChartDecision">
            <a:avLst/>
          </a:prstGeom>
          <a:solidFill>
            <a:srgbClr val="0F172A"/>
          </a:solidFill>
          <a:ln w="15240">
            <a:solidFill>
              <a:srgbClr val="D97706"/>
            </a:solidFill>
            <a:prstDash val="solid"/>
          </a:ln>
        </p:spPr>
      </p:sp>
      <p:sp>
        <p:nvSpPr>
          <p:cNvPr id="66" name="Text 64"/>
          <p:cNvSpPr/>
          <p:nvPr/>
        </p:nvSpPr>
        <p:spPr>
          <a:xfrm>
            <a:off x="7845552" y="4434840"/>
            <a:ext cx="2048256" cy="411480"/>
          </a:xfrm>
          <a:prstGeom prst="rect">
            <a:avLst/>
          </a:prstGeom>
          <a:noFill/>
          <a:ln/>
        </p:spPr>
        <p:txBody>
          <a:bodyPr wrap="square" rtlCol="0" anchor="ctr"/>
          <a:lstStyle/>
          <a:p>
            <a:pPr algn="ctr" indent="0" marL="0">
              <a:lnSpc>
                <a:spcPct val="115000"/>
              </a:lnSpc>
              <a:buNone/>
            </a:pPr>
            <a:r>
              <a:rPr lang="en-US" sz="850" b="1" dirty="0">
                <a:solidFill>
                  <a:srgbClr val="0F172A"/>
                </a:solidFill>
                <a:latin typeface="Calibri" pitchFamily="34" charset="0"/>
                <a:ea typeface="Calibri" pitchFamily="34" charset="-122"/>
                <a:cs typeface="Calibri" pitchFamily="34" charset="-120"/>
              </a:rPr>
              <a:t>Meets Hiring</a:t>
            </a:r>
            <a:endParaRPr lang="en-US" sz="850" dirty="0"/>
          </a:p>
          <a:p>
            <a:pPr algn="ctr" indent="0" marL="0">
              <a:lnSpc>
                <a:spcPct val="115000"/>
              </a:lnSpc>
              <a:buNone/>
            </a:pPr>
            <a:r>
              <a:rPr lang="en-US" sz="850" b="1" dirty="0">
                <a:solidFill>
                  <a:srgbClr val="0F172A"/>
                </a:solidFill>
                <a:latin typeface="Calibri" pitchFamily="34" charset="0"/>
                <a:ea typeface="Calibri" pitchFamily="34" charset="-122"/>
                <a:cs typeface="Calibri" pitchFamily="34" charset="-120"/>
              </a:rPr>
              <a:t>Criteria?</a:t>
            </a:r>
            <a:endParaRPr lang="en-US" sz="850" dirty="0"/>
          </a:p>
        </p:txBody>
      </p:sp>
      <p:sp>
        <p:nvSpPr>
          <p:cNvPr id="67" name="Shape 65"/>
          <p:cNvSpPr/>
          <p:nvPr/>
        </p:nvSpPr>
        <p:spPr>
          <a:xfrm>
            <a:off x="7680960" y="4636008"/>
            <a:ext cx="-914400" cy="0"/>
          </a:xfrm>
          <a:prstGeom prst="line">
            <a:avLst/>
          </a:prstGeom>
          <a:noFill/>
          <a:ln w="16510">
            <a:solidFill>
              <a:srgbClr val="059669"/>
            </a:solidFill>
            <a:prstDash val="solid"/>
            <a:tailEnd type="triangle"/>
          </a:ln>
        </p:spPr>
      </p:sp>
      <p:sp>
        <p:nvSpPr>
          <p:cNvPr id="68" name="Shape 66"/>
          <p:cNvSpPr/>
          <p:nvPr/>
        </p:nvSpPr>
        <p:spPr>
          <a:xfrm>
            <a:off x="6812280" y="4507992"/>
            <a:ext cx="822960" cy="256032"/>
          </a:xfrm>
          <a:prstGeom prst="roundRect">
            <a:avLst>
              <a:gd name="adj" fmla="val 14286"/>
            </a:avLst>
          </a:prstGeom>
          <a:solidFill>
            <a:srgbClr val="FFFFFF"/>
          </a:solidFill>
          <a:ln w="6350">
            <a:solidFill>
              <a:srgbClr val="E2E8F0"/>
            </a:solidFill>
            <a:prstDash val="solid"/>
          </a:ln>
        </p:spPr>
      </p:sp>
      <p:sp>
        <p:nvSpPr>
          <p:cNvPr id="69" name="Text 67"/>
          <p:cNvSpPr/>
          <p:nvPr/>
        </p:nvSpPr>
        <p:spPr>
          <a:xfrm>
            <a:off x="6675120" y="4498848"/>
            <a:ext cx="1097280" cy="274320"/>
          </a:xfrm>
          <a:prstGeom prst="rect">
            <a:avLst/>
          </a:prstGeom>
          <a:noFill/>
          <a:ln/>
        </p:spPr>
        <p:txBody>
          <a:bodyPr wrap="square" rtlCol="0" anchor="ctr"/>
          <a:lstStyle/>
          <a:p>
            <a:pPr algn="ctr" indent="0" marL="0">
              <a:buNone/>
            </a:pPr>
            <a:r>
              <a:rPr lang="en-US" sz="750" b="1" dirty="0">
                <a:solidFill>
                  <a:srgbClr val="059669"/>
                </a:solidFill>
                <a:latin typeface="Calibri" pitchFamily="34" charset="0"/>
                <a:ea typeface="Calibri" pitchFamily="34" charset="-122"/>
                <a:cs typeface="Calibri" pitchFamily="34" charset="-120"/>
              </a:rPr>
              <a:t>Yes</a:t>
            </a:r>
            <a:endParaRPr lang="en-US" sz="750" dirty="0"/>
          </a:p>
        </p:txBody>
      </p:sp>
      <p:sp>
        <p:nvSpPr>
          <p:cNvPr id="70" name="Shape 68"/>
          <p:cNvSpPr/>
          <p:nvPr/>
        </p:nvSpPr>
        <p:spPr>
          <a:xfrm>
            <a:off x="6309360" y="4892040"/>
            <a:ext cx="2103120" cy="411480"/>
          </a:xfrm>
          <a:prstGeom prst="roundRect">
            <a:avLst>
              <a:gd name="adj" fmla="val 13333"/>
            </a:avLst>
          </a:prstGeom>
          <a:solidFill>
            <a:srgbClr val="ECFDF5"/>
          </a:solidFill>
          <a:ln w="12700">
            <a:solidFill>
              <a:srgbClr val="059669"/>
            </a:solidFill>
            <a:prstDash val="solid"/>
          </a:ln>
        </p:spPr>
      </p:sp>
      <p:sp>
        <p:nvSpPr>
          <p:cNvPr id="71" name="Text 69"/>
          <p:cNvSpPr/>
          <p:nvPr/>
        </p:nvSpPr>
        <p:spPr>
          <a:xfrm>
            <a:off x="6364224" y="4928616"/>
            <a:ext cx="1993392" cy="338328"/>
          </a:xfrm>
          <a:prstGeom prst="rect">
            <a:avLst/>
          </a:prstGeom>
          <a:noFill/>
          <a:ln/>
        </p:spPr>
        <p:txBody>
          <a:bodyPr wrap="square" rtlCol="0" anchor="ctr"/>
          <a:lstStyle/>
          <a:p>
            <a:pPr algn="ctr" indent="0" marL="0">
              <a:lnSpc>
                <a:spcPct val="125000"/>
              </a:lnSpc>
              <a:buNone/>
            </a:pPr>
            <a:r>
              <a:rPr lang="en-US" sz="800" b="1" dirty="0">
                <a:solidFill>
                  <a:srgbClr val="059669"/>
                </a:solidFill>
                <a:latin typeface="Calibri" pitchFamily="34" charset="0"/>
                <a:ea typeface="Calibri" pitchFamily="34" charset="-122"/>
                <a:cs typeface="Calibri" pitchFamily="34" charset="-120"/>
              </a:rPr>
              <a:t>Status: Shortlist /</a:t>
            </a:r>
            <a:endParaRPr lang="en-US" sz="800" dirty="0"/>
          </a:p>
          <a:p>
            <a:pPr algn="ctr" indent="0" marL="0">
              <a:lnSpc>
                <a:spcPct val="125000"/>
              </a:lnSpc>
              <a:buNone/>
            </a:pPr>
            <a:r>
              <a:rPr lang="en-US" sz="800" b="1" dirty="0">
                <a:solidFill>
                  <a:srgbClr val="059669"/>
                </a:solidFill>
                <a:latin typeface="Calibri" pitchFamily="34" charset="0"/>
                <a:ea typeface="Calibri" pitchFamily="34" charset="-122"/>
                <a:cs typeface="Calibri" pitchFamily="34" charset="-120"/>
              </a:rPr>
              <a:t>Schedule Interview</a:t>
            </a:r>
            <a:endParaRPr lang="en-US" sz="800" dirty="0"/>
          </a:p>
        </p:txBody>
      </p:sp>
      <p:sp>
        <p:nvSpPr>
          <p:cNvPr id="72" name="Shape 70"/>
          <p:cNvSpPr/>
          <p:nvPr/>
        </p:nvSpPr>
        <p:spPr>
          <a:xfrm>
            <a:off x="6766560" y="4636008"/>
            <a:ext cx="0" cy="256032"/>
          </a:xfrm>
          <a:prstGeom prst="line">
            <a:avLst/>
          </a:prstGeom>
          <a:noFill/>
          <a:ln w="16510">
            <a:solidFill>
              <a:srgbClr val="059669"/>
            </a:solidFill>
            <a:prstDash val="solid"/>
            <a:tailEnd type="triangle"/>
          </a:ln>
        </p:spPr>
      </p:sp>
      <p:sp>
        <p:nvSpPr>
          <p:cNvPr id="73" name="Shape 71"/>
          <p:cNvSpPr/>
          <p:nvPr/>
        </p:nvSpPr>
        <p:spPr>
          <a:xfrm>
            <a:off x="10058400" y="4636008"/>
            <a:ext cx="914400" cy="0"/>
          </a:xfrm>
          <a:prstGeom prst="line">
            <a:avLst/>
          </a:prstGeom>
          <a:noFill/>
          <a:ln w="16510">
            <a:solidFill>
              <a:srgbClr val="E11D48"/>
            </a:solidFill>
            <a:prstDash val="solid"/>
            <a:tailEnd type="triangle"/>
          </a:ln>
        </p:spPr>
      </p:sp>
      <p:sp>
        <p:nvSpPr>
          <p:cNvPr id="74" name="Shape 72"/>
          <p:cNvSpPr/>
          <p:nvPr/>
        </p:nvSpPr>
        <p:spPr>
          <a:xfrm>
            <a:off x="10104120" y="4507992"/>
            <a:ext cx="822960" cy="256032"/>
          </a:xfrm>
          <a:prstGeom prst="roundRect">
            <a:avLst>
              <a:gd name="adj" fmla="val 14286"/>
            </a:avLst>
          </a:prstGeom>
          <a:solidFill>
            <a:srgbClr val="FFFFFF"/>
          </a:solidFill>
          <a:ln w="6350">
            <a:solidFill>
              <a:srgbClr val="E2E8F0"/>
            </a:solidFill>
            <a:prstDash val="solid"/>
          </a:ln>
        </p:spPr>
      </p:sp>
      <p:sp>
        <p:nvSpPr>
          <p:cNvPr id="75" name="Text 73"/>
          <p:cNvSpPr/>
          <p:nvPr/>
        </p:nvSpPr>
        <p:spPr>
          <a:xfrm>
            <a:off x="9966960" y="4498848"/>
            <a:ext cx="1097280" cy="274320"/>
          </a:xfrm>
          <a:prstGeom prst="rect">
            <a:avLst/>
          </a:prstGeom>
          <a:noFill/>
          <a:ln/>
        </p:spPr>
        <p:txBody>
          <a:bodyPr wrap="square" rtlCol="0" anchor="ctr"/>
          <a:lstStyle/>
          <a:p>
            <a:pPr algn="ctr" indent="0" marL="0">
              <a:buNone/>
            </a:pPr>
            <a:r>
              <a:rPr lang="en-US" sz="750" b="1" dirty="0">
                <a:solidFill>
                  <a:srgbClr val="E11D48"/>
                </a:solidFill>
                <a:latin typeface="Calibri" pitchFamily="34" charset="0"/>
                <a:ea typeface="Calibri" pitchFamily="34" charset="-122"/>
                <a:cs typeface="Calibri" pitchFamily="34" charset="-120"/>
              </a:rPr>
              <a:t>No</a:t>
            </a:r>
            <a:endParaRPr lang="en-US" sz="750" dirty="0"/>
          </a:p>
        </p:txBody>
      </p:sp>
      <p:sp>
        <p:nvSpPr>
          <p:cNvPr id="76" name="Shape 74"/>
          <p:cNvSpPr/>
          <p:nvPr/>
        </p:nvSpPr>
        <p:spPr>
          <a:xfrm>
            <a:off x="9509760" y="4892040"/>
            <a:ext cx="1920240" cy="411480"/>
          </a:xfrm>
          <a:prstGeom prst="roundRect">
            <a:avLst>
              <a:gd name="adj" fmla="val 13333"/>
            </a:avLst>
          </a:prstGeom>
          <a:solidFill>
            <a:srgbClr val="FFF1F2"/>
          </a:solidFill>
          <a:ln w="12700">
            <a:solidFill>
              <a:srgbClr val="E11D48"/>
            </a:solidFill>
            <a:prstDash val="solid"/>
          </a:ln>
        </p:spPr>
      </p:sp>
      <p:sp>
        <p:nvSpPr>
          <p:cNvPr id="77" name="Text 75"/>
          <p:cNvSpPr/>
          <p:nvPr/>
        </p:nvSpPr>
        <p:spPr>
          <a:xfrm>
            <a:off x="9564624" y="4928616"/>
            <a:ext cx="1810512" cy="338328"/>
          </a:xfrm>
          <a:prstGeom prst="rect">
            <a:avLst/>
          </a:prstGeom>
          <a:noFill/>
          <a:ln/>
        </p:spPr>
        <p:txBody>
          <a:bodyPr wrap="square" rtlCol="0" anchor="ctr"/>
          <a:lstStyle/>
          <a:p>
            <a:pPr algn="ctr" indent="0" marL="0">
              <a:lnSpc>
                <a:spcPct val="125000"/>
              </a:lnSpc>
              <a:buNone/>
            </a:pPr>
            <a:r>
              <a:rPr lang="en-US" sz="800" b="1" dirty="0">
                <a:solidFill>
                  <a:srgbClr val="E11D48"/>
                </a:solidFill>
                <a:latin typeface="Calibri" pitchFamily="34" charset="0"/>
                <a:ea typeface="Calibri" pitchFamily="34" charset="-122"/>
                <a:cs typeface="Calibri" pitchFamily="34" charset="-120"/>
              </a:rPr>
              <a:t>Status: Application</a:t>
            </a:r>
            <a:endParaRPr lang="en-US" sz="800" dirty="0"/>
          </a:p>
          <a:p>
            <a:pPr algn="ctr" indent="0" marL="0">
              <a:lnSpc>
                <a:spcPct val="125000"/>
              </a:lnSpc>
              <a:buNone/>
            </a:pPr>
            <a:r>
              <a:rPr lang="en-US" sz="800" b="1" dirty="0">
                <a:solidFill>
                  <a:srgbClr val="E11D48"/>
                </a:solidFill>
                <a:latin typeface="Calibri" pitchFamily="34" charset="0"/>
                <a:ea typeface="Calibri" pitchFamily="34" charset="-122"/>
                <a:cs typeface="Calibri" pitchFamily="34" charset="-120"/>
              </a:rPr>
              <a:t>Rejected</a:t>
            </a:r>
            <a:endParaRPr lang="en-US" sz="800" dirty="0"/>
          </a:p>
        </p:txBody>
      </p:sp>
      <p:sp>
        <p:nvSpPr>
          <p:cNvPr id="78" name="Shape 76"/>
          <p:cNvSpPr/>
          <p:nvPr/>
        </p:nvSpPr>
        <p:spPr>
          <a:xfrm>
            <a:off x="10972800" y="4636008"/>
            <a:ext cx="0" cy="256032"/>
          </a:xfrm>
          <a:prstGeom prst="line">
            <a:avLst/>
          </a:prstGeom>
          <a:noFill/>
          <a:ln w="16510">
            <a:solidFill>
              <a:srgbClr val="E11D48"/>
            </a:solidFill>
            <a:prstDash val="solid"/>
            <a:tailEnd type="triangle"/>
          </a:ln>
        </p:spPr>
      </p:sp>
      <p:sp>
        <p:nvSpPr>
          <p:cNvPr id="79" name="Shape 77"/>
          <p:cNvSpPr/>
          <p:nvPr/>
        </p:nvSpPr>
        <p:spPr>
          <a:xfrm>
            <a:off x="7360920" y="5303520"/>
            <a:ext cx="685800" cy="182880"/>
          </a:xfrm>
          <a:prstGeom prst="line">
            <a:avLst/>
          </a:prstGeom>
          <a:noFill/>
          <a:ln w="16510">
            <a:solidFill>
              <a:srgbClr val="059669"/>
            </a:solidFill>
            <a:prstDash val="solid"/>
            <a:tailEnd type="triangle"/>
          </a:ln>
        </p:spPr>
      </p:sp>
      <p:sp>
        <p:nvSpPr>
          <p:cNvPr id="80" name="Shape 78"/>
          <p:cNvSpPr/>
          <p:nvPr/>
        </p:nvSpPr>
        <p:spPr>
          <a:xfrm>
            <a:off x="10469880" y="5303520"/>
            <a:ext cx="-777240" cy="182880"/>
          </a:xfrm>
          <a:prstGeom prst="line">
            <a:avLst/>
          </a:prstGeom>
          <a:noFill/>
          <a:ln w="16510">
            <a:solidFill>
              <a:srgbClr val="E11D48"/>
            </a:solidFill>
            <a:prstDash val="solid"/>
            <a:tailEnd type="triangle"/>
          </a:ln>
        </p:spPr>
      </p:sp>
      <p:sp>
        <p:nvSpPr>
          <p:cNvPr id="81" name="Shape 79"/>
          <p:cNvSpPr/>
          <p:nvPr/>
        </p:nvSpPr>
        <p:spPr>
          <a:xfrm>
            <a:off x="7223760" y="5486400"/>
            <a:ext cx="3291840" cy="384048"/>
          </a:xfrm>
          <a:prstGeom prst="roundRect">
            <a:avLst>
              <a:gd name="adj" fmla="val 14286"/>
            </a:avLst>
          </a:prstGeom>
          <a:solidFill>
            <a:srgbClr val="EFF6FF"/>
          </a:solidFill>
          <a:ln w="12700">
            <a:solidFill>
              <a:srgbClr val="1D4ED8"/>
            </a:solidFill>
            <a:prstDash val="solid"/>
          </a:ln>
        </p:spPr>
      </p:sp>
      <p:sp>
        <p:nvSpPr>
          <p:cNvPr id="82" name="Text 80"/>
          <p:cNvSpPr/>
          <p:nvPr/>
        </p:nvSpPr>
        <p:spPr>
          <a:xfrm>
            <a:off x="7278624" y="5522976"/>
            <a:ext cx="3182112" cy="310896"/>
          </a:xfrm>
          <a:prstGeom prst="rect">
            <a:avLst/>
          </a:prstGeom>
          <a:noFill/>
          <a:ln/>
        </p:spPr>
        <p:txBody>
          <a:bodyPr wrap="square" rtlCol="0" anchor="ctr"/>
          <a:lstStyle/>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Trigger NodeMailer SMTP Worker</a:t>
            </a:r>
            <a:endParaRPr lang="en-US" sz="800" dirty="0"/>
          </a:p>
          <a:p>
            <a:pPr algn="ctr" indent="0" marL="0">
              <a:lnSpc>
                <a:spcPct val="125000"/>
              </a:lnSpc>
              <a:buNone/>
            </a:pPr>
            <a:r>
              <a:rPr lang="en-US" sz="800" b="1" dirty="0">
                <a:solidFill>
                  <a:srgbClr val="0F172A"/>
                </a:solidFill>
                <a:latin typeface="Calibri" pitchFamily="34" charset="0"/>
                <a:ea typeface="Calibri" pitchFamily="34" charset="-122"/>
                <a:cs typeface="Calibri" pitchFamily="34" charset="-120"/>
              </a:rPr>
              <a:t>Auto-transmit HTML notification to student</a:t>
            </a:r>
            <a:endParaRPr lang="en-US" sz="800" dirty="0"/>
          </a:p>
        </p:txBody>
      </p:sp>
      <p:sp>
        <p:nvSpPr>
          <p:cNvPr id="83" name="Shape 81"/>
          <p:cNvSpPr/>
          <p:nvPr/>
        </p:nvSpPr>
        <p:spPr>
          <a:xfrm>
            <a:off x="8869680" y="5870448"/>
            <a:ext cx="0" cy="237744"/>
          </a:xfrm>
          <a:prstGeom prst="line">
            <a:avLst/>
          </a:prstGeom>
          <a:noFill/>
          <a:ln w="16510">
            <a:solidFill>
              <a:srgbClr val="7C3AED"/>
            </a:solidFill>
            <a:prstDash val="solid"/>
            <a:tailEnd type="triangle"/>
          </a:ln>
        </p:spPr>
      </p:sp>
      <p:sp>
        <p:nvSpPr>
          <p:cNvPr id="84" name="Shape 82"/>
          <p:cNvSpPr/>
          <p:nvPr/>
        </p:nvSpPr>
        <p:spPr>
          <a:xfrm>
            <a:off x="7223760" y="6108192"/>
            <a:ext cx="3291840" cy="320040"/>
          </a:xfrm>
          <a:prstGeom prst="flowChartTerminator">
            <a:avLst/>
          </a:prstGeom>
          <a:solidFill>
            <a:srgbClr val="0F172A"/>
          </a:solidFill>
          <a:ln w="12700">
            <a:solidFill>
              <a:srgbClr val="CBD5E1"/>
            </a:solidFill>
            <a:prstDash val="solid"/>
          </a:ln>
        </p:spPr>
      </p:sp>
      <p:sp>
        <p:nvSpPr>
          <p:cNvPr id="85" name="Text 83"/>
          <p:cNvSpPr/>
          <p:nvPr/>
        </p:nvSpPr>
        <p:spPr>
          <a:xfrm>
            <a:off x="7269480" y="6126480"/>
            <a:ext cx="3200400" cy="283464"/>
          </a:xfrm>
          <a:prstGeom prst="rect">
            <a:avLst/>
          </a:prstGeom>
          <a:noFill/>
          <a:ln/>
        </p:spPr>
        <p:txBody>
          <a:bodyPr wrap="square" rtlCol="0" anchor="ctr"/>
          <a:lstStyle/>
          <a:p>
            <a:pPr algn="ctr" indent="0" marL="0">
              <a:buNone/>
            </a:pPr>
            <a:r>
              <a:rPr lang="en-US" sz="900" b="1" dirty="0">
                <a:solidFill>
                  <a:srgbClr val="0F172A"/>
                </a:solidFill>
                <a:latin typeface="Calibri" pitchFamily="34" charset="0"/>
                <a:ea typeface="Calibri" pitchFamily="34" charset="-122"/>
                <a:cs typeface="Calibri" pitchFamily="34" charset="-120"/>
              </a:rPr>
              <a:t>END: Hiring Funnel Analytics Updated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7C3AED"/>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EDE9FE"/>
          </a:solidFill>
          <a:ln w="10160">
            <a:solidFill>
              <a:srgbClr val="7C3AED"/>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7C3AED"/>
                </a:solidFill>
                <a:latin typeface="Calibri" pitchFamily="34" charset="0"/>
                <a:ea typeface="Calibri" pitchFamily="34" charset="-122"/>
                <a:cs typeface="Calibri" pitchFamily="34" charset="-120"/>
              </a:rPr>
              <a:t>METHODOLOGY</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ATS Resume Parsing &amp; Intelligent Scoring Pipeline</a:t>
            </a:r>
            <a:endParaRPr lang="en-US" sz="2300" dirty="0"/>
          </a:p>
        </p:txBody>
      </p:sp>
      <p:sp>
        <p:nvSpPr>
          <p:cNvPr id="8" name="Shape 6"/>
          <p:cNvSpPr/>
          <p:nvPr/>
        </p:nvSpPr>
        <p:spPr>
          <a:xfrm>
            <a:off x="731520" y="1097280"/>
            <a:ext cx="2194560" cy="32004"/>
          </a:xfrm>
          <a:prstGeom prst="rect">
            <a:avLst/>
          </a:prstGeom>
          <a:solidFill>
            <a:srgbClr val="7C3AED"/>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7C3AED"/>
                </a:solidFill>
                <a:latin typeface="Calibri" pitchFamily="34" charset="0"/>
                <a:ea typeface="Calibri" pitchFamily="34" charset="-122"/>
                <a:cs typeface="Calibri" pitchFamily="34" charset="-120"/>
              </a:rPr>
              <a:t>10</a:t>
            </a:r>
            <a:endParaRPr lang="en-US" sz="950" dirty="0"/>
          </a:p>
        </p:txBody>
      </p:sp>
      <p:sp>
        <p:nvSpPr>
          <p:cNvPr id="11" name="Shape 9"/>
          <p:cNvSpPr/>
          <p:nvPr/>
        </p:nvSpPr>
        <p:spPr>
          <a:xfrm>
            <a:off x="731520" y="1325880"/>
            <a:ext cx="1920240" cy="228600"/>
          </a:xfrm>
          <a:prstGeom prst="roundRect">
            <a:avLst>
              <a:gd name="adj" fmla="val 16000"/>
            </a:avLst>
          </a:prstGeom>
          <a:solidFill>
            <a:srgbClr val="DBEAFE"/>
          </a:solidFill>
          <a:ln w="10160">
            <a:solidFill>
              <a:srgbClr val="1D4ED8"/>
            </a:solidFill>
            <a:prstDash val="solid"/>
          </a:ln>
        </p:spPr>
      </p:sp>
      <p:sp>
        <p:nvSpPr>
          <p:cNvPr id="12" name="Text 10"/>
          <p:cNvSpPr/>
          <p:nvPr/>
        </p:nvSpPr>
        <p:spPr>
          <a:xfrm>
            <a:off x="731520" y="1325880"/>
            <a:ext cx="1920240" cy="228600"/>
          </a:xfrm>
          <a:prstGeom prst="rect">
            <a:avLst/>
          </a:prstGeom>
          <a:noFill/>
          <a:ln/>
        </p:spPr>
        <p:txBody>
          <a:bodyPr wrap="square" rtlCol="0" anchor="ctr"/>
          <a:lstStyle/>
          <a:p>
            <a:pPr algn="ctr" indent="0" marL="0">
              <a:buNone/>
            </a:pPr>
            <a:r>
              <a:rPr lang="en-US" sz="800" b="1" dirty="0">
                <a:solidFill>
                  <a:srgbClr val="1D4ED8"/>
                </a:solidFill>
                <a:latin typeface="Calibri" pitchFamily="34" charset="0"/>
                <a:ea typeface="Calibri" pitchFamily="34" charset="-122"/>
                <a:cs typeface="Calibri" pitchFamily="34" charset="-120"/>
              </a:rPr>
              <a:t>STAGE 1</a:t>
            </a:r>
            <a:endParaRPr lang="en-US" sz="800" dirty="0"/>
          </a:p>
        </p:txBody>
      </p:sp>
      <p:sp>
        <p:nvSpPr>
          <p:cNvPr id="13" name="Shape 11"/>
          <p:cNvSpPr/>
          <p:nvPr/>
        </p:nvSpPr>
        <p:spPr>
          <a:xfrm>
            <a:off x="731520" y="1600200"/>
            <a:ext cx="1920240" cy="868680"/>
          </a:xfrm>
          <a:prstGeom prst="roundRect">
            <a:avLst>
              <a:gd name="adj" fmla="val 6316"/>
            </a:avLst>
          </a:prstGeom>
          <a:solidFill>
            <a:srgbClr val="EFF6FF"/>
          </a:solidFill>
          <a:ln w="15240">
            <a:solidFill>
              <a:srgbClr val="1D4ED8"/>
            </a:solidFill>
            <a:prstDash val="solid"/>
          </a:ln>
        </p:spPr>
      </p:sp>
      <p:sp>
        <p:nvSpPr>
          <p:cNvPr id="14" name="Text 12"/>
          <p:cNvSpPr/>
          <p:nvPr/>
        </p:nvSpPr>
        <p:spPr>
          <a:xfrm>
            <a:off x="786384" y="1636776"/>
            <a:ext cx="1810512" cy="795528"/>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Input File</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Ingestion</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PDF / DOCX upload</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Multer disk buffer</a:t>
            </a:r>
            <a:endParaRPr lang="en-US" sz="850" dirty="0"/>
          </a:p>
        </p:txBody>
      </p:sp>
      <p:sp>
        <p:nvSpPr>
          <p:cNvPr id="15" name="Shape 13"/>
          <p:cNvSpPr/>
          <p:nvPr/>
        </p:nvSpPr>
        <p:spPr>
          <a:xfrm>
            <a:off x="2670048" y="2029968"/>
            <a:ext cx="237744" cy="0"/>
          </a:xfrm>
          <a:prstGeom prst="line">
            <a:avLst/>
          </a:prstGeom>
          <a:noFill/>
          <a:ln w="16510">
            <a:solidFill>
              <a:srgbClr val="1D4ED8"/>
            </a:solidFill>
            <a:prstDash val="solid"/>
            <a:tailEnd type="triangle"/>
          </a:ln>
        </p:spPr>
      </p:sp>
      <p:sp>
        <p:nvSpPr>
          <p:cNvPr id="16" name="Shape 14"/>
          <p:cNvSpPr/>
          <p:nvPr/>
        </p:nvSpPr>
        <p:spPr>
          <a:xfrm>
            <a:off x="2926080" y="1325880"/>
            <a:ext cx="1920240" cy="228600"/>
          </a:xfrm>
          <a:prstGeom prst="roundRect">
            <a:avLst>
              <a:gd name="adj" fmla="val 16000"/>
            </a:avLst>
          </a:prstGeom>
          <a:solidFill>
            <a:srgbClr val="CCFBF1"/>
          </a:solidFill>
          <a:ln w="10160">
            <a:solidFill>
              <a:srgbClr val="0D9488"/>
            </a:solidFill>
            <a:prstDash val="solid"/>
          </a:ln>
        </p:spPr>
      </p:sp>
      <p:sp>
        <p:nvSpPr>
          <p:cNvPr id="17" name="Text 15"/>
          <p:cNvSpPr/>
          <p:nvPr/>
        </p:nvSpPr>
        <p:spPr>
          <a:xfrm>
            <a:off x="2926080" y="1325880"/>
            <a:ext cx="1920240" cy="228600"/>
          </a:xfrm>
          <a:prstGeom prst="rect">
            <a:avLst/>
          </a:prstGeom>
          <a:noFill/>
          <a:ln/>
        </p:spPr>
        <p:txBody>
          <a:bodyPr wrap="square" rtlCol="0" anchor="ctr"/>
          <a:lstStyle/>
          <a:p>
            <a:pPr algn="ctr" indent="0" marL="0">
              <a:buNone/>
            </a:pPr>
            <a:r>
              <a:rPr lang="en-US" sz="800" b="1" dirty="0">
                <a:solidFill>
                  <a:srgbClr val="0D9488"/>
                </a:solidFill>
                <a:latin typeface="Calibri" pitchFamily="34" charset="0"/>
                <a:ea typeface="Calibri" pitchFamily="34" charset="-122"/>
                <a:cs typeface="Calibri" pitchFamily="34" charset="-120"/>
              </a:rPr>
              <a:t>STAGE 2</a:t>
            </a:r>
            <a:endParaRPr lang="en-US" sz="800" dirty="0"/>
          </a:p>
        </p:txBody>
      </p:sp>
      <p:sp>
        <p:nvSpPr>
          <p:cNvPr id="18" name="Shape 16"/>
          <p:cNvSpPr/>
          <p:nvPr/>
        </p:nvSpPr>
        <p:spPr>
          <a:xfrm>
            <a:off x="2926080" y="1600200"/>
            <a:ext cx="1920240" cy="868680"/>
          </a:xfrm>
          <a:prstGeom prst="roundRect">
            <a:avLst>
              <a:gd name="adj" fmla="val 6316"/>
            </a:avLst>
          </a:prstGeom>
          <a:solidFill>
            <a:srgbClr val="F0FDFA"/>
          </a:solidFill>
          <a:ln w="15240">
            <a:solidFill>
              <a:srgbClr val="0D9488"/>
            </a:solidFill>
            <a:prstDash val="solid"/>
          </a:ln>
        </p:spPr>
      </p:sp>
      <p:sp>
        <p:nvSpPr>
          <p:cNvPr id="19" name="Text 17"/>
          <p:cNvSpPr/>
          <p:nvPr/>
        </p:nvSpPr>
        <p:spPr>
          <a:xfrm>
            <a:off x="2980944" y="1636776"/>
            <a:ext cx="1810512" cy="795528"/>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Binary Text</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Extraction</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pdf-parse / mammoth</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Raw UTF-8 stream</a:t>
            </a:r>
            <a:endParaRPr lang="en-US" sz="850" dirty="0"/>
          </a:p>
        </p:txBody>
      </p:sp>
      <p:sp>
        <p:nvSpPr>
          <p:cNvPr id="20" name="Shape 18"/>
          <p:cNvSpPr/>
          <p:nvPr/>
        </p:nvSpPr>
        <p:spPr>
          <a:xfrm>
            <a:off x="4864608" y="2029968"/>
            <a:ext cx="237744" cy="0"/>
          </a:xfrm>
          <a:prstGeom prst="line">
            <a:avLst/>
          </a:prstGeom>
          <a:noFill/>
          <a:ln w="16510">
            <a:solidFill>
              <a:srgbClr val="0D9488"/>
            </a:solidFill>
            <a:prstDash val="solid"/>
            <a:tailEnd type="triangle"/>
          </a:ln>
        </p:spPr>
      </p:sp>
      <p:sp>
        <p:nvSpPr>
          <p:cNvPr id="21" name="Shape 19"/>
          <p:cNvSpPr/>
          <p:nvPr/>
        </p:nvSpPr>
        <p:spPr>
          <a:xfrm>
            <a:off x="5120640" y="1325880"/>
            <a:ext cx="1920240" cy="228600"/>
          </a:xfrm>
          <a:prstGeom prst="roundRect">
            <a:avLst>
              <a:gd name="adj" fmla="val 16000"/>
            </a:avLst>
          </a:prstGeom>
          <a:solidFill>
            <a:srgbClr val="E0E7FF"/>
          </a:solidFill>
          <a:ln w="10160">
            <a:solidFill>
              <a:srgbClr val="4338CA"/>
            </a:solidFill>
            <a:prstDash val="solid"/>
          </a:ln>
        </p:spPr>
      </p:sp>
      <p:sp>
        <p:nvSpPr>
          <p:cNvPr id="22" name="Text 20"/>
          <p:cNvSpPr/>
          <p:nvPr/>
        </p:nvSpPr>
        <p:spPr>
          <a:xfrm>
            <a:off x="5120640" y="1325880"/>
            <a:ext cx="1920240" cy="228600"/>
          </a:xfrm>
          <a:prstGeom prst="rect">
            <a:avLst/>
          </a:prstGeom>
          <a:noFill/>
          <a:ln/>
        </p:spPr>
        <p:txBody>
          <a:bodyPr wrap="square" rtlCol="0" anchor="ctr"/>
          <a:lstStyle/>
          <a:p>
            <a:pPr algn="ctr" indent="0" marL="0">
              <a:buNone/>
            </a:pPr>
            <a:r>
              <a:rPr lang="en-US" sz="800" b="1" dirty="0">
                <a:solidFill>
                  <a:srgbClr val="4338CA"/>
                </a:solidFill>
                <a:latin typeface="Calibri" pitchFamily="34" charset="0"/>
                <a:ea typeface="Calibri" pitchFamily="34" charset="-122"/>
                <a:cs typeface="Calibri" pitchFamily="34" charset="-120"/>
              </a:rPr>
              <a:t>STAGE 3</a:t>
            </a:r>
            <a:endParaRPr lang="en-US" sz="800" dirty="0"/>
          </a:p>
        </p:txBody>
      </p:sp>
      <p:sp>
        <p:nvSpPr>
          <p:cNvPr id="23" name="Shape 21"/>
          <p:cNvSpPr/>
          <p:nvPr/>
        </p:nvSpPr>
        <p:spPr>
          <a:xfrm>
            <a:off x="5120640" y="1600200"/>
            <a:ext cx="1920240" cy="868680"/>
          </a:xfrm>
          <a:prstGeom prst="roundRect">
            <a:avLst>
              <a:gd name="adj" fmla="val 6316"/>
            </a:avLst>
          </a:prstGeom>
          <a:solidFill>
            <a:srgbClr val="EEF2FF"/>
          </a:solidFill>
          <a:ln w="15240">
            <a:solidFill>
              <a:srgbClr val="4338CA"/>
            </a:solidFill>
            <a:prstDash val="solid"/>
          </a:ln>
        </p:spPr>
      </p:sp>
      <p:sp>
        <p:nvSpPr>
          <p:cNvPr id="24" name="Text 22"/>
          <p:cNvSpPr/>
          <p:nvPr/>
        </p:nvSpPr>
        <p:spPr>
          <a:xfrm>
            <a:off x="5175504" y="1636776"/>
            <a:ext cx="1810512" cy="795528"/>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NLP Text</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Sanitization</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Lowercase, regex filter</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Stopword removal</a:t>
            </a:r>
            <a:endParaRPr lang="en-US" sz="850" dirty="0"/>
          </a:p>
        </p:txBody>
      </p:sp>
      <p:sp>
        <p:nvSpPr>
          <p:cNvPr id="25" name="Shape 23"/>
          <p:cNvSpPr/>
          <p:nvPr/>
        </p:nvSpPr>
        <p:spPr>
          <a:xfrm>
            <a:off x="7059168" y="2029968"/>
            <a:ext cx="237744" cy="0"/>
          </a:xfrm>
          <a:prstGeom prst="line">
            <a:avLst/>
          </a:prstGeom>
          <a:noFill/>
          <a:ln w="16510">
            <a:solidFill>
              <a:srgbClr val="4338CA"/>
            </a:solidFill>
            <a:prstDash val="solid"/>
            <a:tailEnd type="triangle"/>
          </a:ln>
        </p:spPr>
      </p:sp>
      <p:sp>
        <p:nvSpPr>
          <p:cNvPr id="26" name="Shape 24"/>
          <p:cNvSpPr/>
          <p:nvPr/>
        </p:nvSpPr>
        <p:spPr>
          <a:xfrm>
            <a:off x="7315200" y="1325880"/>
            <a:ext cx="1920240" cy="228600"/>
          </a:xfrm>
          <a:prstGeom prst="roundRect">
            <a:avLst>
              <a:gd name="adj" fmla="val 16000"/>
            </a:avLst>
          </a:prstGeom>
          <a:solidFill>
            <a:srgbClr val="FEF3C7"/>
          </a:solidFill>
          <a:ln w="10160">
            <a:solidFill>
              <a:srgbClr val="D97706"/>
            </a:solidFill>
            <a:prstDash val="solid"/>
          </a:ln>
        </p:spPr>
      </p:sp>
      <p:sp>
        <p:nvSpPr>
          <p:cNvPr id="27" name="Text 25"/>
          <p:cNvSpPr/>
          <p:nvPr/>
        </p:nvSpPr>
        <p:spPr>
          <a:xfrm>
            <a:off x="7315200" y="1325880"/>
            <a:ext cx="1920240" cy="228600"/>
          </a:xfrm>
          <a:prstGeom prst="rect">
            <a:avLst/>
          </a:prstGeom>
          <a:noFill/>
          <a:ln/>
        </p:spPr>
        <p:txBody>
          <a:bodyPr wrap="square" rtlCol="0" anchor="ctr"/>
          <a:lstStyle/>
          <a:p>
            <a:pPr algn="ctr" indent="0" marL="0">
              <a:buNone/>
            </a:pPr>
            <a:r>
              <a:rPr lang="en-US" sz="800" b="1" dirty="0">
                <a:solidFill>
                  <a:srgbClr val="D97706"/>
                </a:solidFill>
                <a:latin typeface="Calibri" pitchFamily="34" charset="0"/>
                <a:ea typeface="Calibri" pitchFamily="34" charset="-122"/>
                <a:cs typeface="Calibri" pitchFamily="34" charset="-120"/>
              </a:rPr>
              <a:t>STAGE 4</a:t>
            </a:r>
            <a:endParaRPr lang="en-US" sz="800" dirty="0"/>
          </a:p>
        </p:txBody>
      </p:sp>
      <p:sp>
        <p:nvSpPr>
          <p:cNvPr id="28" name="Shape 26"/>
          <p:cNvSpPr/>
          <p:nvPr/>
        </p:nvSpPr>
        <p:spPr>
          <a:xfrm>
            <a:off x="7315200" y="1600200"/>
            <a:ext cx="1920240" cy="868680"/>
          </a:xfrm>
          <a:prstGeom prst="roundRect">
            <a:avLst>
              <a:gd name="adj" fmla="val 6316"/>
            </a:avLst>
          </a:prstGeom>
          <a:solidFill>
            <a:srgbClr val="FFFBEB"/>
          </a:solidFill>
          <a:ln w="15240">
            <a:solidFill>
              <a:srgbClr val="D97706"/>
            </a:solidFill>
            <a:prstDash val="solid"/>
          </a:ln>
        </p:spPr>
      </p:sp>
      <p:sp>
        <p:nvSpPr>
          <p:cNvPr id="29" name="Text 27"/>
          <p:cNvSpPr/>
          <p:nvPr/>
        </p:nvSpPr>
        <p:spPr>
          <a:xfrm>
            <a:off x="7370064" y="1636776"/>
            <a:ext cx="1810512" cy="795528"/>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Skill Entity</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Matching</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Taxonomy dictionary</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Exact &amp; partial match</a:t>
            </a:r>
            <a:endParaRPr lang="en-US" sz="850" dirty="0"/>
          </a:p>
        </p:txBody>
      </p:sp>
      <p:sp>
        <p:nvSpPr>
          <p:cNvPr id="30" name="Shape 28"/>
          <p:cNvSpPr/>
          <p:nvPr/>
        </p:nvSpPr>
        <p:spPr>
          <a:xfrm>
            <a:off x="9253728" y="2029968"/>
            <a:ext cx="237744" cy="0"/>
          </a:xfrm>
          <a:prstGeom prst="line">
            <a:avLst/>
          </a:prstGeom>
          <a:noFill/>
          <a:ln w="16510">
            <a:solidFill>
              <a:srgbClr val="D97706"/>
            </a:solidFill>
            <a:prstDash val="solid"/>
            <a:tailEnd type="triangle"/>
          </a:ln>
        </p:spPr>
      </p:sp>
      <p:sp>
        <p:nvSpPr>
          <p:cNvPr id="31" name="Shape 29"/>
          <p:cNvSpPr/>
          <p:nvPr/>
        </p:nvSpPr>
        <p:spPr>
          <a:xfrm>
            <a:off x="9509760" y="1325880"/>
            <a:ext cx="1920240" cy="228600"/>
          </a:xfrm>
          <a:prstGeom prst="roundRect">
            <a:avLst>
              <a:gd name="adj" fmla="val 16000"/>
            </a:avLst>
          </a:prstGeom>
          <a:solidFill>
            <a:srgbClr val="EDE9FE"/>
          </a:solidFill>
          <a:ln w="10160">
            <a:solidFill>
              <a:srgbClr val="7C3AED"/>
            </a:solidFill>
            <a:prstDash val="solid"/>
          </a:ln>
        </p:spPr>
      </p:sp>
      <p:sp>
        <p:nvSpPr>
          <p:cNvPr id="32" name="Text 30"/>
          <p:cNvSpPr/>
          <p:nvPr/>
        </p:nvSpPr>
        <p:spPr>
          <a:xfrm>
            <a:off x="9509760" y="1325880"/>
            <a:ext cx="1920240" cy="228600"/>
          </a:xfrm>
          <a:prstGeom prst="rect">
            <a:avLst/>
          </a:prstGeom>
          <a:noFill/>
          <a:ln/>
        </p:spPr>
        <p:txBody>
          <a:bodyPr wrap="square" rtlCol="0" anchor="ctr"/>
          <a:lstStyle/>
          <a:p>
            <a:pPr algn="ctr" indent="0" marL="0">
              <a:buNone/>
            </a:pPr>
            <a:r>
              <a:rPr lang="en-US" sz="800" b="1" dirty="0">
                <a:solidFill>
                  <a:srgbClr val="7C3AED"/>
                </a:solidFill>
                <a:latin typeface="Calibri" pitchFamily="34" charset="0"/>
                <a:ea typeface="Calibri" pitchFamily="34" charset="-122"/>
                <a:cs typeface="Calibri" pitchFamily="34" charset="-120"/>
              </a:rPr>
              <a:t>STAGE 5</a:t>
            </a:r>
            <a:endParaRPr lang="en-US" sz="800" dirty="0"/>
          </a:p>
        </p:txBody>
      </p:sp>
      <p:sp>
        <p:nvSpPr>
          <p:cNvPr id="33" name="Shape 31"/>
          <p:cNvSpPr/>
          <p:nvPr/>
        </p:nvSpPr>
        <p:spPr>
          <a:xfrm>
            <a:off x="9509760" y="1600200"/>
            <a:ext cx="1920240" cy="868680"/>
          </a:xfrm>
          <a:prstGeom prst="roundRect">
            <a:avLst>
              <a:gd name="adj" fmla="val 6316"/>
            </a:avLst>
          </a:prstGeom>
          <a:solidFill>
            <a:srgbClr val="F5F3FF"/>
          </a:solidFill>
          <a:ln w="15240">
            <a:solidFill>
              <a:srgbClr val="7C3AED"/>
            </a:solidFill>
            <a:prstDash val="solid"/>
          </a:ln>
        </p:spPr>
      </p:sp>
      <p:sp>
        <p:nvSpPr>
          <p:cNvPr id="34" name="Text 32"/>
          <p:cNvSpPr/>
          <p:nvPr/>
        </p:nvSpPr>
        <p:spPr>
          <a:xfrm>
            <a:off x="9564624" y="1636776"/>
            <a:ext cx="1810512" cy="795528"/>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ATS Scoring &amp;</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Gap Report</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Weighted algorithm</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JSON advice payload</a:t>
            </a:r>
            <a:endParaRPr lang="en-US" sz="850" dirty="0"/>
          </a:p>
        </p:txBody>
      </p:sp>
      <p:sp>
        <p:nvSpPr>
          <p:cNvPr id="35" name="Shape 33"/>
          <p:cNvSpPr/>
          <p:nvPr/>
        </p:nvSpPr>
        <p:spPr>
          <a:xfrm>
            <a:off x="731520" y="2697480"/>
            <a:ext cx="5212080" cy="3566160"/>
          </a:xfrm>
          <a:prstGeom prst="roundRect">
            <a:avLst>
              <a:gd name="adj" fmla="val 2051"/>
            </a:avLst>
          </a:prstGeom>
          <a:solidFill>
            <a:srgbClr val="FFFFFF"/>
          </a:solidFill>
          <a:ln w="12700">
            <a:solidFill>
              <a:srgbClr val="CBD5E1"/>
            </a:solidFill>
            <a:prstDash val="solid"/>
          </a:ln>
        </p:spPr>
      </p:sp>
      <p:sp>
        <p:nvSpPr>
          <p:cNvPr id="36" name="Shape 34"/>
          <p:cNvSpPr/>
          <p:nvPr/>
        </p:nvSpPr>
        <p:spPr>
          <a:xfrm>
            <a:off x="1005840" y="2788920"/>
            <a:ext cx="2743200" cy="237744"/>
          </a:xfrm>
          <a:prstGeom prst="roundRect">
            <a:avLst>
              <a:gd name="adj" fmla="val 15385"/>
            </a:avLst>
          </a:prstGeom>
          <a:solidFill>
            <a:srgbClr val="EDE9FE"/>
          </a:solidFill>
          <a:ln w="7620">
            <a:solidFill>
              <a:srgbClr val="7C3AED"/>
            </a:solidFill>
            <a:prstDash val="solid"/>
          </a:ln>
        </p:spPr>
      </p:sp>
      <p:sp>
        <p:nvSpPr>
          <p:cNvPr id="37" name="Text 35"/>
          <p:cNvSpPr/>
          <p:nvPr/>
        </p:nvSpPr>
        <p:spPr>
          <a:xfrm>
            <a:off x="1005840" y="2788920"/>
            <a:ext cx="2743200" cy="237744"/>
          </a:xfrm>
          <a:prstGeom prst="rect">
            <a:avLst/>
          </a:prstGeom>
          <a:noFill/>
          <a:ln/>
        </p:spPr>
        <p:txBody>
          <a:bodyPr wrap="square" rtlCol="0" anchor="ctr"/>
          <a:lstStyle/>
          <a:p>
            <a:pPr algn="ctr" indent="0" marL="0">
              <a:buNone/>
            </a:pPr>
            <a:r>
              <a:rPr lang="en-US" sz="850" b="1" spc="200" kern="0" dirty="0">
                <a:solidFill>
                  <a:srgbClr val="7C3AED"/>
                </a:solidFill>
                <a:latin typeface="Calibri" pitchFamily="34" charset="0"/>
                <a:ea typeface="Calibri" pitchFamily="34" charset="-122"/>
                <a:cs typeface="Calibri" pitchFamily="34" charset="-120"/>
              </a:rPr>
              <a:t>PIPELINE EXECUTION TRACE</a:t>
            </a:r>
            <a:endParaRPr lang="en-US" sz="850" dirty="0"/>
          </a:p>
        </p:txBody>
      </p:sp>
      <p:sp>
        <p:nvSpPr>
          <p:cNvPr id="38" name="Text 36"/>
          <p:cNvSpPr/>
          <p:nvPr/>
        </p:nvSpPr>
        <p:spPr>
          <a:xfrm>
            <a:off x="914400" y="3108960"/>
            <a:ext cx="4846320" cy="5120640"/>
          </a:xfrm>
          <a:prstGeom prst="rect">
            <a:avLst/>
          </a:prstGeom>
          <a:noFill/>
          <a:ln/>
        </p:spPr>
        <p:txBody>
          <a:bodyPr wrap="square" rtlCol="0" anchor="t"/>
          <a:lstStyle/>
          <a:p>
            <a:pPr>
              <a:lnSpc>
                <a:spcPct val="135000"/>
              </a:lnSpc>
              <a:spcAft>
                <a:spcPts val="700"/>
              </a:spcAft>
            </a:pPr>
            <a:r>
              <a:rPr lang="en-US" sz="1000" dirty="0">
                <a:solidFill>
                  <a:srgbClr val="334155"/>
                </a:solidFill>
                <a:latin typeface="Calibri" pitchFamily="34" charset="0"/>
                <a:ea typeface="Calibri" pitchFamily="34" charset="-122"/>
                <a:cs typeface="Calibri" pitchFamily="34" charset="-120"/>
              </a:rPr>
              <a:t>1. Ingestion: Express route receives multipart/form-data via Multer, validates file extension (.pdf, .docx), enforces 5MB size ceiling.</a:t>
            </a:r>
            <a:endParaRPr lang="en-US" sz="1000" dirty="0"/>
          </a:p>
          <a:p>
            <a:pPr>
              <a:lnSpc>
                <a:spcPct val="135000"/>
              </a:lnSpc>
              <a:spcAft>
                <a:spcPts val="700"/>
              </a:spcAft>
            </a:pPr>
            <a:r>
              <a:rPr lang="en-US" sz="1000" dirty="0">
                <a:solidFill>
                  <a:srgbClr val="334155"/>
                </a:solidFill>
                <a:latin typeface="Calibri" pitchFamily="34" charset="0"/>
                <a:ea typeface="Calibri" pitchFamily="34" charset="-122"/>
                <a:cs typeface="Calibri" pitchFamily="34" charset="-120"/>
              </a:rPr>
              <a:t>2. Text Extraction: Buffer piped to pdf-parse for PDF documents; mammoth.extractRawText for Microsoft Word .docx structures.</a:t>
            </a:r>
            <a:endParaRPr lang="en-US" sz="1000" dirty="0"/>
          </a:p>
          <a:p>
            <a:pPr>
              <a:lnSpc>
                <a:spcPct val="135000"/>
              </a:lnSpc>
              <a:spcAft>
                <a:spcPts val="700"/>
              </a:spcAft>
            </a:pPr>
            <a:r>
              <a:rPr lang="en-US" sz="1000" dirty="0">
                <a:solidFill>
                  <a:srgbClr val="334155"/>
                </a:solidFill>
                <a:latin typeface="Calibri" pitchFamily="34" charset="0"/>
                <a:ea typeface="Calibri" pitchFamily="34" charset="-122"/>
                <a:cs typeface="Calibri" pitchFamily="34" charset="-120"/>
              </a:rPr>
              <a:t>3. Normalization: RegEx strips email headers, hyperlinks, page markers, and non-ASCII glyphs; converts all characters to lowercase.</a:t>
            </a:r>
            <a:endParaRPr lang="en-US" sz="1000" dirty="0"/>
          </a:p>
          <a:p>
            <a:pPr>
              <a:lnSpc>
                <a:spcPct val="135000"/>
              </a:lnSpc>
              <a:spcAft>
                <a:spcPts val="700"/>
              </a:spcAft>
            </a:pPr>
            <a:r>
              <a:rPr lang="en-US" sz="1000" dirty="0">
                <a:solidFill>
                  <a:srgbClr val="334155"/>
                </a:solidFill>
                <a:latin typeface="Calibri" pitchFamily="34" charset="0"/>
                <a:ea typeface="Calibri" pitchFamily="34" charset="-122"/>
                <a:cs typeface="Calibri" pitchFamily="34" charset="-120"/>
              </a:rPr>
              <a:t>4. Skill Tokenization: Normalized tokens cross-referenced with Taxonomy index (Languages, Frameworks, Cloud, Databases).</a:t>
            </a:r>
            <a:endParaRPr lang="en-US" sz="1000" dirty="0"/>
          </a:p>
          <a:p>
            <a:pPr>
              <a:lnSpc>
                <a:spcPct val="135000"/>
              </a:lnSpc>
              <a:spcAft>
                <a:spcPts val="700"/>
              </a:spcAft>
            </a:pPr>
            <a:r>
              <a:rPr lang="en-US" sz="1000" dirty="0">
                <a:solidFill>
                  <a:srgbClr val="334155"/>
                </a:solidFill>
                <a:latin typeface="Calibri" pitchFamily="34" charset="0"/>
                <a:ea typeface="Calibri" pitchFamily="34" charset="-122"/>
                <a:cs typeface="Calibri" pitchFamily="34" charset="-120"/>
              </a:rPr>
              <a:t>5. Gap Identification: Set difference computes missing mandatory keywords required by the recruiter job specification.</a:t>
            </a:r>
            <a:endParaRPr lang="en-US" sz="1000" dirty="0"/>
          </a:p>
          <a:p>
            <a:pPr>
              <a:lnSpc>
                <a:spcPct val="135000"/>
              </a:lnSpc>
              <a:spcAft>
                <a:spcPts val="700"/>
              </a:spcAft>
            </a:pPr>
            <a:r>
              <a:rPr lang="en-US" sz="1000" dirty="0">
                <a:solidFill>
                  <a:srgbClr val="334155"/>
                </a:solidFill>
                <a:latin typeface="Calibri" pitchFamily="34" charset="0"/>
                <a:ea typeface="Calibri" pitchFamily="34" charset="-122"/>
                <a:cs typeface="Calibri" pitchFamily="34" charset="-120"/>
              </a:rPr>
              <a:t>6. Response Synthesis: Outputs structured score (0–100%), list of matched skills, missing keywords, and actionable tips for ALTS students.</a:t>
            </a:r>
            <a:endParaRPr lang="en-US" sz="1000" dirty="0"/>
          </a:p>
        </p:txBody>
      </p:sp>
      <p:sp>
        <p:nvSpPr>
          <p:cNvPr id="39" name="Shape 37"/>
          <p:cNvSpPr/>
          <p:nvPr/>
        </p:nvSpPr>
        <p:spPr>
          <a:xfrm>
            <a:off x="6217920" y="2697480"/>
            <a:ext cx="5212080" cy="3566160"/>
          </a:xfrm>
          <a:prstGeom prst="roundRect">
            <a:avLst>
              <a:gd name="adj" fmla="val 2051"/>
            </a:avLst>
          </a:prstGeom>
          <a:solidFill>
            <a:srgbClr val="F8FAFC"/>
          </a:solidFill>
          <a:ln w="12700">
            <a:solidFill>
              <a:srgbClr val="CBD5E1"/>
            </a:solidFill>
            <a:prstDash val="solid"/>
          </a:ln>
        </p:spPr>
      </p:sp>
      <p:sp>
        <p:nvSpPr>
          <p:cNvPr id="40" name="Shape 38"/>
          <p:cNvSpPr/>
          <p:nvPr/>
        </p:nvSpPr>
        <p:spPr>
          <a:xfrm>
            <a:off x="6492240" y="2788920"/>
            <a:ext cx="3200400" cy="237744"/>
          </a:xfrm>
          <a:prstGeom prst="roundRect">
            <a:avLst>
              <a:gd name="adj" fmla="val 15385"/>
            </a:avLst>
          </a:prstGeom>
          <a:solidFill>
            <a:srgbClr val="CCFBF1"/>
          </a:solidFill>
          <a:ln w="7620">
            <a:solidFill>
              <a:srgbClr val="0D9488"/>
            </a:solidFill>
            <a:prstDash val="solid"/>
          </a:ln>
        </p:spPr>
      </p:sp>
      <p:sp>
        <p:nvSpPr>
          <p:cNvPr id="41" name="Text 39"/>
          <p:cNvSpPr/>
          <p:nvPr/>
        </p:nvSpPr>
        <p:spPr>
          <a:xfrm>
            <a:off x="6492240" y="2788920"/>
            <a:ext cx="3200400" cy="237744"/>
          </a:xfrm>
          <a:prstGeom prst="rect">
            <a:avLst/>
          </a:prstGeom>
          <a:noFill/>
          <a:ln/>
        </p:spPr>
        <p:txBody>
          <a:bodyPr wrap="square" rtlCol="0" anchor="ctr"/>
          <a:lstStyle/>
          <a:p>
            <a:pPr algn="ctr" indent="0" marL="0">
              <a:buNone/>
            </a:pPr>
            <a:r>
              <a:rPr lang="en-US" sz="850" b="1" spc="200" kern="0" dirty="0">
                <a:solidFill>
                  <a:srgbClr val="0D9488"/>
                </a:solidFill>
                <a:latin typeface="Calibri" pitchFamily="34" charset="0"/>
                <a:ea typeface="Calibri" pitchFamily="34" charset="-122"/>
                <a:cs typeface="Calibri" pitchFamily="34" charset="-120"/>
              </a:rPr>
              <a:t>SAMPLE ATS ANALYSIS JSON PAYLOAD</a:t>
            </a:r>
            <a:endParaRPr lang="en-US" sz="850" dirty="0"/>
          </a:p>
        </p:txBody>
      </p:sp>
      <p:sp>
        <p:nvSpPr>
          <p:cNvPr id="42" name="Text 40"/>
          <p:cNvSpPr/>
          <p:nvPr/>
        </p:nvSpPr>
        <p:spPr>
          <a:xfrm>
            <a:off x="6492240" y="3108960"/>
            <a:ext cx="4663440" cy="3017520"/>
          </a:xfrm>
          <a:prstGeom prst="rect">
            <a:avLst/>
          </a:prstGeom>
          <a:noFill/>
          <a:ln/>
        </p:spPr>
        <p:txBody>
          <a:bodyPr wrap="square" rtlCol="0" anchor="ctr"/>
          <a:lstStyle/>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"candidateId": "651a9f3b2e7c10d",</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"college": "ALTS",</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"jobId": "651a9e8d1b2f4a5",</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"atsScore": 84.5,</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"evaluation": {</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"skillsMatchScore": 90.0,</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"experienceMatchScore": 75.0,</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"cgpaEligibility": true</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"matchedSkills": [</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"React", "Node.js", "Express", "MongoDB", "JavaScript"</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"missingKeywords": [</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"Docker", "AWS", "TypeScript"</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"recommendations": [</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"Add containerization projects to improve score",</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"Highlight TypeScript experience in project descriptions"</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  ]</a:t>
            </a:r>
            <a:endParaRPr lang="en-US" sz="900" dirty="0"/>
          </a:p>
          <a:p>
            <a:pPr indent="0" marL="0">
              <a:lnSpc>
                <a:spcPct val="122000"/>
              </a:lnSpc>
              <a:buNone/>
            </a:pPr>
            <a:r>
              <a:rPr lang="en-US" sz="900" dirty="0">
                <a:solidFill>
                  <a:srgbClr val="0F172A"/>
                </a:solidFill>
                <a:latin typeface="Consolas" pitchFamily="34" charset="0"/>
                <a:ea typeface="Consolas" pitchFamily="34" charset="-122"/>
                <a:cs typeface="Consolas" pitchFamily="34" charset="-120"/>
              </a:rPr>
              <a: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D4ED8"/>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DBEAFE"/>
          </a:solidFill>
          <a:ln w="10160">
            <a:solidFill>
              <a:srgbClr val="1D4ED8"/>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1D4ED8"/>
                </a:solidFill>
                <a:latin typeface="Calibri" pitchFamily="34" charset="0"/>
                <a:ea typeface="Calibri" pitchFamily="34" charset="-122"/>
                <a:cs typeface="Calibri" pitchFamily="34" charset="-120"/>
              </a:rPr>
              <a:t>TECH STACK</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Implementation Details: Tools, Frameworks &amp; Setup</a:t>
            </a:r>
            <a:endParaRPr lang="en-US" sz="2300" dirty="0"/>
          </a:p>
        </p:txBody>
      </p:sp>
      <p:sp>
        <p:nvSpPr>
          <p:cNvPr id="8" name="Shape 6"/>
          <p:cNvSpPr/>
          <p:nvPr/>
        </p:nvSpPr>
        <p:spPr>
          <a:xfrm>
            <a:off x="731520" y="1097280"/>
            <a:ext cx="2194560" cy="32004"/>
          </a:xfrm>
          <a:prstGeom prst="rect">
            <a:avLst/>
          </a:prstGeom>
          <a:solidFill>
            <a:srgbClr val="1D4ED8"/>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1D4ED8"/>
                </a:solidFill>
                <a:latin typeface="Calibri" pitchFamily="34" charset="0"/>
                <a:ea typeface="Calibri" pitchFamily="34" charset="-122"/>
                <a:cs typeface="Calibri" pitchFamily="34" charset="-120"/>
              </a:rPr>
              <a:t>11</a:t>
            </a:r>
            <a:endParaRPr lang="en-US" sz="950" dirty="0"/>
          </a:p>
        </p:txBody>
      </p:sp>
      <p:sp>
        <p:nvSpPr>
          <p:cNvPr id="11" name="Text 9"/>
          <p:cNvSpPr/>
          <p:nvPr/>
        </p:nvSpPr>
        <p:spPr>
          <a:xfrm>
            <a:off x="731520" y="1325880"/>
            <a:ext cx="5120640" cy="256032"/>
          </a:xfrm>
          <a:prstGeom prst="rect">
            <a:avLst/>
          </a:prstGeom>
          <a:noFill/>
          <a:ln/>
        </p:spPr>
        <p:txBody>
          <a:bodyPr wrap="square" rtlCol="0" anchor="ctr"/>
          <a:lstStyle/>
          <a:p>
            <a:pPr indent="0" marL="0">
              <a:buNone/>
            </a:pPr>
            <a:r>
              <a:rPr lang="en-US" sz="850" b="1" spc="200" kern="0" dirty="0">
                <a:solidFill>
                  <a:srgbClr val="1D4ED8"/>
                </a:solidFill>
                <a:latin typeface="Calibri" pitchFamily="34" charset="0"/>
                <a:ea typeface="Calibri" pitchFamily="34" charset="-122"/>
                <a:cs typeface="Calibri" pitchFamily="34" charset="-120"/>
              </a:rPr>
              <a:t>FRONTEND ARCHITECTURE (REACT 18 + VITE)</a:t>
            </a:r>
            <a:endParaRPr lang="en-US" sz="850" dirty="0"/>
          </a:p>
        </p:txBody>
      </p:sp>
      <p:sp>
        <p:nvSpPr>
          <p:cNvPr id="12" name="Shape 10"/>
          <p:cNvSpPr/>
          <p:nvPr/>
        </p:nvSpPr>
        <p:spPr>
          <a:xfrm>
            <a:off x="731520" y="1627632"/>
            <a:ext cx="5120640" cy="329184"/>
          </a:xfrm>
          <a:prstGeom prst="roundRect">
            <a:avLst>
              <a:gd name="adj" fmla="val 11111"/>
            </a:avLst>
          </a:prstGeom>
          <a:solidFill>
            <a:srgbClr val="EFF6FF"/>
          </a:solidFill>
          <a:ln w="6350">
            <a:solidFill>
              <a:srgbClr val="E2E8F0"/>
            </a:solidFill>
            <a:prstDash val="solid"/>
          </a:ln>
        </p:spPr>
      </p:sp>
      <p:sp>
        <p:nvSpPr>
          <p:cNvPr id="13" name="Text 11"/>
          <p:cNvSpPr/>
          <p:nvPr/>
        </p:nvSpPr>
        <p:spPr>
          <a:xfrm>
            <a:off x="868680" y="1627632"/>
            <a:ext cx="1828800" cy="329184"/>
          </a:xfrm>
          <a:prstGeom prst="rect">
            <a:avLst/>
          </a:prstGeom>
          <a:noFill/>
          <a:ln/>
        </p:spPr>
        <p:txBody>
          <a:bodyPr wrap="square"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React 18 + Vite 5</a:t>
            </a:r>
            <a:endParaRPr lang="en-US" sz="950" dirty="0"/>
          </a:p>
        </p:txBody>
      </p:sp>
      <p:sp>
        <p:nvSpPr>
          <p:cNvPr id="14" name="Text 12"/>
          <p:cNvSpPr/>
          <p:nvPr/>
        </p:nvSpPr>
        <p:spPr>
          <a:xfrm>
            <a:off x="2743200" y="1627632"/>
            <a:ext cx="301752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Component-based SPA with instant HMR and ESBuild bundling</a:t>
            </a:r>
            <a:endParaRPr lang="en-US" sz="900" dirty="0"/>
          </a:p>
        </p:txBody>
      </p:sp>
      <p:sp>
        <p:nvSpPr>
          <p:cNvPr id="15" name="Shape 13"/>
          <p:cNvSpPr/>
          <p:nvPr/>
        </p:nvSpPr>
        <p:spPr>
          <a:xfrm>
            <a:off x="731520" y="1993392"/>
            <a:ext cx="5120640" cy="329184"/>
          </a:xfrm>
          <a:prstGeom prst="roundRect">
            <a:avLst>
              <a:gd name="adj" fmla="val 11111"/>
            </a:avLst>
          </a:prstGeom>
          <a:solidFill>
            <a:srgbClr val="FFFFFF"/>
          </a:solidFill>
          <a:ln w="6350">
            <a:solidFill>
              <a:srgbClr val="E2E8F0"/>
            </a:solidFill>
            <a:prstDash val="solid"/>
          </a:ln>
        </p:spPr>
      </p:sp>
      <p:sp>
        <p:nvSpPr>
          <p:cNvPr id="16" name="Text 14"/>
          <p:cNvSpPr/>
          <p:nvPr/>
        </p:nvSpPr>
        <p:spPr>
          <a:xfrm>
            <a:off x="868680" y="1993392"/>
            <a:ext cx="1828800" cy="329184"/>
          </a:xfrm>
          <a:prstGeom prst="rect">
            <a:avLst/>
          </a:prstGeom>
          <a:noFill/>
          <a:ln/>
        </p:spPr>
        <p:txBody>
          <a:bodyPr wrap="square"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React Router v6</a:t>
            </a:r>
            <a:endParaRPr lang="en-US" sz="950" dirty="0"/>
          </a:p>
        </p:txBody>
      </p:sp>
      <p:sp>
        <p:nvSpPr>
          <p:cNvPr id="17" name="Text 15"/>
          <p:cNvSpPr/>
          <p:nvPr/>
        </p:nvSpPr>
        <p:spPr>
          <a:xfrm>
            <a:off x="2743200" y="1993392"/>
            <a:ext cx="301752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Client-side nested routing with RBAC ProtectedRoute wrapper</a:t>
            </a:r>
            <a:endParaRPr lang="en-US" sz="900" dirty="0"/>
          </a:p>
        </p:txBody>
      </p:sp>
      <p:sp>
        <p:nvSpPr>
          <p:cNvPr id="18" name="Shape 16"/>
          <p:cNvSpPr/>
          <p:nvPr/>
        </p:nvSpPr>
        <p:spPr>
          <a:xfrm>
            <a:off x="731520" y="2359152"/>
            <a:ext cx="5120640" cy="329184"/>
          </a:xfrm>
          <a:prstGeom prst="roundRect">
            <a:avLst>
              <a:gd name="adj" fmla="val 11111"/>
            </a:avLst>
          </a:prstGeom>
          <a:solidFill>
            <a:srgbClr val="EFF6FF"/>
          </a:solidFill>
          <a:ln w="6350">
            <a:solidFill>
              <a:srgbClr val="E2E8F0"/>
            </a:solidFill>
            <a:prstDash val="solid"/>
          </a:ln>
        </p:spPr>
      </p:sp>
      <p:sp>
        <p:nvSpPr>
          <p:cNvPr id="19" name="Text 17"/>
          <p:cNvSpPr/>
          <p:nvPr/>
        </p:nvSpPr>
        <p:spPr>
          <a:xfrm>
            <a:off x="868680" y="2359152"/>
            <a:ext cx="1828800" cy="329184"/>
          </a:xfrm>
          <a:prstGeom prst="rect">
            <a:avLst/>
          </a:prstGeom>
          <a:noFill/>
          <a:ln/>
        </p:spPr>
        <p:txBody>
          <a:bodyPr wrap="square"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Context API</a:t>
            </a:r>
            <a:endParaRPr lang="en-US" sz="950" dirty="0"/>
          </a:p>
        </p:txBody>
      </p:sp>
      <p:sp>
        <p:nvSpPr>
          <p:cNvPr id="20" name="Text 18"/>
          <p:cNvSpPr/>
          <p:nvPr/>
        </p:nvSpPr>
        <p:spPr>
          <a:xfrm>
            <a:off x="2743200" y="2359152"/>
            <a:ext cx="301752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Centralized reactive state for AuthSession and Dark/Light theme</a:t>
            </a:r>
            <a:endParaRPr lang="en-US" sz="900" dirty="0"/>
          </a:p>
        </p:txBody>
      </p:sp>
      <p:sp>
        <p:nvSpPr>
          <p:cNvPr id="21" name="Shape 19"/>
          <p:cNvSpPr/>
          <p:nvPr/>
        </p:nvSpPr>
        <p:spPr>
          <a:xfrm>
            <a:off x="731520" y="2724912"/>
            <a:ext cx="5120640" cy="329184"/>
          </a:xfrm>
          <a:prstGeom prst="roundRect">
            <a:avLst>
              <a:gd name="adj" fmla="val 11111"/>
            </a:avLst>
          </a:prstGeom>
          <a:solidFill>
            <a:srgbClr val="FFFFFF"/>
          </a:solidFill>
          <a:ln w="6350">
            <a:solidFill>
              <a:srgbClr val="E2E8F0"/>
            </a:solidFill>
            <a:prstDash val="solid"/>
          </a:ln>
        </p:spPr>
      </p:sp>
      <p:sp>
        <p:nvSpPr>
          <p:cNvPr id="22" name="Text 20"/>
          <p:cNvSpPr/>
          <p:nvPr/>
        </p:nvSpPr>
        <p:spPr>
          <a:xfrm>
            <a:off x="868680" y="2724912"/>
            <a:ext cx="1828800" cy="329184"/>
          </a:xfrm>
          <a:prstGeom prst="rect">
            <a:avLst/>
          </a:prstGeom>
          <a:noFill/>
          <a:ln/>
        </p:spPr>
        <p:txBody>
          <a:bodyPr wrap="square"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Framer Motion</a:t>
            </a:r>
            <a:endParaRPr lang="en-US" sz="950" dirty="0"/>
          </a:p>
        </p:txBody>
      </p:sp>
      <p:sp>
        <p:nvSpPr>
          <p:cNvPr id="23" name="Text 21"/>
          <p:cNvSpPr/>
          <p:nvPr/>
        </p:nvSpPr>
        <p:spPr>
          <a:xfrm>
            <a:off x="2743200" y="2724912"/>
            <a:ext cx="301752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Hardware-accelerated layout transitions and interactive micro-animations</a:t>
            </a:r>
            <a:endParaRPr lang="en-US" sz="900" dirty="0"/>
          </a:p>
        </p:txBody>
      </p:sp>
      <p:sp>
        <p:nvSpPr>
          <p:cNvPr id="24" name="Shape 22"/>
          <p:cNvSpPr/>
          <p:nvPr/>
        </p:nvSpPr>
        <p:spPr>
          <a:xfrm>
            <a:off x="731520" y="3090672"/>
            <a:ext cx="5120640" cy="329184"/>
          </a:xfrm>
          <a:prstGeom prst="roundRect">
            <a:avLst>
              <a:gd name="adj" fmla="val 11111"/>
            </a:avLst>
          </a:prstGeom>
          <a:solidFill>
            <a:srgbClr val="EFF6FF"/>
          </a:solidFill>
          <a:ln w="6350">
            <a:solidFill>
              <a:srgbClr val="E2E8F0"/>
            </a:solidFill>
            <a:prstDash val="solid"/>
          </a:ln>
        </p:spPr>
      </p:sp>
      <p:sp>
        <p:nvSpPr>
          <p:cNvPr id="25" name="Text 23"/>
          <p:cNvSpPr/>
          <p:nvPr/>
        </p:nvSpPr>
        <p:spPr>
          <a:xfrm>
            <a:off x="868680" y="3090672"/>
            <a:ext cx="1828800" cy="329184"/>
          </a:xfrm>
          <a:prstGeom prst="rect">
            <a:avLst/>
          </a:prstGeom>
          <a:noFill/>
          <a:ln/>
        </p:spPr>
        <p:txBody>
          <a:bodyPr wrap="square"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Recharts Library</a:t>
            </a:r>
            <a:endParaRPr lang="en-US" sz="950" dirty="0"/>
          </a:p>
        </p:txBody>
      </p:sp>
      <p:sp>
        <p:nvSpPr>
          <p:cNvPr id="26" name="Text 24"/>
          <p:cNvSpPr/>
          <p:nvPr/>
        </p:nvSpPr>
        <p:spPr>
          <a:xfrm>
            <a:off x="2743200" y="3090672"/>
            <a:ext cx="301752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SVG-based interactive charts for hiring funnel and application trends</a:t>
            </a:r>
            <a:endParaRPr lang="en-US" sz="900" dirty="0"/>
          </a:p>
        </p:txBody>
      </p:sp>
      <p:sp>
        <p:nvSpPr>
          <p:cNvPr id="27" name="Shape 25"/>
          <p:cNvSpPr/>
          <p:nvPr/>
        </p:nvSpPr>
        <p:spPr>
          <a:xfrm>
            <a:off x="731520" y="3456432"/>
            <a:ext cx="5120640" cy="329184"/>
          </a:xfrm>
          <a:prstGeom prst="roundRect">
            <a:avLst>
              <a:gd name="adj" fmla="val 11111"/>
            </a:avLst>
          </a:prstGeom>
          <a:solidFill>
            <a:srgbClr val="FFFFFF"/>
          </a:solidFill>
          <a:ln w="6350">
            <a:solidFill>
              <a:srgbClr val="E2E8F0"/>
            </a:solidFill>
            <a:prstDash val="solid"/>
          </a:ln>
        </p:spPr>
      </p:sp>
      <p:sp>
        <p:nvSpPr>
          <p:cNvPr id="28" name="Text 26"/>
          <p:cNvSpPr/>
          <p:nvPr/>
        </p:nvSpPr>
        <p:spPr>
          <a:xfrm>
            <a:off x="868680" y="3456432"/>
            <a:ext cx="1828800" cy="329184"/>
          </a:xfrm>
          <a:prstGeom prst="rect">
            <a:avLst/>
          </a:prstGeom>
          <a:noFill/>
          <a:ln/>
        </p:spPr>
        <p:txBody>
          <a:bodyPr wrap="square"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Lucide React</a:t>
            </a:r>
            <a:endParaRPr lang="en-US" sz="950" dirty="0"/>
          </a:p>
        </p:txBody>
      </p:sp>
      <p:sp>
        <p:nvSpPr>
          <p:cNvPr id="29" name="Text 27"/>
          <p:cNvSpPr/>
          <p:nvPr/>
        </p:nvSpPr>
        <p:spPr>
          <a:xfrm>
            <a:off x="2743200" y="3456432"/>
            <a:ext cx="301752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Consistent, accessible SVG iconography system across all pages</a:t>
            </a:r>
            <a:endParaRPr lang="en-US" sz="900" dirty="0"/>
          </a:p>
        </p:txBody>
      </p:sp>
      <p:sp>
        <p:nvSpPr>
          <p:cNvPr id="30" name="Shape 28"/>
          <p:cNvSpPr/>
          <p:nvPr/>
        </p:nvSpPr>
        <p:spPr>
          <a:xfrm>
            <a:off x="731520" y="3822192"/>
            <a:ext cx="5120640" cy="329184"/>
          </a:xfrm>
          <a:prstGeom prst="roundRect">
            <a:avLst>
              <a:gd name="adj" fmla="val 11111"/>
            </a:avLst>
          </a:prstGeom>
          <a:solidFill>
            <a:srgbClr val="EFF6FF"/>
          </a:solidFill>
          <a:ln w="6350">
            <a:solidFill>
              <a:srgbClr val="E2E8F0"/>
            </a:solidFill>
            <a:prstDash val="solid"/>
          </a:ln>
        </p:spPr>
      </p:sp>
      <p:sp>
        <p:nvSpPr>
          <p:cNvPr id="31" name="Text 29"/>
          <p:cNvSpPr/>
          <p:nvPr/>
        </p:nvSpPr>
        <p:spPr>
          <a:xfrm>
            <a:off x="868680" y="3822192"/>
            <a:ext cx="1828800" cy="329184"/>
          </a:xfrm>
          <a:prstGeom prst="rect">
            <a:avLst/>
          </a:prstGeom>
          <a:noFill/>
          <a:ln/>
        </p:spPr>
        <p:txBody>
          <a:bodyPr wrap="square"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Vanilla CSS Design</a:t>
            </a:r>
            <a:endParaRPr lang="en-US" sz="950" dirty="0"/>
          </a:p>
        </p:txBody>
      </p:sp>
      <p:sp>
        <p:nvSpPr>
          <p:cNvPr id="32" name="Text 30"/>
          <p:cNvSpPr/>
          <p:nvPr/>
        </p:nvSpPr>
        <p:spPr>
          <a:xfrm>
            <a:off x="2743200" y="3822192"/>
            <a:ext cx="301752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Tokenized CSS custom properties for scalable design tokens</a:t>
            </a:r>
            <a:endParaRPr lang="en-US" sz="900" dirty="0"/>
          </a:p>
        </p:txBody>
      </p:sp>
      <p:sp>
        <p:nvSpPr>
          <p:cNvPr id="33" name="Text 31"/>
          <p:cNvSpPr/>
          <p:nvPr/>
        </p:nvSpPr>
        <p:spPr>
          <a:xfrm>
            <a:off x="6309360" y="1325880"/>
            <a:ext cx="5120640" cy="256032"/>
          </a:xfrm>
          <a:prstGeom prst="rect">
            <a:avLst/>
          </a:prstGeom>
          <a:noFill/>
          <a:ln/>
        </p:spPr>
        <p:txBody>
          <a:bodyPr wrap="square" rtlCol="0" anchor="ctr"/>
          <a:lstStyle/>
          <a:p>
            <a:pPr indent="0" marL="0">
              <a:buNone/>
            </a:pPr>
            <a:r>
              <a:rPr lang="en-US" sz="850" b="1" spc="200" kern="0" dirty="0">
                <a:solidFill>
                  <a:srgbClr val="4338CA"/>
                </a:solidFill>
                <a:latin typeface="Calibri" pitchFamily="34" charset="0"/>
                <a:ea typeface="Calibri" pitchFamily="34" charset="-122"/>
                <a:cs typeface="Calibri" pitchFamily="34" charset="-120"/>
              </a:rPr>
              <a:t>BACKEND ARCHITECTURE (NODE.JS + EXPRESS)</a:t>
            </a:r>
            <a:endParaRPr lang="en-US" sz="850" dirty="0"/>
          </a:p>
        </p:txBody>
      </p:sp>
      <p:sp>
        <p:nvSpPr>
          <p:cNvPr id="34" name="Shape 32"/>
          <p:cNvSpPr/>
          <p:nvPr/>
        </p:nvSpPr>
        <p:spPr>
          <a:xfrm>
            <a:off x="6309360" y="1627632"/>
            <a:ext cx="5120640" cy="329184"/>
          </a:xfrm>
          <a:prstGeom prst="roundRect">
            <a:avLst>
              <a:gd name="adj" fmla="val 11111"/>
            </a:avLst>
          </a:prstGeom>
          <a:solidFill>
            <a:srgbClr val="EEF2FF"/>
          </a:solidFill>
          <a:ln w="6350">
            <a:solidFill>
              <a:srgbClr val="E2E8F0"/>
            </a:solidFill>
            <a:prstDash val="solid"/>
          </a:ln>
        </p:spPr>
      </p:sp>
      <p:sp>
        <p:nvSpPr>
          <p:cNvPr id="35" name="Text 33"/>
          <p:cNvSpPr/>
          <p:nvPr/>
        </p:nvSpPr>
        <p:spPr>
          <a:xfrm>
            <a:off x="6446520" y="1627632"/>
            <a:ext cx="1920240" cy="329184"/>
          </a:xfrm>
          <a:prstGeom prst="rect">
            <a:avLst/>
          </a:prstGeom>
          <a:noFill/>
          <a:ln/>
        </p:spPr>
        <p:txBody>
          <a:bodyPr wrap="square" rtlCol="0" anchor="ctr"/>
          <a:lstStyle/>
          <a:p>
            <a:pPr indent="0" marL="0">
              <a:buNone/>
            </a:pPr>
            <a:r>
              <a:rPr lang="en-US" sz="950" b="1" dirty="0">
                <a:solidFill>
                  <a:srgbClr val="4338CA"/>
                </a:solidFill>
                <a:latin typeface="Calibri" pitchFamily="34" charset="0"/>
                <a:ea typeface="Calibri" pitchFamily="34" charset="-122"/>
                <a:cs typeface="Calibri" pitchFamily="34" charset="-120"/>
              </a:rPr>
              <a:t>Node.js + Express.js</a:t>
            </a:r>
            <a:endParaRPr lang="en-US" sz="950" dirty="0"/>
          </a:p>
        </p:txBody>
      </p:sp>
      <p:sp>
        <p:nvSpPr>
          <p:cNvPr id="36" name="Text 34"/>
          <p:cNvSpPr/>
          <p:nvPr/>
        </p:nvSpPr>
        <p:spPr>
          <a:xfrm>
            <a:off x="8412480" y="1627632"/>
            <a:ext cx="292608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Asynchronous non-blocking runtime and RESTful API framework</a:t>
            </a:r>
            <a:endParaRPr lang="en-US" sz="900" dirty="0"/>
          </a:p>
        </p:txBody>
      </p:sp>
      <p:sp>
        <p:nvSpPr>
          <p:cNvPr id="37" name="Shape 35"/>
          <p:cNvSpPr/>
          <p:nvPr/>
        </p:nvSpPr>
        <p:spPr>
          <a:xfrm>
            <a:off x="6309360" y="1993392"/>
            <a:ext cx="5120640" cy="329184"/>
          </a:xfrm>
          <a:prstGeom prst="roundRect">
            <a:avLst>
              <a:gd name="adj" fmla="val 11111"/>
            </a:avLst>
          </a:prstGeom>
          <a:solidFill>
            <a:srgbClr val="FFFFFF"/>
          </a:solidFill>
          <a:ln w="6350">
            <a:solidFill>
              <a:srgbClr val="E2E8F0"/>
            </a:solidFill>
            <a:prstDash val="solid"/>
          </a:ln>
        </p:spPr>
      </p:sp>
      <p:sp>
        <p:nvSpPr>
          <p:cNvPr id="38" name="Text 36"/>
          <p:cNvSpPr/>
          <p:nvPr/>
        </p:nvSpPr>
        <p:spPr>
          <a:xfrm>
            <a:off x="6446520" y="1993392"/>
            <a:ext cx="1920240" cy="329184"/>
          </a:xfrm>
          <a:prstGeom prst="rect">
            <a:avLst/>
          </a:prstGeom>
          <a:noFill/>
          <a:ln/>
        </p:spPr>
        <p:txBody>
          <a:bodyPr wrap="square" rtlCol="0" anchor="ctr"/>
          <a:lstStyle/>
          <a:p>
            <a:pPr indent="0" marL="0">
              <a:buNone/>
            </a:pPr>
            <a:r>
              <a:rPr lang="en-US" sz="950" b="1" dirty="0">
                <a:solidFill>
                  <a:srgbClr val="4338CA"/>
                </a:solidFill>
                <a:latin typeface="Calibri" pitchFamily="34" charset="0"/>
                <a:ea typeface="Calibri" pitchFamily="34" charset="-122"/>
                <a:cs typeface="Calibri" pitchFamily="34" charset="-120"/>
              </a:rPr>
              <a:t>MongoDB + Mongoose</a:t>
            </a:r>
            <a:endParaRPr lang="en-US" sz="950" dirty="0"/>
          </a:p>
        </p:txBody>
      </p:sp>
      <p:sp>
        <p:nvSpPr>
          <p:cNvPr id="39" name="Text 37"/>
          <p:cNvSpPr/>
          <p:nvPr/>
        </p:nvSpPr>
        <p:spPr>
          <a:xfrm>
            <a:off x="8412480" y="1993392"/>
            <a:ext cx="292608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Document database with structured schemas, validations, and hooks</a:t>
            </a:r>
            <a:endParaRPr lang="en-US" sz="900" dirty="0"/>
          </a:p>
        </p:txBody>
      </p:sp>
      <p:sp>
        <p:nvSpPr>
          <p:cNvPr id="40" name="Shape 38"/>
          <p:cNvSpPr/>
          <p:nvPr/>
        </p:nvSpPr>
        <p:spPr>
          <a:xfrm>
            <a:off x="6309360" y="2359152"/>
            <a:ext cx="5120640" cy="329184"/>
          </a:xfrm>
          <a:prstGeom prst="roundRect">
            <a:avLst>
              <a:gd name="adj" fmla="val 11111"/>
            </a:avLst>
          </a:prstGeom>
          <a:solidFill>
            <a:srgbClr val="EEF2FF"/>
          </a:solidFill>
          <a:ln w="6350">
            <a:solidFill>
              <a:srgbClr val="E2E8F0"/>
            </a:solidFill>
            <a:prstDash val="solid"/>
          </a:ln>
        </p:spPr>
      </p:sp>
      <p:sp>
        <p:nvSpPr>
          <p:cNvPr id="41" name="Text 39"/>
          <p:cNvSpPr/>
          <p:nvPr/>
        </p:nvSpPr>
        <p:spPr>
          <a:xfrm>
            <a:off x="6446520" y="2359152"/>
            <a:ext cx="1920240" cy="329184"/>
          </a:xfrm>
          <a:prstGeom prst="rect">
            <a:avLst/>
          </a:prstGeom>
          <a:noFill/>
          <a:ln/>
        </p:spPr>
        <p:txBody>
          <a:bodyPr wrap="square" rtlCol="0" anchor="ctr"/>
          <a:lstStyle/>
          <a:p>
            <a:pPr indent="0" marL="0">
              <a:buNone/>
            </a:pPr>
            <a:r>
              <a:rPr lang="en-US" sz="950" b="1" dirty="0">
                <a:solidFill>
                  <a:srgbClr val="4338CA"/>
                </a:solidFill>
                <a:latin typeface="Calibri" pitchFamily="34" charset="0"/>
                <a:ea typeface="Calibri" pitchFamily="34" charset="-122"/>
                <a:cs typeface="Calibri" pitchFamily="34" charset="-120"/>
              </a:rPr>
              <a:t>JWT + bcryptjs</a:t>
            </a:r>
            <a:endParaRPr lang="en-US" sz="950" dirty="0"/>
          </a:p>
        </p:txBody>
      </p:sp>
      <p:sp>
        <p:nvSpPr>
          <p:cNvPr id="42" name="Text 40"/>
          <p:cNvSpPr/>
          <p:nvPr/>
        </p:nvSpPr>
        <p:spPr>
          <a:xfrm>
            <a:off x="8412480" y="2359152"/>
            <a:ext cx="292608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Cryptographic token generation and salted password hashing</a:t>
            </a:r>
            <a:endParaRPr lang="en-US" sz="900" dirty="0"/>
          </a:p>
        </p:txBody>
      </p:sp>
      <p:sp>
        <p:nvSpPr>
          <p:cNvPr id="43" name="Shape 41"/>
          <p:cNvSpPr/>
          <p:nvPr/>
        </p:nvSpPr>
        <p:spPr>
          <a:xfrm>
            <a:off x="6309360" y="2724912"/>
            <a:ext cx="5120640" cy="329184"/>
          </a:xfrm>
          <a:prstGeom prst="roundRect">
            <a:avLst>
              <a:gd name="adj" fmla="val 11111"/>
            </a:avLst>
          </a:prstGeom>
          <a:solidFill>
            <a:srgbClr val="FFFFFF"/>
          </a:solidFill>
          <a:ln w="6350">
            <a:solidFill>
              <a:srgbClr val="E2E8F0"/>
            </a:solidFill>
            <a:prstDash val="solid"/>
          </a:ln>
        </p:spPr>
      </p:sp>
      <p:sp>
        <p:nvSpPr>
          <p:cNvPr id="44" name="Text 42"/>
          <p:cNvSpPr/>
          <p:nvPr/>
        </p:nvSpPr>
        <p:spPr>
          <a:xfrm>
            <a:off x="6446520" y="2724912"/>
            <a:ext cx="1920240" cy="329184"/>
          </a:xfrm>
          <a:prstGeom prst="rect">
            <a:avLst/>
          </a:prstGeom>
          <a:noFill/>
          <a:ln/>
        </p:spPr>
        <p:txBody>
          <a:bodyPr wrap="square" rtlCol="0" anchor="ctr"/>
          <a:lstStyle/>
          <a:p>
            <a:pPr indent="0" marL="0">
              <a:buNone/>
            </a:pPr>
            <a:r>
              <a:rPr lang="en-US" sz="950" b="1" dirty="0">
                <a:solidFill>
                  <a:srgbClr val="4338CA"/>
                </a:solidFill>
                <a:latin typeface="Calibri" pitchFamily="34" charset="0"/>
                <a:ea typeface="Calibri" pitchFamily="34" charset="-122"/>
                <a:cs typeface="Calibri" pitchFamily="34" charset="-120"/>
              </a:rPr>
              <a:t>NodeMailer Client</a:t>
            </a:r>
            <a:endParaRPr lang="en-US" sz="950" dirty="0"/>
          </a:p>
        </p:txBody>
      </p:sp>
      <p:sp>
        <p:nvSpPr>
          <p:cNvPr id="45" name="Text 43"/>
          <p:cNvSpPr/>
          <p:nvPr/>
        </p:nvSpPr>
        <p:spPr>
          <a:xfrm>
            <a:off x="8412480" y="2724912"/>
            <a:ext cx="292608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SMTP transport client generating multipart HTML notification emails</a:t>
            </a:r>
            <a:endParaRPr lang="en-US" sz="900" dirty="0"/>
          </a:p>
        </p:txBody>
      </p:sp>
      <p:sp>
        <p:nvSpPr>
          <p:cNvPr id="46" name="Shape 44"/>
          <p:cNvSpPr/>
          <p:nvPr/>
        </p:nvSpPr>
        <p:spPr>
          <a:xfrm>
            <a:off x="6309360" y="3090672"/>
            <a:ext cx="5120640" cy="329184"/>
          </a:xfrm>
          <a:prstGeom prst="roundRect">
            <a:avLst>
              <a:gd name="adj" fmla="val 11111"/>
            </a:avLst>
          </a:prstGeom>
          <a:solidFill>
            <a:srgbClr val="EEF2FF"/>
          </a:solidFill>
          <a:ln w="6350">
            <a:solidFill>
              <a:srgbClr val="E2E8F0"/>
            </a:solidFill>
            <a:prstDash val="solid"/>
          </a:ln>
        </p:spPr>
      </p:sp>
      <p:sp>
        <p:nvSpPr>
          <p:cNvPr id="47" name="Text 45"/>
          <p:cNvSpPr/>
          <p:nvPr/>
        </p:nvSpPr>
        <p:spPr>
          <a:xfrm>
            <a:off x="6446520" y="3090672"/>
            <a:ext cx="1920240" cy="329184"/>
          </a:xfrm>
          <a:prstGeom prst="rect">
            <a:avLst/>
          </a:prstGeom>
          <a:noFill/>
          <a:ln/>
        </p:spPr>
        <p:txBody>
          <a:bodyPr wrap="square" rtlCol="0" anchor="ctr"/>
          <a:lstStyle/>
          <a:p>
            <a:pPr indent="0" marL="0">
              <a:buNone/>
            </a:pPr>
            <a:r>
              <a:rPr lang="en-US" sz="950" b="1" dirty="0">
                <a:solidFill>
                  <a:srgbClr val="4338CA"/>
                </a:solidFill>
                <a:latin typeface="Calibri" pitchFamily="34" charset="0"/>
                <a:ea typeface="Calibri" pitchFamily="34" charset="-122"/>
                <a:cs typeface="Calibri" pitchFamily="34" charset="-120"/>
              </a:rPr>
              <a:t>Multer Middleware</a:t>
            </a:r>
            <a:endParaRPr lang="en-US" sz="950" dirty="0"/>
          </a:p>
        </p:txBody>
      </p:sp>
      <p:sp>
        <p:nvSpPr>
          <p:cNvPr id="48" name="Text 46"/>
          <p:cNvSpPr/>
          <p:nvPr/>
        </p:nvSpPr>
        <p:spPr>
          <a:xfrm>
            <a:off x="8412480" y="3090672"/>
            <a:ext cx="292608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Streaming multipart/form-data handler for resume uploads</a:t>
            </a:r>
            <a:endParaRPr lang="en-US" sz="900" dirty="0"/>
          </a:p>
        </p:txBody>
      </p:sp>
      <p:sp>
        <p:nvSpPr>
          <p:cNvPr id="49" name="Shape 47"/>
          <p:cNvSpPr/>
          <p:nvPr/>
        </p:nvSpPr>
        <p:spPr>
          <a:xfrm>
            <a:off x="6309360" y="3456432"/>
            <a:ext cx="5120640" cy="329184"/>
          </a:xfrm>
          <a:prstGeom prst="roundRect">
            <a:avLst>
              <a:gd name="adj" fmla="val 11111"/>
            </a:avLst>
          </a:prstGeom>
          <a:solidFill>
            <a:srgbClr val="FFFFFF"/>
          </a:solidFill>
          <a:ln w="6350">
            <a:solidFill>
              <a:srgbClr val="E2E8F0"/>
            </a:solidFill>
            <a:prstDash val="solid"/>
          </a:ln>
        </p:spPr>
      </p:sp>
      <p:sp>
        <p:nvSpPr>
          <p:cNvPr id="50" name="Text 48"/>
          <p:cNvSpPr/>
          <p:nvPr/>
        </p:nvSpPr>
        <p:spPr>
          <a:xfrm>
            <a:off x="6446520" y="3456432"/>
            <a:ext cx="1920240" cy="329184"/>
          </a:xfrm>
          <a:prstGeom prst="rect">
            <a:avLst/>
          </a:prstGeom>
          <a:noFill/>
          <a:ln/>
        </p:spPr>
        <p:txBody>
          <a:bodyPr wrap="square" rtlCol="0" anchor="ctr"/>
          <a:lstStyle/>
          <a:p>
            <a:pPr indent="0" marL="0">
              <a:buNone/>
            </a:pPr>
            <a:r>
              <a:rPr lang="en-US" sz="950" b="1" dirty="0">
                <a:solidFill>
                  <a:srgbClr val="4338CA"/>
                </a:solidFill>
                <a:latin typeface="Calibri" pitchFamily="34" charset="0"/>
                <a:ea typeface="Calibri" pitchFamily="34" charset="-122"/>
                <a:cs typeface="Calibri" pitchFamily="34" charset="-120"/>
              </a:rPr>
              <a:t>pdf-parse Engine</a:t>
            </a:r>
            <a:endParaRPr lang="en-US" sz="950" dirty="0"/>
          </a:p>
        </p:txBody>
      </p:sp>
      <p:sp>
        <p:nvSpPr>
          <p:cNvPr id="51" name="Text 49"/>
          <p:cNvSpPr/>
          <p:nvPr/>
        </p:nvSpPr>
        <p:spPr>
          <a:xfrm>
            <a:off x="8412480" y="3456432"/>
            <a:ext cx="292608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Server-side PDF stream decoder extracting raw text buffers</a:t>
            </a:r>
            <a:endParaRPr lang="en-US" sz="900" dirty="0"/>
          </a:p>
        </p:txBody>
      </p:sp>
      <p:sp>
        <p:nvSpPr>
          <p:cNvPr id="52" name="Shape 50"/>
          <p:cNvSpPr/>
          <p:nvPr/>
        </p:nvSpPr>
        <p:spPr>
          <a:xfrm>
            <a:off x="6309360" y="3822192"/>
            <a:ext cx="5120640" cy="329184"/>
          </a:xfrm>
          <a:prstGeom prst="roundRect">
            <a:avLst>
              <a:gd name="adj" fmla="val 11111"/>
            </a:avLst>
          </a:prstGeom>
          <a:solidFill>
            <a:srgbClr val="EEF2FF"/>
          </a:solidFill>
          <a:ln w="6350">
            <a:solidFill>
              <a:srgbClr val="E2E8F0"/>
            </a:solidFill>
            <a:prstDash val="solid"/>
          </a:ln>
        </p:spPr>
      </p:sp>
      <p:sp>
        <p:nvSpPr>
          <p:cNvPr id="53" name="Text 51"/>
          <p:cNvSpPr/>
          <p:nvPr/>
        </p:nvSpPr>
        <p:spPr>
          <a:xfrm>
            <a:off x="6446520" y="3822192"/>
            <a:ext cx="1920240" cy="329184"/>
          </a:xfrm>
          <a:prstGeom prst="rect">
            <a:avLst/>
          </a:prstGeom>
          <a:noFill/>
          <a:ln/>
        </p:spPr>
        <p:txBody>
          <a:bodyPr wrap="square" rtlCol="0" anchor="ctr"/>
          <a:lstStyle/>
          <a:p>
            <a:pPr indent="0" marL="0">
              <a:buNone/>
            </a:pPr>
            <a:r>
              <a:rPr lang="en-US" sz="950" b="1" dirty="0">
                <a:solidFill>
                  <a:srgbClr val="4338CA"/>
                </a:solidFill>
                <a:latin typeface="Calibri" pitchFamily="34" charset="0"/>
                <a:ea typeface="Calibri" pitchFamily="34" charset="-122"/>
                <a:cs typeface="Calibri" pitchFamily="34" charset="-120"/>
              </a:rPr>
              <a:t>Mammoth.js</a:t>
            </a:r>
            <a:endParaRPr lang="en-US" sz="950" dirty="0"/>
          </a:p>
        </p:txBody>
      </p:sp>
      <p:sp>
        <p:nvSpPr>
          <p:cNvPr id="54" name="Text 52"/>
          <p:cNvSpPr/>
          <p:nvPr/>
        </p:nvSpPr>
        <p:spPr>
          <a:xfrm>
            <a:off x="8412480" y="3822192"/>
            <a:ext cx="292608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DOCX parser converting OpenXML structures to clean strings</a:t>
            </a:r>
            <a:endParaRPr lang="en-US" sz="900" dirty="0"/>
          </a:p>
        </p:txBody>
      </p:sp>
      <p:sp>
        <p:nvSpPr>
          <p:cNvPr id="55" name="Text 53"/>
          <p:cNvSpPr/>
          <p:nvPr/>
        </p:nvSpPr>
        <p:spPr>
          <a:xfrm>
            <a:off x="731520" y="4389120"/>
            <a:ext cx="5486400" cy="256032"/>
          </a:xfrm>
          <a:prstGeom prst="rect">
            <a:avLst/>
          </a:prstGeom>
          <a:noFill/>
          <a:ln/>
        </p:spPr>
        <p:txBody>
          <a:bodyPr wrap="square" rtlCol="0" anchor="ctr"/>
          <a:lstStyle/>
          <a:p>
            <a:pPr indent="0" marL="0">
              <a:buNone/>
            </a:pPr>
            <a:r>
              <a:rPr lang="en-US" sz="850" b="1" spc="200" kern="0" dirty="0">
                <a:solidFill>
                  <a:srgbClr val="0F172A"/>
                </a:solidFill>
                <a:latin typeface="Calibri" pitchFamily="34" charset="0"/>
                <a:ea typeface="Calibri" pitchFamily="34" charset="-122"/>
                <a:cs typeface="Calibri" pitchFamily="34" charset="-120"/>
              </a:rPr>
              <a:t>HARDWARE ENVIRONMENT &amp; DEPLOYMENT SPECS</a:t>
            </a:r>
            <a:endParaRPr lang="en-US" sz="850" dirty="0"/>
          </a:p>
        </p:txBody>
      </p:sp>
      <p:sp>
        <p:nvSpPr>
          <p:cNvPr id="56" name="Text 54"/>
          <p:cNvSpPr/>
          <p:nvPr/>
        </p:nvSpPr>
        <p:spPr>
          <a:xfrm>
            <a:off x="731520" y="4663440"/>
            <a:ext cx="10698480" cy="5120640"/>
          </a:xfrm>
          <a:prstGeom prst="rect">
            <a:avLst/>
          </a:prstGeom>
          <a:noFill/>
          <a:ln/>
        </p:spPr>
        <p:txBody>
          <a:bodyPr wrap="square" rtlCol="0" anchor="t"/>
          <a:lstStyle/>
          <a:p>
            <a:pPr>
              <a:lnSpc>
                <a:spcPct val="135000"/>
              </a:lnSpc>
              <a:spcAft>
                <a:spcPts val="700"/>
              </a:spcAft>
            </a:pPr>
            <a:r>
              <a:rPr lang="en-US" sz="1150" dirty="0">
                <a:solidFill>
                  <a:srgbClr val="334155"/>
                </a:solidFill>
                <a:latin typeface="Calibri" pitchFamily="34" charset="0"/>
                <a:ea typeface="Calibri" pitchFamily="34" charset="-122"/>
                <a:cs typeface="Calibri" pitchFamily="34" charset="-120"/>
              </a:rPr>
              <a:t>Development Workstation: Intel Core i5/i7 (8-Core), 16GB DDR4 RAM, 512GB NVMe SSD, Windows 11 / Linux.</a:t>
            </a:r>
            <a:endParaRPr lang="en-US" sz="1150" dirty="0"/>
          </a:p>
          <a:p>
            <a:pPr>
              <a:lnSpc>
                <a:spcPct val="135000"/>
              </a:lnSpc>
              <a:spcAft>
                <a:spcPts val="700"/>
              </a:spcAft>
            </a:pPr>
            <a:r>
              <a:rPr lang="en-US" sz="1150" dirty="0">
                <a:solidFill>
                  <a:srgbClr val="334155"/>
                </a:solidFill>
                <a:latin typeface="Calibri" pitchFamily="34" charset="0"/>
                <a:ea typeface="Calibri" pitchFamily="34" charset="-122"/>
                <a:cs typeface="Calibri" pitchFamily="34" charset="-120"/>
              </a:rPr>
              <a:t>Runtime Environment: Node.js v18.x LTS, npm v9.x, Git v2.4x for distributed version control.</a:t>
            </a:r>
            <a:endParaRPr lang="en-US" sz="1150" dirty="0"/>
          </a:p>
          <a:p>
            <a:pPr>
              <a:lnSpc>
                <a:spcPct val="135000"/>
              </a:lnSpc>
              <a:spcAft>
                <a:spcPts val="700"/>
              </a:spcAft>
            </a:pPr>
            <a:r>
              <a:rPr lang="en-US" sz="1150" dirty="0">
                <a:solidFill>
                  <a:srgbClr val="334155"/>
                </a:solidFill>
                <a:latin typeface="Calibri" pitchFamily="34" charset="0"/>
                <a:ea typeface="Calibri" pitchFamily="34" charset="-122"/>
                <a:cs typeface="Calibri" pitchFamily="34" charset="-120"/>
              </a:rPr>
              <a:t>Database Cluster: MongoDB Atlas Shared Tier (M0) with auto-scaling replicas and automated index management.</a:t>
            </a:r>
            <a:endParaRPr lang="en-US" sz="1150" dirty="0"/>
          </a:p>
          <a:p>
            <a:pPr>
              <a:lnSpc>
                <a:spcPct val="135000"/>
              </a:lnSpc>
              <a:spcAft>
                <a:spcPts val="700"/>
              </a:spcAft>
            </a:pPr>
            <a:r>
              <a:rPr lang="en-US" sz="1150" dirty="0">
                <a:solidFill>
                  <a:srgbClr val="334155"/>
                </a:solidFill>
                <a:latin typeface="Calibri" pitchFamily="34" charset="0"/>
                <a:ea typeface="Calibri" pitchFamily="34" charset="-122"/>
                <a:cs typeface="Calibri" pitchFamily="34" charset="-120"/>
              </a:rPr>
              <a:t>API Validation &amp; Testing: Postman Collection for automated regression testing across all 24+ REST endpoints.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338CA"/>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CCFBF1"/>
          </a:solidFill>
          <a:ln w="10160">
            <a:solidFill>
              <a:srgbClr val="4338CA"/>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4338CA"/>
                </a:solidFill>
                <a:latin typeface="Calibri" pitchFamily="34" charset="0"/>
                <a:ea typeface="Calibri" pitchFamily="34" charset="-122"/>
                <a:cs typeface="Calibri" pitchFamily="34" charset="-120"/>
              </a:rPr>
              <a:t>SECURITY</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Security Architecture &amp; JWT Authentication Flowchart</a:t>
            </a:r>
            <a:endParaRPr lang="en-US" sz="2300" dirty="0"/>
          </a:p>
        </p:txBody>
      </p:sp>
      <p:sp>
        <p:nvSpPr>
          <p:cNvPr id="8" name="Shape 6"/>
          <p:cNvSpPr/>
          <p:nvPr/>
        </p:nvSpPr>
        <p:spPr>
          <a:xfrm>
            <a:off x="731520" y="1097280"/>
            <a:ext cx="2194560" cy="32004"/>
          </a:xfrm>
          <a:prstGeom prst="rect">
            <a:avLst/>
          </a:prstGeom>
          <a:solidFill>
            <a:srgbClr val="4338CA"/>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4338CA"/>
                </a:solidFill>
                <a:latin typeface="Calibri" pitchFamily="34" charset="0"/>
                <a:ea typeface="Calibri" pitchFamily="34" charset="-122"/>
                <a:cs typeface="Calibri" pitchFamily="34" charset="-120"/>
              </a:rPr>
              <a:t>12</a:t>
            </a:r>
            <a:endParaRPr lang="en-US" sz="950" dirty="0"/>
          </a:p>
        </p:txBody>
      </p:sp>
      <p:sp>
        <p:nvSpPr>
          <p:cNvPr id="11" name="Shape 9"/>
          <p:cNvSpPr/>
          <p:nvPr/>
        </p:nvSpPr>
        <p:spPr>
          <a:xfrm>
            <a:off x="731520" y="1325880"/>
            <a:ext cx="3200400" cy="292608"/>
          </a:xfrm>
          <a:prstGeom prst="roundRect">
            <a:avLst>
              <a:gd name="adj" fmla="val 12500"/>
            </a:avLst>
          </a:prstGeom>
          <a:solidFill>
            <a:srgbClr val="DBEAFE"/>
          </a:solidFill>
          <a:ln w="10160">
            <a:solidFill>
              <a:srgbClr val="1D4ED8"/>
            </a:solidFill>
            <a:prstDash val="solid"/>
          </a:ln>
        </p:spPr>
      </p:sp>
      <p:sp>
        <p:nvSpPr>
          <p:cNvPr id="12" name="Text 10"/>
          <p:cNvSpPr/>
          <p:nvPr/>
        </p:nvSpPr>
        <p:spPr>
          <a:xfrm>
            <a:off x="731520" y="1325880"/>
            <a:ext cx="3200400" cy="292608"/>
          </a:xfrm>
          <a:prstGeom prst="rect">
            <a:avLst/>
          </a:prstGeom>
          <a:noFill/>
          <a:ln/>
        </p:spPr>
        <p:txBody>
          <a:bodyPr wrap="square" rtlCol="0" anchor="ctr"/>
          <a:lstStyle/>
          <a:p>
            <a:pPr algn="ctr" indent="0" marL="0">
              <a:buNone/>
            </a:pPr>
            <a:r>
              <a:rPr lang="en-US" sz="850" b="1" dirty="0">
                <a:solidFill>
                  <a:srgbClr val="1D4ED8"/>
                </a:solidFill>
                <a:latin typeface="Calibri" pitchFamily="34" charset="0"/>
                <a:ea typeface="Calibri" pitchFamily="34" charset="-122"/>
                <a:cs typeface="Calibri" pitchFamily="34" charset="-120"/>
              </a:rPr>
              <a:t>CLIENT (ALTS REACT SPA)</a:t>
            </a:r>
            <a:endParaRPr lang="en-US" sz="850" dirty="0"/>
          </a:p>
        </p:txBody>
      </p:sp>
      <p:sp>
        <p:nvSpPr>
          <p:cNvPr id="13" name="Shape 11"/>
          <p:cNvSpPr/>
          <p:nvPr/>
        </p:nvSpPr>
        <p:spPr>
          <a:xfrm>
            <a:off x="4389120" y="1325880"/>
            <a:ext cx="4114800" cy="292608"/>
          </a:xfrm>
          <a:prstGeom prst="roundRect">
            <a:avLst>
              <a:gd name="adj" fmla="val 12500"/>
            </a:avLst>
          </a:prstGeom>
          <a:solidFill>
            <a:srgbClr val="E0E7FF"/>
          </a:solidFill>
          <a:ln w="10160">
            <a:solidFill>
              <a:srgbClr val="4338CA"/>
            </a:solidFill>
            <a:prstDash val="solid"/>
          </a:ln>
        </p:spPr>
      </p:sp>
      <p:sp>
        <p:nvSpPr>
          <p:cNvPr id="14" name="Text 12"/>
          <p:cNvSpPr/>
          <p:nvPr/>
        </p:nvSpPr>
        <p:spPr>
          <a:xfrm>
            <a:off x="4389120" y="1325880"/>
            <a:ext cx="4114800" cy="292608"/>
          </a:xfrm>
          <a:prstGeom prst="rect">
            <a:avLst/>
          </a:prstGeom>
          <a:noFill/>
          <a:ln/>
        </p:spPr>
        <p:txBody>
          <a:bodyPr wrap="square" rtlCol="0" anchor="ctr"/>
          <a:lstStyle/>
          <a:p>
            <a:pPr algn="ctr" indent="0" marL="0">
              <a:buNone/>
            </a:pPr>
            <a:r>
              <a:rPr lang="en-US" sz="850" b="1" dirty="0">
                <a:solidFill>
                  <a:srgbClr val="4338CA"/>
                </a:solidFill>
                <a:latin typeface="Calibri" pitchFamily="34" charset="0"/>
                <a:ea typeface="Calibri" pitchFamily="34" charset="-122"/>
                <a:cs typeface="Calibri" pitchFamily="34" charset="-120"/>
              </a:rPr>
              <a:t>EXPRESS.JS API GATEWAY</a:t>
            </a:r>
            <a:endParaRPr lang="en-US" sz="850" dirty="0"/>
          </a:p>
        </p:txBody>
      </p:sp>
      <p:sp>
        <p:nvSpPr>
          <p:cNvPr id="15" name="Shape 13"/>
          <p:cNvSpPr/>
          <p:nvPr/>
        </p:nvSpPr>
        <p:spPr>
          <a:xfrm>
            <a:off x="8961120" y="1325880"/>
            <a:ext cx="2468880" cy="292608"/>
          </a:xfrm>
          <a:prstGeom prst="roundRect">
            <a:avLst>
              <a:gd name="adj" fmla="val 12500"/>
            </a:avLst>
          </a:prstGeom>
          <a:solidFill>
            <a:srgbClr val="CCFBF1"/>
          </a:solidFill>
          <a:ln w="10160">
            <a:solidFill>
              <a:srgbClr val="0D9488"/>
            </a:solidFill>
            <a:prstDash val="solid"/>
          </a:ln>
        </p:spPr>
      </p:sp>
      <p:sp>
        <p:nvSpPr>
          <p:cNvPr id="16" name="Text 14"/>
          <p:cNvSpPr/>
          <p:nvPr/>
        </p:nvSpPr>
        <p:spPr>
          <a:xfrm>
            <a:off x="8961120" y="1325880"/>
            <a:ext cx="2468880" cy="292608"/>
          </a:xfrm>
          <a:prstGeom prst="rect">
            <a:avLst/>
          </a:prstGeom>
          <a:noFill/>
          <a:ln/>
        </p:spPr>
        <p:txBody>
          <a:bodyPr wrap="square" rtlCol="0" anchor="ctr"/>
          <a:lstStyle/>
          <a:p>
            <a:pPr algn="ctr" indent="0" marL="0">
              <a:buNone/>
            </a:pPr>
            <a:r>
              <a:rPr lang="en-US" sz="850" b="1" dirty="0">
                <a:solidFill>
                  <a:srgbClr val="0D9488"/>
                </a:solidFill>
                <a:latin typeface="Calibri" pitchFamily="34" charset="0"/>
                <a:ea typeface="Calibri" pitchFamily="34" charset="-122"/>
                <a:cs typeface="Calibri" pitchFamily="34" charset="-120"/>
              </a:rPr>
              <a:t>MONGODB DATABASE</a:t>
            </a:r>
            <a:endParaRPr lang="en-US" sz="850" dirty="0"/>
          </a:p>
        </p:txBody>
      </p:sp>
      <p:sp>
        <p:nvSpPr>
          <p:cNvPr id="17" name="Shape 15"/>
          <p:cNvSpPr/>
          <p:nvPr/>
        </p:nvSpPr>
        <p:spPr>
          <a:xfrm>
            <a:off x="731520" y="1783080"/>
            <a:ext cx="3200400" cy="475488"/>
          </a:xfrm>
          <a:prstGeom prst="roundRect">
            <a:avLst>
              <a:gd name="adj" fmla="val 11538"/>
            </a:avLst>
          </a:prstGeom>
          <a:solidFill>
            <a:srgbClr val="EFF6FF"/>
          </a:solidFill>
          <a:ln w="12700">
            <a:solidFill>
              <a:srgbClr val="1D4ED8"/>
            </a:solidFill>
            <a:prstDash val="solid"/>
          </a:ln>
        </p:spPr>
      </p:sp>
      <p:sp>
        <p:nvSpPr>
          <p:cNvPr id="18" name="Text 16"/>
          <p:cNvSpPr/>
          <p:nvPr/>
        </p:nvSpPr>
        <p:spPr>
          <a:xfrm>
            <a:off x="786384" y="1819656"/>
            <a:ext cx="3090672" cy="402336"/>
          </a:xfrm>
          <a:prstGeom prst="rect">
            <a:avLst/>
          </a:prstGeom>
          <a:noFill/>
          <a:ln/>
        </p:spPr>
        <p:txBody>
          <a:bodyPr wrap="square" rtlCol="0" anchor="ctr"/>
          <a:lstStyle/>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User submits login form</a:t>
            </a:r>
            <a:endParaRPr lang="en-US" sz="920" dirty="0"/>
          </a:p>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 email, password }</a:t>
            </a:r>
            <a:endParaRPr lang="en-US" sz="920" dirty="0"/>
          </a:p>
        </p:txBody>
      </p:sp>
      <p:sp>
        <p:nvSpPr>
          <p:cNvPr id="19" name="Shape 17"/>
          <p:cNvSpPr/>
          <p:nvPr/>
        </p:nvSpPr>
        <p:spPr>
          <a:xfrm>
            <a:off x="3931920" y="2020824"/>
            <a:ext cx="457200" cy="0"/>
          </a:xfrm>
          <a:prstGeom prst="line">
            <a:avLst/>
          </a:prstGeom>
          <a:noFill/>
          <a:ln w="16510">
            <a:solidFill>
              <a:srgbClr val="1D4ED8"/>
            </a:solidFill>
            <a:prstDash val="solid"/>
            <a:tailEnd type="triangle"/>
          </a:ln>
        </p:spPr>
      </p:sp>
      <p:sp>
        <p:nvSpPr>
          <p:cNvPr id="20" name="Shape 18"/>
          <p:cNvSpPr/>
          <p:nvPr/>
        </p:nvSpPr>
        <p:spPr>
          <a:xfrm>
            <a:off x="3749040" y="1892808"/>
            <a:ext cx="822960" cy="256032"/>
          </a:xfrm>
          <a:prstGeom prst="roundRect">
            <a:avLst>
              <a:gd name="adj" fmla="val 14286"/>
            </a:avLst>
          </a:prstGeom>
          <a:solidFill>
            <a:srgbClr val="FFFFFF"/>
          </a:solidFill>
          <a:ln w="6350">
            <a:solidFill>
              <a:srgbClr val="E2E8F0"/>
            </a:solidFill>
            <a:prstDash val="solid"/>
          </a:ln>
        </p:spPr>
      </p:sp>
      <p:sp>
        <p:nvSpPr>
          <p:cNvPr id="21" name="Text 19"/>
          <p:cNvSpPr/>
          <p:nvPr/>
        </p:nvSpPr>
        <p:spPr>
          <a:xfrm>
            <a:off x="3611880" y="1883664"/>
            <a:ext cx="1097280" cy="274320"/>
          </a:xfrm>
          <a:prstGeom prst="rect">
            <a:avLst/>
          </a:prstGeom>
          <a:noFill/>
          <a:ln/>
        </p:spPr>
        <p:txBody>
          <a:bodyPr wrap="square" rtlCol="0" anchor="ctr"/>
          <a:lstStyle/>
          <a:p>
            <a:pPr algn="ctr" indent="0" marL="0">
              <a:buNone/>
            </a:pPr>
            <a:r>
              <a:rPr lang="en-US" sz="750" b="1" dirty="0">
                <a:solidFill>
                  <a:srgbClr val="1D4ED8"/>
                </a:solidFill>
                <a:latin typeface="Calibri" pitchFamily="34" charset="0"/>
                <a:ea typeface="Calibri" pitchFamily="34" charset="-122"/>
                <a:cs typeface="Calibri" pitchFamily="34" charset="-120"/>
              </a:rPr>
              <a:t>POST /api/auth/login</a:t>
            </a:r>
            <a:endParaRPr lang="en-US" sz="750" dirty="0"/>
          </a:p>
        </p:txBody>
      </p:sp>
      <p:sp>
        <p:nvSpPr>
          <p:cNvPr id="22" name="Shape 20"/>
          <p:cNvSpPr/>
          <p:nvPr/>
        </p:nvSpPr>
        <p:spPr>
          <a:xfrm>
            <a:off x="4389120" y="1783080"/>
            <a:ext cx="4114800" cy="475488"/>
          </a:xfrm>
          <a:prstGeom prst="roundRect">
            <a:avLst>
              <a:gd name="adj" fmla="val 11538"/>
            </a:avLst>
          </a:prstGeom>
          <a:solidFill>
            <a:srgbClr val="EEF2FF"/>
          </a:solidFill>
          <a:ln w="12700">
            <a:solidFill>
              <a:srgbClr val="4338CA"/>
            </a:solidFill>
            <a:prstDash val="solid"/>
          </a:ln>
        </p:spPr>
      </p:sp>
      <p:sp>
        <p:nvSpPr>
          <p:cNvPr id="23" name="Text 21"/>
          <p:cNvSpPr/>
          <p:nvPr/>
        </p:nvSpPr>
        <p:spPr>
          <a:xfrm>
            <a:off x="4443984" y="1819656"/>
            <a:ext cx="4005072" cy="402336"/>
          </a:xfrm>
          <a:prstGeom prst="rect">
            <a:avLst/>
          </a:prstGeom>
          <a:noFill/>
          <a:ln/>
        </p:spPr>
        <p:txBody>
          <a:bodyPr wrap="square" rtlCol="0" anchor="ctr"/>
          <a:lstStyle/>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Server queries MongoDB User collection</a:t>
            </a:r>
            <a:endParaRPr lang="en-US" sz="920" dirty="0"/>
          </a:p>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`User.findOne({ email })`</a:t>
            </a:r>
            <a:endParaRPr lang="en-US" sz="920" dirty="0"/>
          </a:p>
        </p:txBody>
      </p:sp>
      <p:sp>
        <p:nvSpPr>
          <p:cNvPr id="24" name="Shape 22"/>
          <p:cNvSpPr/>
          <p:nvPr/>
        </p:nvSpPr>
        <p:spPr>
          <a:xfrm>
            <a:off x="8503920" y="2020824"/>
            <a:ext cx="457200" cy="0"/>
          </a:xfrm>
          <a:prstGeom prst="line">
            <a:avLst/>
          </a:prstGeom>
          <a:noFill/>
          <a:ln w="16510">
            <a:solidFill>
              <a:srgbClr val="4338CA"/>
            </a:solidFill>
            <a:prstDash val="solid"/>
            <a:tailEnd type="triangle"/>
          </a:ln>
        </p:spPr>
      </p:sp>
      <p:sp>
        <p:nvSpPr>
          <p:cNvPr id="25" name="Shape 23"/>
          <p:cNvSpPr/>
          <p:nvPr/>
        </p:nvSpPr>
        <p:spPr>
          <a:xfrm>
            <a:off x="8961120" y="1783080"/>
            <a:ext cx="2468880" cy="475488"/>
          </a:xfrm>
          <a:prstGeom prst="roundRect">
            <a:avLst>
              <a:gd name="adj" fmla="val 11538"/>
            </a:avLst>
          </a:prstGeom>
          <a:solidFill>
            <a:srgbClr val="F0FDFA"/>
          </a:solidFill>
          <a:ln w="12700">
            <a:solidFill>
              <a:srgbClr val="0D9488"/>
            </a:solidFill>
            <a:prstDash val="solid"/>
          </a:ln>
        </p:spPr>
      </p:sp>
      <p:sp>
        <p:nvSpPr>
          <p:cNvPr id="26" name="Text 24"/>
          <p:cNvSpPr/>
          <p:nvPr/>
        </p:nvSpPr>
        <p:spPr>
          <a:xfrm>
            <a:off x="9015984" y="1819656"/>
            <a:ext cx="2359152" cy="402336"/>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Return user record</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 salted passwordHash</a:t>
            </a:r>
            <a:endParaRPr lang="en-US" sz="850" dirty="0"/>
          </a:p>
        </p:txBody>
      </p:sp>
      <p:sp>
        <p:nvSpPr>
          <p:cNvPr id="27" name="Shape 25"/>
          <p:cNvSpPr/>
          <p:nvPr/>
        </p:nvSpPr>
        <p:spPr>
          <a:xfrm>
            <a:off x="8961120" y="2514600"/>
            <a:ext cx="-1188720" cy="0"/>
          </a:xfrm>
          <a:prstGeom prst="line">
            <a:avLst/>
          </a:prstGeom>
          <a:noFill/>
          <a:ln w="16510">
            <a:solidFill>
              <a:srgbClr val="0D9488"/>
            </a:solidFill>
            <a:prstDash val="solid"/>
            <a:tailEnd type="triangle"/>
          </a:ln>
        </p:spPr>
      </p:sp>
      <p:sp>
        <p:nvSpPr>
          <p:cNvPr id="28" name="Shape 26"/>
          <p:cNvSpPr/>
          <p:nvPr/>
        </p:nvSpPr>
        <p:spPr>
          <a:xfrm>
            <a:off x="5349240" y="2377440"/>
            <a:ext cx="2194560" cy="640080"/>
          </a:xfrm>
          <a:prstGeom prst="flowChartDecision">
            <a:avLst/>
          </a:prstGeom>
          <a:solidFill>
            <a:srgbClr val="0F172A"/>
          </a:solidFill>
          <a:ln w="15240">
            <a:solidFill>
              <a:srgbClr val="D97706"/>
            </a:solidFill>
            <a:prstDash val="solid"/>
          </a:ln>
        </p:spPr>
      </p:sp>
      <p:sp>
        <p:nvSpPr>
          <p:cNvPr id="29" name="Text 27"/>
          <p:cNvSpPr/>
          <p:nvPr/>
        </p:nvSpPr>
        <p:spPr>
          <a:xfrm>
            <a:off x="5513832" y="2468880"/>
            <a:ext cx="1865376" cy="457200"/>
          </a:xfrm>
          <a:prstGeom prst="rect">
            <a:avLst/>
          </a:prstGeom>
          <a:noFill/>
          <a:ln/>
        </p:spPr>
        <p:txBody>
          <a:bodyPr wrap="square" rtlCol="0" anchor="ctr"/>
          <a:lstStyle/>
          <a:p>
            <a:pPr algn="ctr" indent="0" marL="0">
              <a:lnSpc>
                <a:spcPct val="115000"/>
              </a:lnSpc>
              <a:buNone/>
            </a:pPr>
            <a:r>
              <a:rPr lang="en-US" sz="850" b="1" dirty="0">
                <a:solidFill>
                  <a:srgbClr val="0F172A"/>
                </a:solidFill>
                <a:latin typeface="Calibri" pitchFamily="34" charset="0"/>
                <a:ea typeface="Calibri" pitchFamily="34" charset="-122"/>
                <a:cs typeface="Calibri" pitchFamily="34" charset="-120"/>
              </a:rPr>
              <a:t>bcrypt.compare</a:t>
            </a:r>
            <a:endParaRPr lang="en-US" sz="850" dirty="0"/>
          </a:p>
          <a:p>
            <a:pPr algn="ctr" indent="0" marL="0">
              <a:lnSpc>
                <a:spcPct val="115000"/>
              </a:lnSpc>
              <a:buNone/>
            </a:pPr>
            <a:r>
              <a:rPr lang="en-US" sz="850" b="1" dirty="0">
                <a:solidFill>
                  <a:srgbClr val="0F172A"/>
                </a:solidFill>
                <a:latin typeface="Calibri" pitchFamily="34" charset="0"/>
                <a:ea typeface="Calibri" pitchFamily="34" charset="-122"/>
                <a:cs typeface="Calibri" pitchFamily="34" charset="-120"/>
              </a:rPr>
              <a:t>(pass, hash)?</a:t>
            </a:r>
            <a:endParaRPr lang="en-US" sz="850" dirty="0"/>
          </a:p>
        </p:txBody>
      </p:sp>
      <p:sp>
        <p:nvSpPr>
          <p:cNvPr id="30" name="Shape 28"/>
          <p:cNvSpPr/>
          <p:nvPr/>
        </p:nvSpPr>
        <p:spPr>
          <a:xfrm>
            <a:off x="5349240" y="2697480"/>
            <a:ext cx="-1417320" cy="0"/>
          </a:xfrm>
          <a:prstGeom prst="line">
            <a:avLst/>
          </a:prstGeom>
          <a:noFill/>
          <a:ln w="16510">
            <a:solidFill>
              <a:srgbClr val="E11D48"/>
            </a:solidFill>
            <a:prstDash val="solid"/>
            <a:tailEnd type="triangle"/>
          </a:ln>
        </p:spPr>
      </p:sp>
      <p:sp>
        <p:nvSpPr>
          <p:cNvPr id="31" name="Shape 29"/>
          <p:cNvSpPr/>
          <p:nvPr/>
        </p:nvSpPr>
        <p:spPr>
          <a:xfrm>
            <a:off x="4229100" y="2569464"/>
            <a:ext cx="822960" cy="256032"/>
          </a:xfrm>
          <a:prstGeom prst="roundRect">
            <a:avLst>
              <a:gd name="adj" fmla="val 14286"/>
            </a:avLst>
          </a:prstGeom>
          <a:solidFill>
            <a:srgbClr val="FFFFFF"/>
          </a:solidFill>
          <a:ln w="6350">
            <a:solidFill>
              <a:srgbClr val="E2E8F0"/>
            </a:solidFill>
            <a:prstDash val="solid"/>
          </a:ln>
        </p:spPr>
      </p:sp>
      <p:sp>
        <p:nvSpPr>
          <p:cNvPr id="32" name="Text 30"/>
          <p:cNvSpPr/>
          <p:nvPr/>
        </p:nvSpPr>
        <p:spPr>
          <a:xfrm>
            <a:off x="4091940" y="2560320"/>
            <a:ext cx="1097280" cy="274320"/>
          </a:xfrm>
          <a:prstGeom prst="rect">
            <a:avLst/>
          </a:prstGeom>
          <a:noFill/>
          <a:ln/>
        </p:spPr>
        <p:txBody>
          <a:bodyPr wrap="square" rtlCol="0" anchor="ctr"/>
          <a:lstStyle/>
          <a:p>
            <a:pPr algn="ctr" indent="0" marL="0">
              <a:buNone/>
            </a:pPr>
            <a:r>
              <a:rPr lang="en-US" sz="750" b="1" dirty="0">
                <a:solidFill>
                  <a:srgbClr val="E11D48"/>
                </a:solidFill>
                <a:latin typeface="Calibri" pitchFamily="34" charset="0"/>
                <a:ea typeface="Calibri" pitchFamily="34" charset="-122"/>
                <a:cs typeface="Calibri" pitchFamily="34" charset="-120"/>
              </a:rPr>
              <a:t>No</a:t>
            </a:r>
            <a:endParaRPr lang="en-US" sz="750" dirty="0"/>
          </a:p>
        </p:txBody>
      </p:sp>
      <p:sp>
        <p:nvSpPr>
          <p:cNvPr id="33" name="Shape 31"/>
          <p:cNvSpPr/>
          <p:nvPr/>
        </p:nvSpPr>
        <p:spPr>
          <a:xfrm>
            <a:off x="731520" y="2468880"/>
            <a:ext cx="3200400" cy="475488"/>
          </a:xfrm>
          <a:prstGeom prst="roundRect">
            <a:avLst>
              <a:gd name="adj" fmla="val 11538"/>
            </a:avLst>
          </a:prstGeom>
          <a:solidFill>
            <a:srgbClr val="FFE4E6"/>
          </a:solidFill>
          <a:ln w="12700">
            <a:solidFill>
              <a:srgbClr val="E11D48"/>
            </a:solidFill>
            <a:prstDash val="solid"/>
          </a:ln>
        </p:spPr>
      </p:sp>
      <p:sp>
        <p:nvSpPr>
          <p:cNvPr id="34" name="Text 32"/>
          <p:cNvSpPr/>
          <p:nvPr/>
        </p:nvSpPr>
        <p:spPr>
          <a:xfrm>
            <a:off x="786384" y="2505456"/>
            <a:ext cx="3090672" cy="402336"/>
          </a:xfrm>
          <a:prstGeom prst="rect">
            <a:avLst/>
          </a:prstGeom>
          <a:noFill/>
          <a:ln/>
        </p:spPr>
        <p:txBody>
          <a:bodyPr wrap="square" rtlCol="0" anchor="ctr"/>
          <a:lstStyle/>
          <a:p>
            <a:pPr algn="ctr" indent="0" marL="0">
              <a:lnSpc>
                <a:spcPct val="125000"/>
              </a:lnSpc>
              <a:buNone/>
            </a:pPr>
            <a:r>
              <a:rPr lang="en-US" sz="920" b="1" dirty="0">
                <a:solidFill>
                  <a:srgbClr val="E11D48"/>
                </a:solidFill>
                <a:latin typeface="Calibri" pitchFamily="34" charset="0"/>
                <a:ea typeface="Calibri" pitchFamily="34" charset="-122"/>
                <a:cs typeface="Calibri" pitchFamily="34" charset="-120"/>
              </a:rPr>
              <a:t>HTTP 401 Unauthorized</a:t>
            </a:r>
            <a:endParaRPr lang="en-US" sz="920" dirty="0"/>
          </a:p>
          <a:p>
            <a:pPr algn="ctr" indent="0" marL="0">
              <a:lnSpc>
                <a:spcPct val="125000"/>
              </a:lnSpc>
              <a:buNone/>
            </a:pPr>
            <a:r>
              <a:rPr lang="en-US" sz="920" b="1" dirty="0">
                <a:solidFill>
                  <a:srgbClr val="E11D48"/>
                </a:solidFill>
                <a:latin typeface="Calibri" pitchFamily="34" charset="0"/>
                <a:ea typeface="Calibri" pitchFamily="34" charset="-122"/>
                <a:cs typeface="Calibri" pitchFamily="34" charset="-120"/>
              </a:rPr>
              <a:t>Display error toast to user</a:t>
            </a:r>
            <a:endParaRPr lang="en-US" sz="920" dirty="0"/>
          </a:p>
        </p:txBody>
      </p:sp>
      <p:sp>
        <p:nvSpPr>
          <p:cNvPr id="35" name="Shape 33"/>
          <p:cNvSpPr/>
          <p:nvPr/>
        </p:nvSpPr>
        <p:spPr>
          <a:xfrm>
            <a:off x="6446520" y="3017520"/>
            <a:ext cx="0" cy="320040"/>
          </a:xfrm>
          <a:prstGeom prst="line">
            <a:avLst/>
          </a:prstGeom>
          <a:noFill/>
          <a:ln w="16510">
            <a:solidFill>
              <a:srgbClr val="059669"/>
            </a:solidFill>
            <a:prstDash val="solid"/>
            <a:tailEnd type="triangle"/>
          </a:ln>
        </p:spPr>
      </p:sp>
      <p:sp>
        <p:nvSpPr>
          <p:cNvPr id="36" name="Shape 34"/>
          <p:cNvSpPr/>
          <p:nvPr/>
        </p:nvSpPr>
        <p:spPr>
          <a:xfrm>
            <a:off x="6035040" y="3049524"/>
            <a:ext cx="822960" cy="256032"/>
          </a:xfrm>
          <a:prstGeom prst="roundRect">
            <a:avLst>
              <a:gd name="adj" fmla="val 14286"/>
            </a:avLst>
          </a:prstGeom>
          <a:solidFill>
            <a:srgbClr val="FFFFFF"/>
          </a:solidFill>
          <a:ln w="6350">
            <a:solidFill>
              <a:srgbClr val="E2E8F0"/>
            </a:solidFill>
            <a:prstDash val="solid"/>
          </a:ln>
        </p:spPr>
      </p:sp>
      <p:sp>
        <p:nvSpPr>
          <p:cNvPr id="37" name="Text 35"/>
          <p:cNvSpPr/>
          <p:nvPr/>
        </p:nvSpPr>
        <p:spPr>
          <a:xfrm>
            <a:off x="5897880" y="3040380"/>
            <a:ext cx="1097280" cy="274320"/>
          </a:xfrm>
          <a:prstGeom prst="rect">
            <a:avLst/>
          </a:prstGeom>
          <a:noFill/>
          <a:ln/>
        </p:spPr>
        <p:txBody>
          <a:bodyPr wrap="square" rtlCol="0" anchor="ctr"/>
          <a:lstStyle/>
          <a:p>
            <a:pPr algn="ctr" indent="0" marL="0">
              <a:buNone/>
            </a:pPr>
            <a:r>
              <a:rPr lang="en-US" sz="750" b="1" dirty="0">
                <a:solidFill>
                  <a:srgbClr val="059669"/>
                </a:solidFill>
                <a:latin typeface="Calibri" pitchFamily="34" charset="0"/>
                <a:ea typeface="Calibri" pitchFamily="34" charset="-122"/>
                <a:cs typeface="Calibri" pitchFamily="34" charset="-120"/>
              </a:rPr>
              <a:t>Yes</a:t>
            </a:r>
            <a:endParaRPr lang="en-US" sz="750" dirty="0"/>
          </a:p>
        </p:txBody>
      </p:sp>
      <p:sp>
        <p:nvSpPr>
          <p:cNvPr id="38" name="Shape 36"/>
          <p:cNvSpPr/>
          <p:nvPr/>
        </p:nvSpPr>
        <p:spPr>
          <a:xfrm>
            <a:off x="4389120" y="3337560"/>
            <a:ext cx="4114800" cy="548640"/>
          </a:xfrm>
          <a:prstGeom prst="roundRect">
            <a:avLst>
              <a:gd name="adj" fmla="val 10000"/>
            </a:avLst>
          </a:prstGeom>
          <a:solidFill>
            <a:srgbClr val="EEF2FF"/>
          </a:solidFill>
          <a:ln w="12700">
            <a:solidFill>
              <a:srgbClr val="4338CA"/>
            </a:solidFill>
            <a:prstDash val="solid"/>
          </a:ln>
        </p:spPr>
      </p:sp>
      <p:sp>
        <p:nvSpPr>
          <p:cNvPr id="39" name="Text 37"/>
          <p:cNvSpPr/>
          <p:nvPr/>
        </p:nvSpPr>
        <p:spPr>
          <a:xfrm>
            <a:off x="4443984" y="3374136"/>
            <a:ext cx="4005072" cy="475488"/>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Sign JWT with HS256 secret key:</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`jwt.sign({ id, role }, SECRET, { expiresIn: '7d' })`</a:t>
            </a:r>
            <a:endParaRPr lang="en-US" sz="850" dirty="0"/>
          </a:p>
        </p:txBody>
      </p:sp>
      <p:sp>
        <p:nvSpPr>
          <p:cNvPr id="40" name="Shape 38"/>
          <p:cNvSpPr/>
          <p:nvPr/>
        </p:nvSpPr>
        <p:spPr>
          <a:xfrm>
            <a:off x="4389120" y="3611880"/>
            <a:ext cx="-457200" cy="0"/>
          </a:xfrm>
          <a:prstGeom prst="line">
            <a:avLst/>
          </a:prstGeom>
          <a:noFill/>
          <a:ln w="16510">
            <a:solidFill>
              <a:srgbClr val="4338CA"/>
            </a:solidFill>
            <a:prstDash val="solid"/>
            <a:tailEnd type="triangle"/>
          </a:ln>
        </p:spPr>
      </p:sp>
      <p:sp>
        <p:nvSpPr>
          <p:cNvPr id="41" name="Shape 39"/>
          <p:cNvSpPr/>
          <p:nvPr/>
        </p:nvSpPr>
        <p:spPr>
          <a:xfrm>
            <a:off x="3749040" y="3483864"/>
            <a:ext cx="822960" cy="256032"/>
          </a:xfrm>
          <a:prstGeom prst="roundRect">
            <a:avLst>
              <a:gd name="adj" fmla="val 14286"/>
            </a:avLst>
          </a:prstGeom>
          <a:solidFill>
            <a:srgbClr val="FFFFFF"/>
          </a:solidFill>
          <a:ln w="6350">
            <a:solidFill>
              <a:srgbClr val="E2E8F0"/>
            </a:solidFill>
            <a:prstDash val="solid"/>
          </a:ln>
        </p:spPr>
      </p:sp>
      <p:sp>
        <p:nvSpPr>
          <p:cNvPr id="42" name="Text 40"/>
          <p:cNvSpPr/>
          <p:nvPr/>
        </p:nvSpPr>
        <p:spPr>
          <a:xfrm>
            <a:off x="3611880" y="3474720"/>
            <a:ext cx="1097280" cy="274320"/>
          </a:xfrm>
          <a:prstGeom prst="rect">
            <a:avLst/>
          </a:prstGeom>
          <a:noFill/>
          <a:ln/>
        </p:spPr>
        <p:txBody>
          <a:bodyPr wrap="square" rtlCol="0" anchor="ctr"/>
          <a:lstStyle/>
          <a:p>
            <a:pPr algn="ctr" indent="0" marL="0">
              <a:buNone/>
            </a:pPr>
            <a:r>
              <a:rPr lang="en-US" sz="750" b="1" dirty="0">
                <a:solidFill>
                  <a:srgbClr val="4338CA"/>
                </a:solidFill>
                <a:latin typeface="Calibri" pitchFamily="34" charset="0"/>
                <a:ea typeface="Calibri" pitchFamily="34" charset="-122"/>
                <a:cs typeface="Calibri" pitchFamily="34" charset="-120"/>
              </a:rPr>
              <a:t>HTTP 200 { token, user }</a:t>
            </a:r>
            <a:endParaRPr lang="en-US" sz="750" dirty="0"/>
          </a:p>
        </p:txBody>
      </p:sp>
      <p:sp>
        <p:nvSpPr>
          <p:cNvPr id="43" name="Shape 41"/>
          <p:cNvSpPr/>
          <p:nvPr/>
        </p:nvSpPr>
        <p:spPr>
          <a:xfrm>
            <a:off x="731520" y="3337560"/>
            <a:ext cx="3200400" cy="548640"/>
          </a:xfrm>
          <a:prstGeom prst="roundRect">
            <a:avLst>
              <a:gd name="adj" fmla="val 10000"/>
            </a:avLst>
          </a:prstGeom>
          <a:solidFill>
            <a:srgbClr val="EFF6FF"/>
          </a:solidFill>
          <a:ln w="12700">
            <a:solidFill>
              <a:srgbClr val="1D4ED8"/>
            </a:solidFill>
            <a:prstDash val="solid"/>
          </a:ln>
        </p:spPr>
      </p:sp>
      <p:sp>
        <p:nvSpPr>
          <p:cNvPr id="44" name="Text 42"/>
          <p:cNvSpPr/>
          <p:nvPr/>
        </p:nvSpPr>
        <p:spPr>
          <a:xfrm>
            <a:off x="786384" y="3374136"/>
            <a:ext cx="3090672" cy="475488"/>
          </a:xfrm>
          <a:prstGeom prst="rect">
            <a:avLst/>
          </a:prstGeom>
          <a:noFill/>
          <a:ln/>
        </p:spPr>
        <p:txBody>
          <a:bodyPr wrap="square" rtlCol="0" anchor="ctr"/>
          <a:lstStyle/>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Store JWT in localStorage &amp; AuthContext</a:t>
            </a:r>
            <a:endParaRPr lang="en-US" sz="850" dirty="0"/>
          </a:p>
          <a:p>
            <a:pPr algn="ctr" indent="0" marL="0">
              <a:lnSpc>
                <a:spcPct val="125000"/>
              </a:lnSpc>
              <a:buNone/>
            </a:pPr>
            <a:r>
              <a:rPr lang="en-US" sz="850" b="1" dirty="0">
                <a:solidFill>
                  <a:srgbClr val="0F172A"/>
                </a:solidFill>
                <a:latin typeface="Calibri" pitchFamily="34" charset="0"/>
                <a:ea typeface="Calibri" pitchFamily="34" charset="-122"/>
                <a:cs typeface="Calibri" pitchFamily="34" charset="-120"/>
              </a:rPr>
              <a:t>Attach to future requests: `Bearer &lt;token&gt;`</a:t>
            </a:r>
            <a:endParaRPr lang="en-US" sz="850" dirty="0"/>
          </a:p>
        </p:txBody>
      </p:sp>
      <p:sp>
        <p:nvSpPr>
          <p:cNvPr id="45" name="Shape 43"/>
          <p:cNvSpPr/>
          <p:nvPr/>
        </p:nvSpPr>
        <p:spPr>
          <a:xfrm>
            <a:off x="2331720" y="3886200"/>
            <a:ext cx="0" cy="411480"/>
          </a:xfrm>
          <a:prstGeom prst="line">
            <a:avLst/>
          </a:prstGeom>
          <a:noFill/>
          <a:ln w="16510">
            <a:solidFill>
              <a:srgbClr val="1D4ED8"/>
            </a:solidFill>
            <a:prstDash val="solid"/>
            <a:tailEnd type="triangle"/>
          </a:ln>
        </p:spPr>
      </p:sp>
      <p:sp>
        <p:nvSpPr>
          <p:cNvPr id="46" name="Shape 44"/>
          <p:cNvSpPr/>
          <p:nvPr/>
        </p:nvSpPr>
        <p:spPr>
          <a:xfrm>
            <a:off x="731520" y="4297680"/>
            <a:ext cx="3200400" cy="502920"/>
          </a:xfrm>
          <a:prstGeom prst="roundRect">
            <a:avLst>
              <a:gd name="adj" fmla="val 10909"/>
            </a:avLst>
          </a:prstGeom>
          <a:solidFill>
            <a:srgbClr val="EFF6FF"/>
          </a:solidFill>
          <a:ln w="12700">
            <a:solidFill>
              <a:srgbClr val="1D4ED8"/>
            </a:solidFill>
            <a:prstDash val="solid"/>
          </a:ln>
        </p:spPr>
      </p:sp>
      <p:sp>
        <p:nvSpPr>
          <p:cNvPr id="47" name="Text 45"/>
          <p:cNvSpPr/>
          <p:nvPr/>
        </p:nvSpPr>
        <p:spPr>
          <a:xfrm>
            <a:off x="786384" y="4334256"/>
            <a:ext cx="3090672" cy="429768"/>
          </a:xfrm>
          <a:prstGeom prst="rect">
            <a:avLst/>
          </a:prstGeom>
          <a:noFill/>
          <a:ln/>
        </p:spPr>
        <p:txBody>
          <a:bodyPr wrap="square" rtlCol="0" anchor="ctr"/>
          <a:lstStyle/>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Client invokes protected route</a:t>
            </a:r>
            <a:endParaRPr lang="en-US" sz="920" dirty="0"/>
          </a:p>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`Authorization: Bearer &lt;token&gt;`</a:t>
            </a:r>
            <a:endParaRPr lang="en-US" sz="920" dirty="0"/>
          </a:p>
        </p:txBody>
      </p:sp>
      <p:sp>
        <p:nvSpPr>
          <p:cNvPr id="48" name="Shape 46"/>
          <p:cNvSpPr/>
          <p:nvPr/>
        </p:nvSpPr>
        <p:spPr>
          <a:xfrm>
            <a:off x="3931920" y="4544568"/>
            <a:ext cx="457200" cy="0"/>
          </a:xfrm>
          <a:prstGeom prst="line">
            <a:avLst/>
          </a:prstGeom>
          <a:noFill/>
          <a:ln w="16510">
            <a:solidFill>
              <a:srgbClr val="1D4ED8"/>
            </a:solidFill>
            <a:prstDash val="solid"/>
            <a:tailEnd type="triangle"/>
          </a:ln>
        </p:spPr>
      </p:sp>
      <p:sp>
        <p:nvSpPr>
          <p:cNvPr id="49" name="Shape 47"/>
          <p:cNvSpPr/>
          <p:nvPr/>
        </p:nvSpPr>
        <p:spPr>
          <a:xfrm>
            <a:off x="4389120" y="4297680"/>
            <a:ext cx="4114800" cy="502920"/>
          </a:xfrm>
          <a:prstGeom prst="roundRect">
            <a:avLst>
              <a:gd name="adj" fmla="val 10909"/>
            </a:avLst>
          </a:prstGeom>
          <a:solidFill>
            <a:srgbClr val="EEF2FF"/>
          </a:solidFill>
          <a:ln w="12700">
            <a:solidFill>
              <a:srgbClr val="4338CA"/>
            </a:solidFill>
            <a:prstDash val="solid"/>
          </a:ln>
        </p:spPr>
      </p:sp>
      <p:sp>
        <p:nvSpPr>
          <p:cNvPr id="50" name="Text 48"/>
          <p:cNvSpPr/>
          <p:nvPr/>
        </p:nvSpPr>
        <p:spPr>
          <a:xfrm>
            <a:off x="4443984" y="4334256"/>
            <a:ext cx="4005072" cy="429768"/>
          </a:xfrm>
          <a:prstGeom prst="rect">
            <a:avLst/>
          </a:prstGeom>
          <a:noFill/>
          <a:ln/>
        </p:spPr>
        <p:txBody>
          <a:bodyPr wrap="square" rtlCol="0" anchor="ctr"/>
          <a:lstStyle/>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authMiddleware executes `jwt.verify(token)`</a:t>
            </a:r>
            <a:endParaRPr lang="en-US" sz="920" dirty="0"/>
          </a:p>
          <a:p>
            <a:pPr algn="ctr" indent="0" marL="0">
              <a:lnSpc>
                <a:spcPct val="125000"/>
              </a:lnSpc>
              <a:buNone/>
            </a:pPr>
            <a:r>
              <a:rPr lang="en-US" sz="920" b="1" dirty="0">
                <a:solidFill>
                  <a:srgbClr val="0F172A"/>
                </a:solidFill>
                <a:latin typeface="Calibri" pitchFamily="34" charset="0"/>
                <a:ea typeface="Calibri" pitchFamily="34" charset="-122"/>
                <a:cs typeface="Calibri" pitchFamily="34" charset="-120"/>
              </a:rPr>
              <a:t>Extracts user id &amp; role from token payload</a:t>
            </a:r>
            <a:endParaRPr lang="en-US" sz="920" dirty="0"/>
          </a:p>
        </p:txBody>
      </p:sp>
      <p:sp>
        <p:nvSpPr>
          <p:cNvPr id="51" name="Shape 49"/>
          <p:cNvSpPr/>
          <p:nvPr/>
        </p:nvSpPr>
        <p:spPr>
          <a:xfrm>
            <a:off x="6446520" y="4800600"/>
            <a:ext cx="0" cy="274320"/>
          </a:xfrm>
          <a:prstGeom prst="line">
            <a:avLst/>
          </a:prstGeom>
          <a:noFill/>
          <a:ln w="16510">
            <a:solidFill>
              <a:srgbClr val="4338CA"/>
            </a:solidFill>
            <a:prstDash val="solid"/>
            <a:tailEnd type="triangle"/>
          </a:ln>
        </p:spPr>
      </p:sp>
      <p:sp>
        <p:nvSpPr>
          <p:cNvPr id="52" name="Shape 50"/>
          <p:cNvSpPr/>
          <p:nvPr/>
        </p:nvSpPr>
        <p:spPr>
          <a:xfrm>
            <a:off x="5349240" y="5074920"/>
            <a:ext cx="2194560" cy="640080"/>
          </a:xfrm>
          <a:prstGeom prst="flowChartDecision">
            <a:avLst/>
          </a:prstGeom>
          <a:solidFill>
            <a:srgbClr val="0F172A"/>
          </a:solidFill>
          <a:ln w="15240">
            <a:solidFill>
              <a:srgbClr val="D97706"/>
            </a:solidFill>
            <a:prstDash val="solid"/>
          </a:ln>
        </p:spPr>
      </p:sp>
      <p:sp>
        <p:nvSpPr>
          <p:cNvPr id="53" name="Text 51"/>
          <p:cNvSpPr/>
          <p:nvPr/>
        </p:nvSpPr>
        <p:spPr>
          <a:xfrm>
            <a:off x="5513832" y="5166360"/>
            <a:ext cx="1865376" cy="457200"/>
          </a:xfrm>
          <a:prstGeom prst="rect">
            <a:avLst/>
          </a:prstGeom>
          <a:noFill/>
          <a:ln/>
        </p:spPr>
        <p:txBody>
          <a:bodyPr wrap="square" rtlCol="0" anchor="ctr"/>
          <a:lstStyle/>
          <a:p>
            <a:pPr algn="ctr" indent="0" marL="0">
              <a:lnSpc>
                <a:spcPct val="115000"/>
              </a:lnSpc>
              <a:buNone/>
            </a:pPr>
            <a:r>
              <a:rPr lang="en-US" sz="850" b="1" dirty="0">
                <a:solidFill>
                  <a:srgbClr val="0F172A"/>
                </a:solidFill>
                <a:latin typeface="Calibri" pitchFamily="34" charset="0"/>
                <a:ea typeface="Calibri" pitchFamily="34" charset="-122"/>
                <a:cs typeface="Calibri" pitchFamily="34" charset="-120"/>
              </a:rPr>
              <a:t>Role matches</a:t>
            </a:r>
            <a:endParaRPr lang="en-US" sz="850" dirty="0"/>
          </a:p>
          <a:p>
            <a:pPr algn="ctr" indent="0" marL="0">
              <a:lnSpc>
                <a:spcPct val="115000"/>
              </a:lnSpc>
              <a:buNone/>
            </a:pPr>
            <a:r>
              <a:rPr lang="en-US" sz="850" b="1" dirty="0">
                <a:solidFill>
                  <a:srgbClr val="0F172A"/>
                </a:solidFill>
                <a:latin typeface="Calibri" pitchFamily="34" charset="0"/>
                <a:ea typeface="Calibri" pitchFamily="34" charset="-122"/>
                <a:cs typeface="Calibri" pitchFamily="34" charset="-120"/>
              </a:rPr>
              <a:t>required scope?</a:t>
            </a:r>
            <a:endParaRPr lang="en-US" sz="850" dirty="0"/>
          </a:p>
        </p:txBody>
      </p:sp>
      <p:sp>
        <p:nvSpPr>
          <p:cNvPr id="54" name="Shape 52"/>
          <p:cNvSpPr/>
          <p:nvPr/>
        </p:nvSpPr>
        <p:spPr>
          <a:xfrm>
            <a:off x="5349240" y="5394960"/>
            <a:ext cx="-1417320" cy="0"/>
          </a:xfrm>
          <a:prstGeom prst="line">
            <a:avLst/>
          </a:prstGeom>
          <a:noFill/>
          <a:ln w="16510">
            <a:solidFill>
              <a:srgbClr val="E11D48"/>
            </a:solidFill>
            <a:prstDash val="solid"/>
            <a:tailEnd type="triangle"/>
          </a:ln>
        </p:spPr>
      </p:sp>
      <p:sp>
        <p:nvSpPr>
          <p:cNvPr id="55" name="Shape 53"/>
          <p:cNvSpPr/>
          <p:nvPr/>
        </p:nvSpPr>
        <p:spPr>
          <a:xfrm>
            <a:off x="4229100" y="5266944"/>
            <a:ext cx="822960" cy="256032"/>
          </a:xfrm>
          <a:prstGeom prst="roundRect">
            <a:avLst>
              <a:gd name="adj" fmla="val 14286"/>
            </a:avLst>
          </a:prstGeom>
          <a:solidFill>
            <a:srgbClr val="FFFFFF"/>
          </a:solidFill>
          <a:ln w="6350">
            <a:solidFill>
              <a:srgbClr val="E2E8F0"/>
            </a:solidFill>
            <a:prstDash val="solid"/>
          </a:ln>
        </p:spPr>
      </p:sp>
      <p:sp>
        <p:nvSpPr>
          <p:cNvPr id="56" name="Text 54"/>
          <p:cNvSpPr/>
          <p:nvPr/>
        </p:nvSpPr>
        <p:spPr>
          <a:xfrm>
            <a:off x="4091940" y="5257800"/>
            <a:ext cx="1097280" cy="274320"/>
          </a:xfrm>
          <a:prstGeom prst="rect">
            <a:avLst/>
          </a:prstGeom>
          <a:noFill/>
          <a:ln/>
        </p:spPr>
        <p:txBody>
          <a:bodyPr wrap="square" rtlCol="0" anchor="ctr"/>
          <a:lstStyle/>
          <a:p>
            <a:pPr algn="ctr" indent="0" marL="0">
              <a:buNone/>
            </a:pPr>
            <a:r>
              <a:rPr lang="en-US" sz="750" b="1" dirty="0">
                <a:solidFill>
                  <a:srgbClr val="E11D48"/>
                </a:solidFill>
                <a:latin typeface="Calibri" pitchFamily="34" charset="0"/>
                <a:ea typeface="Calibri" pitchFamily="34" charset="-122"/>
                <a:cs typeface="Calibri" pitchFamily="34" charset="-120"/>
              </a:rPr>
              <a:t>No</a:t>
            </a:r>
            <a:endParaRPr lang="en-US" sz="750" dirty="0"/>
          </a:p>
        </p:txBody>
      </p:sp>
      <p:sp>
        <p:nvSpPr>
          <p:cNvPr id="57" name="Shape 55"/>
          <p:cNvSpPr/>
          <p:nvPr/>
        </p:nvSpPr>
        <p:spPr>
          <a:xfrm>
            <a:off x="731520" y="5166360"/>
            <a:ext cx="3200400" cy="475488"/>
          </a:xfrm>
          <a:prstGeom prst="roundRect">
            <a:avLst>
              <a:gd name="adj" fmla="val 11538"/>
            </a:avLst>
          </a:prstGeom>
          <a:solidFill>
            <a:srgbClr val="FFE4E6"/>
          </a:solidFill>
          <a:ln w="12700">
            <a:solidFill>
              <a:srgbClr val="E11D48"/>
            </a:solidFill>
            <a:prstDash val="solid"/>
          </a:ln>
        </p:spPr>
      </p:sp>
      <p:sp>
        <p:nvSpPr>
          <p:cNvPr id="58" name="Text 56"/>
          <p:cNvSpPr/>
          <p:nvPr/>
        </p:nvSpPr>
        <p:spPr>
          <a:xfrm>
            <a:off x="786384" y="5202936"/>
            <a:ext cx="3090672" cy="402336"/>
          </a:xfrm>
          <a:prstGeom prst="rect">
            <a:avLst/>
          </a:prstGeom>
          <a:noFill/>
          <a:ln/>
        </p:spPr>
        <p:txBody>
          <a:bodyPr wrap="square" rtlCol="0" anchor="ctr"/>
          <a:lstStyle/>
          <a:p>
            <a:pPr algn="ctr" indent="0" marL="0">
              <a:lnSpc>
                <a:spcPct val="125000"/>
              </a:lnSpc>
              <a:buNone/>
            </a:pPr>
            <a:r>
              <a:rPr lang="en-US" sz="920" b="1" dirty="0">
                <a:solidFill>
                  <a:srgbClr val="E11D48"/>
                </a:solidFill>
                <a:latin typeface="Calibri" pitchFamily="34" charset="0"/>
                <a:ea typeface="Calibri" pitchFamily="34" charset="-122"/>
                <a:cs typeface="Calibri" pitchFamily="34" charset="-120"/>
              </a:rPr>
              <a:t>HTTP 403 Forbidden</a:t>
            </a:r>
            <a:endParaRPr lang="en-US" sz="920" dirty="0"/>
          </a:p>
          <a:p>
            <a:pPr algn="ctr" indent="0" marL="0">
              <a:lnSpc>
                <a:spcPct val="125000"/>
              </a:lnSpc>
              <a:buNone/>
            </a:pPr>
            <a:r>
              <a:rPr lang="en-US" sz="920" b="1" dirty="0">
                <a:solidFill>
                  <a:srgbClr val="E11D48"/>
                </a:solidFill>
                <a:latin typeface="Calibri" pitchFamily="34" charset="0"/>
                <a:ea typeface="Calibri" pitchFamily="34" charset="-122"/>
                <a:cs typeface="Calibri" pitchFamily="34" charset="-120"/>
              </a:rPr>
              <a:t>Insufficient permissions for route</a:t>
            </a:r>
            <a:endParaRPr lang="en-US" sz="920" dirty="0"/>
          </a:p>
        </p:txBody>
      </p:sp>
      <p:sp>
        <p:nvSpPr>
          <p:cNvPr id="59" name="Shape 57"/>
          <p:cNvSpPr/>
          <p:nvPr/>
        </p:nvSpPr>
        <p:spPr>
          <a:xfrm>
            <a:off x="7543800" y="5394960"/>
            <a:ext cx="1417320" cy="0"/>
          </a:xfrm>
          <a:prstGeom prst="line">
            <a:avLst/>
          </a:prstGeom>
          <a:noFill/>
          <a:ln w="16510">
            <a:solidFill>
              <a:srgbClr val="059669"/>
            </a:solidFill>
            <a:prstDash val="solid"/>
            <a:tailEnd type="triangle"/>
          </a:ln>
        </p:spPr>
      </p:sp>
      <p:sp>
        <p:nvSpPr>
          <p:cNvPr id="60" name="Shape 58"/>
          <p:cNvSpPr/>
          <p:nvPr/>
        </p:nvSpPr>
        <p:spPr>
          <a:xfrm>
            <a:off x="7840980" y="5266944"/>
            <a:ext cx="822960" cy="256032"/>
          </a:xfrm>
          <a:prstGeom prst="roundRect">
            <a:avLst>
              <a:gd name="adj" fmla="val 14286"/>
            </a:avLst>
          </a:prstGeom>
          <a:solidFill>
            <a:srgbClr val="FFFFFF"/>
          </a:solidFill>
          <a:ln w="6350">
            <a:solidFill>
              <a:srgbClr val="E2E8F0"/>
            </a:solidFill>
            <a:prstDash val="solid"/>
          </a:ln>
        </p:spPr>
      </p:sp>
      <p:sp>
        <p:nvSpPr>
          <p:cNvPr id="61" name="Text 59"/>
          <p:cNvSpPr/>
          <p:nvPr/>
        </p:nvSpPr>
        <p:spPr>
          <a:xfrm>
            <a:off x="7703820" y="5257800"/>
            <a:ext cx="1097280" cy="274320"/>
          </a:xfrm>
          <a:prstGeom prst="rect">
            <a:avLst/>
          </a:prstGeom>
          <a:noFill/>
          <a:ln/>
        </p:spPr>
        <p:txBody>
          <a:bodyPr wrap="square" rtlCol="0" anchor="ctr"/>
          <a:lstStyle/>
          <a:p>
            <a:pPr algn="ctr" indent="0" marL="0">
              <a:buNone/>
            </a:pPr>
            <a:r>
              <a:rPr lang="en-US" sz="750" b="1" dirty="0">
                <a:solidFill>
                  <a:srgbClr val="059669"/>
                </a:solidFill>
                <a:latin typeface="Calibri" pitchFamily="34" charset="0"/>
                <a:ea typeface="Calibri" pitchFamily="34" charset="-122"/>
                <a:cs typeface="Calibri" pitchFamily="34" charset="-120"/>
              </a:rPr>
              <a:t>Yes</a:t>
            </a:r>
            <a:endParaRPr lang="en-US" sz="750" dirty="0"/>
          </a:p>
        </p:txBody>
      </p:sp>
      <p:sp>
        <p:nvSpPr>
          <p:cNvPr id="62" name="Shape 60"/>
          <p:cNvSpPr/>
          <p:nvPr/>
        </p:nvSpPr>
        <p:spPr>
          <a:xfrm>
            <a:off x="8961120" y="5166360"/>
            <a:ext cx="2468880" cy="475488"/>
          </a:xfrm>
          <a:prstGeom prst="roundRect">
            <a:avLst>
              <a:gd name="adj" fmla="val 11538"/>
            </a:avLst>
          </a:prstGeom>
          <a:solidFill>
            <a:srgbClr val="D1FAE5"/>
          </a:solidFill>
          <a:ln w="12700">
            <a:solidFill>
              <a:srgbClr val="059669"/>
            </a:solidFill>
            <a:prstDash val="solid"/>
          </a:ln>
        </p:spPr>
      </p:sp>
      <p:sp>
        <p:nvSpPr>
          <p:cNvPr id="63" name="Text 61"/>
          <p:cNvSpPr/>
          <p:nvPr/>
        </p:nvSpPr>
        <p:spPr>
          <a:xfrm>
            <a:off x="9015984" y="5202936"/>
            <a:ext cx="2359152" cy="402336"/>
          </a:xfrm>
          <a:prstGeom prst="rect">
            <a:avLst/>
          </a:prstGeom>
          <a:noFill/>
          <a:ln/>
        </p:spPr>
        <p:txBody>
          <a:bodyPr wrap="square" rtlCol="0" anchor="ctr"/>
          <a:lstStyle/>
          <a:p>
            <a:pPr algn="ctr" indent="0" marL="0">
              <a:lnSpc>
                <a:spcPct val="125000"/>
              </a:lnSpc>
              <a:buNone/>
            </a:pPr>
            <a:r>
              <a:rPr lang="en-US" sz="850" b="1" dirty="0">
                <a:solidFill>
                  <a:srgbClr val="059669"/>
                </a:solidFill>
                <a:latin typeface="Calibri" pitchFamily="34" charset="0"/>
                <a:ea typeface="Calibri" pitchFamily="34" charset="-122"/>
                <a:cs typeface="Calibri" pitchFamily="34" charset="-120"/>
              </a:rPr>
              <a:t>`next()` invoked ➔</a:t>
            </a:r>
            <a:endParaRPr lang="en-US" sz="850" dirty="0"/>
          </a:p>
          <a:p>
            <a:pPr algn="ctr" indent="0" marL="0">
              <a:lnSpc>
                <a:spcPct val="125000"/>
              </a:lnSpc>
              <a:buNone/>
            </a:pPr>
            <a:r>
              <a:rPr lang="en-US" sz="850" b="1" dirty="0">
                <a:solidFill>
                  <a:srgbClr val="059669"/>
                </a:solidFill>
                <a:latin typeface="Calibri" pitchFamily="34" charset="0"/>
                <a:ea typeface="Calibri" pitchFamily="34" charset="-122"/>
                <a:cs typeface="Calibri" pitchFamily="34" charset="-120"/>
              </a:rPr>
              <a:t>Controller executes</a:t>
            </a:r>
            <a:endParaRPr lang="en-US" sz="850" dirty="0"/>
          </a:p>
        </p:txBody>
      </p:sp>
      <p:sp>
        <p:nvSpPr>
          <p:cNvPr id="64" name="Shape 62"/>
          <p:cNvSpPr/>
          <p:nvPr/>
        </p:nvSpPr>
        <p:spPr>
          <a:xfrm>
            <a:off x="731520" y="5897880"/>
            <a:ext cx="10698480" cy="347472"/>
          </a:xfrm>
          <a:prstGeom prst="roundRect">
            <a:avLst>
              <a:gd name="adj" fmla="val 15789"/>
            </a:avLst>
          </a:prstGeom>
          <a:solidFill>
            <a:srgbClr val="F8FAFC"/>
          </a:solidFill>
          <a:ln w="12700">
            <a:solidFill>
              <a:srgbClr val="E2E8F0"/>
            </a:solidFill>
            <a:prstDash val="solid"/>
          </a:ln>
        </p:spPr>
      </p:sp>
      <p:sp>
        <p:nvSpPr>
          <p:cNvPr id="65" name="Text 63"/>
          <p:cNvSpPr/>
          <p:nvPr/>
        </p:nvSpPr>
        <p:spPr>
          <a:xfrm>
            <a:off x="786384" y="5934456"/>
            <a:ext cx="10588752" cy="274320"/>
          </a:xfrm>
          <a:prstGeom prst="rect">
            <a:avLst/>
          </a:prstGeom>
          <a:noFill/>
          <a:ln/>
        </p:spPr>
        <p:txBody>
          <a:bodyPr wrap="square" rtlCol="0" anchor="ctr"/>
          <a:lstStyle/>
          <a:p>
            <a:pPr algn="ctr" indent="0" marL="0">
              <a:lnSpc>
                <a:spcPct val="125000"/>
              </a:lnSpc>
              <a:buNone/>
            </a:pPr>
            <a:r>
              <a:rPr lang="en-US" sz="850" dirty="0">
                <a:solidFill>
                  <a:srgbClr val="0F172A"/>
                </a:solidFill>
                <a:latin typeface="Calibri" pitchFamily="34" charset="0"/>
                <a:ea typeface="Calibri" pitchFamily="34" charset="-122"/>
                <a:cs typeface="Calibri" pitchFamily="34" charset="-120"/>
              </a:rPr>
              <a:t>Security Measures: Salted bcrypt passwords (10 rounds) | Stateless JWT tokens | HTTP-only cookie option | ProtectedRoute React guards | RBAC Express gates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59669"/>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D1FAE5"/>
          </a:solidFill>
          <a:ln w="10160">
            <a:solidFill>
              <a:srgbClr val="059669"/>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059669"/>
                </a:solidFill>
                <a:latin typeface="Calibri" pitchFamily="34" charset="0"/>
                <a:ea typeface="Calibri" pitchFamily="34" charset="-122"/>
                <a:cs typeface="Calibri" pitchFamily="34" charset="-120"/>
              </a:rPr>
              <a:t>RESULTS</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Results &amp; Experimental Analysis: Feature Validation</a:t>
            </a:r>
            <a:endParaRPr lang="en-US" sz="2300" dirty="0"/>
          </a:p>
        </p:txBody>
      </p:sp>
      <p:sp>
        <p:nvSpPr>
          <p:cNvPr id="8" name="Shape 6"/>
          <p:cNvSpPr/>
          <p:nvPr/>
        </p:nvSpPr>
        <p:spPr>
          <a:xfrm>
            <a:off x="731520" y="1097280"/>
            <a:ext cx="2194560" cy="32004"/>
          </a:xfrm>
          <a:prstGeom prst="rect">
            <a:avLst/>
          </a:prstGeom>
          <a:solidFill>
            <a:srgbClr val="059669"/>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059669"/>
                </a:solidFill>
                <a:latin typeface="Calibri" pitchFamily="34" charset="0"/>
                <a:ea typeface="Calibri" pitchFamily="34" charset="-122"/>
                <a:cs typeface="Calibri" pitchFamily="34" charset="-120"/>
              </a:rPr>
              <a:t>13</a:t>
            </a:r>
            <a:endParaRPr lang="en-US" sz="950" dirty="0"/>
          </a:p>
        </p:txBody>
      </p:sp>
      <p:sp>
        <p:nvSpPr>
          <p:cNvPr id="11" name="Text 9"/>
          <p:cNvSpPr/>
          <p:nvPr/>
        </p:nvSpPr>
        <p:spPr>
          <a:xfrm>
            <a:off x="731520" y="1325880"/>
            <a:ext cx="7315200" cy="256032"/>
          </a:xfrm>
          <a:prstGeom prst="rect">
            <a:avLst/>
          </a:prstGeom>
          <a:noFill/>
          <a:ln/>
        </p:spPr>
        <p:txBody>
          <a:bodyPr wrap="square" rtlCol="0" anchor="ctr"/>
          <a:lstStyle/>
          <a:p>
            <a:pPr indent="0" marL="0">
              <a:buNone/>
            </a:pPr>
            <a:r>
              <a:rPr lang="en-US" sz="850" b="1" spc="200" kern="0" dirty="0">
                <a:solidFill>
                  <a:srgbClr val="059669"/>
                </a:solidFill>
                <a:latin typeface="Calibri" pitchFamily="34" charset="0"/>
                <a:ea typeface="Calibri" pitchFamily="34" charset="-122"/>
                <a:cs typeface="Calibri" pitchFamily="34" charset="-120"/>
              </a:rPr>
              <a:t>MODULE-WISE FUNCTIONAL VALIDATION MATRIX (ALTS TEST SUITE)</a:t>
            </a:r>
            <a:endParaRPr lang="en-US" sz="8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1627632"/>
          <a:ext cx="10698480" cy="914400"/>
        </p:xfrm>
        <a:graphic>
          <a:graphicData uri="http://schemas.openxmlformats.org/drawingml/2006/table">
            <a:tbl>
              <a:tblPr/>
              <a:tblGrid>
                <a:gridCol w="2011680"/>
                <a:gridCol w="4572000"/>
                <a:gridCol w="2743200"/>
                <a:gridCol w="1371600"/>
              </a:tblGrid>
              <a:tr h="347472">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Module</a:t>
                      </a:r>
                      <a:endParaRPr lang="en-US" sz="10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59669"/>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Scope of Tested Functionality</a:t>
                      </a:r>
                      <a:endParaRPr lang="en-US" sz="10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59669"/>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Test Methodology</a:t>
                      </a:r>
                      <a:endParaRPr lang="en-US" sz="10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59669"/>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59669"/>
                    </a:solidFill>
                  </a:tcPr>
                </a:tc>
              </a:tr>
              <a:tr h="41148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Authentication &amp; RBAC</a:t>
                      </a:r>
                      <a:endParaRPr lang="en-US" sz="9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JWT issuance, password hashing, role-based route guard, token expiration handling</a:t>
                      </a:r>
                      <a:endParaRPr lang="en-US" sz="9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Postman positive/negative token injection tests</a:t>
                      </a:r>
                      <a:endParaRPr lang="en-US" sz="9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59669"/>
                          </a:solidFill>
                          <a:latin typeface="Calibri" pitchFamily="34" charset="0"/>
                          <a:ea typeface="Calibri" pitchFamily="34" charset="-122"/>
                          <a:cs typeface="Calibri" pitchFamily="34" charset="-120"/>
                        </a:rPr>
                        <a:t>✓ 100% Passed</a:t>
                      </a:r>
                      <a:endParaRPr lang="en-US" sz="9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1148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Resume Parser (ATS)</a:t>
                      </a:r>
                      <a:endParaRPr lang="en-US" sz="9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PDF and DOCX text extraction, keyword extraction, similarity score generation</a:t>
                      </a:r>
                      <a:endParaRPr lang="en-US" sz="9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Test suite of 50 sample student resumes</a:t>
                      </a:r>
                      <a:endParaRPr lang="en-US" sz="9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59669"/>
                          </a:solidFill>
                          <a:latin typeface="Calibri" pitchFamily="34" charset="0"/>
                          <a:ea typeface="Calibri" pitchFamily="34" charset="-122"/>
                          <a:cs typeface="Calibri" pitchFamily="34" charset="-120"/>
                        </a:rPr>
                        <a:t>✓ 100% Passed</a:t>
                      </a:r>
                      <a:endParaRPr lang="en-US" sz="9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1148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Student Dashboard</a:t>
                      </a:r>
                      <a:endParaRPr lang="en-US" sz="9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Profile creation, portfolio showcase, job filtering, live application status tracking</a:t>
                      </a:r>
                      <a:endParaRPr lang="en-US" sz="9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End-to-end browser walkthroughs &amp; state checks</a:t>
                      </a:r>
                      <a:endParaRPr lang="en-US" sz="9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59669"/>
                          </a:solidFill>
                          <a:latin typeface="Calibri" pitchFamily="34" charset="0"/>
                          <a:ea typeface="Calibri" pitchFamily="34" charset="-122"/>
                          <a:cs typeface="Calibri" pitchFamily="34" charset="-120"/>
                        </a:rPr>
                        <a:t>✓ 100% Passed</a:t>
                      </a:r>
                      <a:endParaRPr lang="en-US" sz="9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1148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Recruiter Dashboard</a:t>
                      </a:r>
                      <a:endParaRPr lang="en-US" sz="9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Job creation, candidate shortlisting, applicant ranking, direct messaging</a:t>
                      </a:r>
                      <a:endParaRPr lang="en-US" sz="9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Mock hiring drive with 100+ applicant pool</a:t>
                      </a:r>
                      <a:endParaRPr lang="en-US" sz="9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59669"/>
                          </a:solidFill>
                          <a:latin typeface="Calibri" pitchFamily="34" charset="0"/>
                          <a:ea typeface="Calibri" pitchFamily="34" charset="-122"/>
                          <a:cs typeface="Calibri" pitchFamily="34" charset="-120"/>
                        </a:rPr>
                        <a:t>✓ 100% Passed</a:t>
                      </a:r>
                      <a:endParaRPr lang="en-US" sz="9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1148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SMTP Email Worker</a:t>
                      </a:r>
                      <a:endParaRPr lang="en-US" sz="9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Automated HTML email generation on status update (selected, interview, rejected)</a:t>
                      </a:r>
                      <a:endParaRPr lang="en-US" sz="9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SMTP delivery verification to live inboxes</a:t>
                      </a:r>
                      <a:endParaRPr lang="en-US" sz="9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59669"/>
                          </a:solidFill>
                          <a:latin typeface="Calibri" pitchFamily="34" charset="0"/>
                          <a:ea typeface="Calibri" pitchFamily="34" charset="-122"/>
                          <a:cs typeface="Calibri" pitchFamily="34" charset="-120"/>
                        </a:rPr>
                        <a:t>✓ 100% Passed</a:t>
                      </a:r>
                      <a:endParaRPr lang="en-US" sz="9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1148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Analytics Dashboard</a:t>
                      </a:r>
                      <a:endParaRPr lang="en-US" sz="9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Recharts hiring funnel visualization, department-wise placement distributions</a:t>
                      </a:r>
                      <a:endParaRPr lang="en-US" sz="9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Cross-checked with raw MongoDB aggregates</a:t>
                      </a:r>
                      <a:endParaRPr lang="en-US" sz="9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59669"/>
                          </a:solidFill>
                          <a:latin typeface="Calibri" pitchFamily="34" charset="0"/>
                          <a:ea typeface="Calibri" pitchFamily="34" charset="-122"/>
                          <a:cs typeface="Calibri" pitchFamily="34" charset="-120"/>
                        </a:rPr>
                        <a:t>✓ 100% Passed</a:t>
                      </a:r>
                      <a:endParaRPr lang="en-US" sz="9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11480">
                <a:tc>
                  <a:txBody>
                    <a:bodyPr/>
                    <a:lstStyle/>
                    <a:p>
                      <a:pPr indent="0" marL="0">
                        <a:buNone/>
                      </a:pPr>
                      <a:r>
                        <a:rPr lang="en-US" sz="950" b="1" dirty="0">
                          <a:solidFill>
                            <a:srgbClr val="0F172A"/>
                          </a:solidFill>
                          <a:latin typeface="Calibri" pitchFamily="34" charset="0"/>
                          <a:ea typeface="Calibri" pitchFamily="34" charset="-122"/>
                          <a:cs typeface="Calibri" pitchFamily="34" charset="-120"/>
                        </a:rPr>
                        <a:t>Admin Governance</a:t>
                      </a:r>
                      <a:endParaRPr lang="en-US" sz="9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Platform-wide user management, job listing approvals, recruiter verification</a:t>
                      </a:r>
                      <a:endParaRPr lang="en-US" sz="9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Security boundary and data isolation checks</a:t>
                      </a:r>
                      <a:endParaRPr lang="en-US" sz="90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950" b="1" dirty="0">
                          <a:solidFill>
                            <a:srgbClr val="059669"/>
                          </a:solidFill>
                          <a:latin typeface="Calibri" pitchFamily="34" charset="0"/>
                          <a:ea typeface="Calibri" pitchFamily="34" charset="-122"/>
                          <a:cs typeface="Calibri" pitchFamily="34" charset="-120"/>
                        </a:rPr>
                        <a:t>✓ 100% Passed</a:t>
                      </a:r>
                      <a:endParaRPr lang="en-US" sz="950" dirty="0">
                        <a:latin typeface="Calibri" charset="0"/>
                        <a:ea typeface="Calibri" charset="0"/>
                        <a:cs typeface="Calibri"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13" name="Text 10"/>
          <p:cNvSpPr/>
          <p:nvPr/>
        </p:nvSpPr>
        <p:spPr>
          <a:xfrm>
            <a:off x="731520" y="5943600"/>
            <a:ext cx="10698480" cy="320040"/>
          </a:xfrm>
          <a:prstGeom prst="rect">
            <a:avLst/>
          </a:prstGeom>
          <a:noFill/>
          <a:ln/>
        </p:spPr>
        <p:txBody>
          <a:bodyPr wrap="square"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Note: System includes dual runtime modes: full live MongoDB Atlas deployment and standalone client-side mock demo mode for ALTS.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59669"/>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D1FAE5"/>
          </a:solidFill>
          <a:ln w="10160">
            <a:solidFill>
              <a:srgbClr val="059669"/>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059669"/>
                </a:solidFill>
                <a:latin typeface="Calibri" pitchFamily="34" charset="0"/>
                <a:ea typeface="Calibri" pitchFamily="34" charset="-122"/>
                <a:cs typeface="Calibri" pitchFamily="34" charset="-120"/>
              </a:rPr>
              <a:t>RESULTS</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Placement Pipeline Funnel &amp; System Benchmarking</a:t>
            </a:r>
            <a:endParaRPr lang="en-US" sz="2300" dirty="0"/>
          </a:p>
        </p:txBody>
      </p:sp>
      <p:sp>
        <p:nvSpPr>
          <p:cNvPr id="8" name="Shape 6"/>
          <p:cNvSpPr/>
          <p:nvPr/>
        </p:nvSpPr>
        <p:spPr>
          <a:xfrm>
            <a:off x="731520" y="1097280"/>
            <a:ext cx="2194560" cy="32004"/>
          </a:xfrm>
          <a:prstGeom prst="rect">
            <a:avLst/>
          </a:prstGeom>
          <a:solidFill>
            <a:srgbClr val="059669"/>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059669"/>
                </a:solidFill>
                <a:latin typeface="Calibri" pitchFamily="34" charset="0"/>
                <a:ea typeface="Calibri" pitchFamily="34" charset="-122"/>
                <a:cs typeface="Calibri" pitchFamily="34" charset="-120"/>
              </a:rPr>
              <a:t>14</a:t>
            </a:r>
            <a:endParaRPr lang="en-US" sz="950" dirty="0"/>
          </a:p>
        </p:txBody>
      </p:sp>
      <p:sp>
        <p:nvSpPr>
          <p:cNvPr id="11" name="Text 9"/>
          <p:cNvSpPr/>
          <p:nvPr/>
        </p:nvSpPr>
        <p:spPr>
          <a:xfrm>
            <a:off x="731520" y="1325880"/>
            <a:ext cx="7315200" cy="256032"/>
          </a:xfrm>
          <a:prstGeom prst="rect">
            <a:avLst/>
          </a:prstGeom>
          <a:noFill/>
          <a:ln/>
        </p:spPr>
        <p:txBody>
          <a:bodyPr wrap="square" rtlCol="0" anchor="ctr"/>
          <a:lstStyle/>
          <a:p>
            <a:pPr indent="0" marL="0">
              <a:buNone/>
            </a:pPr>
            <a:r>
              <a:rPr lang="en-US" sz="850" b="1" spc="200" kern="0" dirty="0">
                <a:solidFill>
                  <a:srgbClr val="059669"/>
                </a:solidFill>
                <a:latin typeface="Calibri" pitchFamily="34" charset="0"/>
                <a:ea typeface="Calibri" pitchFamily="34" charset="-122"/>
                <a:cs typeface="Calibri" pitchFamily="34" charset="-120"/>
              </a:rPr>
              <a:t>ALTS CAMPUS PLACEMENT FUNNEL CONVERSION FLOW</a:t>
            </a:r>
            <a:endParaRPr lang="en-US" sz="850" dirty="0"/>
          </a:p>
        </p:txBody>
      </p:sp>
      <p:sp>
        <p:nvSpPr>
          <p:cNvPr id="12" name="Shape 10"/>
          <p:cNvSpPr/>
          <p:nvPr/>
        </p:nvSpPr>
        <p:spPr>
          <a:xfrm>
            <a:off x="731520" y="1600200"/>
            <a:ext cx="1920240" cy="868680"/>
          </a:xfrm>
          <a:prstGeom prst="roundRect">
            <a:avLst>
              <a:gd name="adj" fmla="val 6316"/>
            </a:avLst>
          </a:prstGeom>
          <a:solidFill>
            <a:srgbClr val="EFF6FF"/>
          </a:solidFill>
          <a:ln w="16510">
            <a:solidFill>
              <a:srgbClr val="1D4ED8"/>
            </a:solidFill>
            <a:prstDash val="solid"/>
          </a:ln>
        </p:spPr>
      </p:sp>
      <p:sp>
        <p:nvSpPr>
          <p:cNvPr id="13" name="Text 11"/>
          <p:cNvSpPr/>
          <p:nvPr/>
        </p:nvSpPr>
        <p:spPr>
          <a:xfrm>
            <a:off x="731520" y="1645920"/>
            <a:ext cx="1920240" cy="228600"/>
          </a:xfrm>
          <a:prstGeom prst="rect">
            <a:avLst/>
          </a:prstGeom>
          <a:noFill/>
          <a:ln/>
        </p:spPr>
        <p:txBody>
          <a:bodyPr wrap="square" rtlCol="0" anchor="ctr"/>
          <a:lstStyle/>
          <a:p>
            <a:pPr algn="ctr" indent="0" marL="0">
              <a:buNone/>
            </a:pPr>
            <a:r>
              <a:rPr lang="en-US" sz="850" b="1" dirty="0">
                <a:solidFill>
                  <a:srgbClr val="1D4ED8"/>
                </a:solidFill>
                <a:latin typeface="Calibri" pitchFamily="34" charset="0"/>
                <a:ea typeface="Calibri" pitchFamily="34" charset="-122"/>
                <a:cs typeface="Calibri" pitchFamily="34" charset="-120"/>
              </a:rPr>
              <a:t>1. Registered Pool</a:t>
            </a:r>
            <a:endParaRPr lang="en-US" sz="850" dirty="0"/>
          </a:p>
        </p:txBody>
      </p:sp>
      <p:sp>
        <p:nvSpPr>
          <p:cNvPr id="14" name="Text 12"/>
          <p:cNvSpPr/>
          <p:nvPr/>
        </p:nvSpPr>
        <p:spPr>
          <a:xfrm>
            <a:off x="731520" y="1874520"/>
            <a:ext cx="1920240" cy="292608"/>
          </a:xfrm>
          <a:prstGeom prst="rect">
            <a:avLst/>
          </a:prstGeom>
          <a:noFill/>
          <a:ln/>
        </p:spPr>
        <p:txBody>
          <a:bodyPr wrap="square"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520 Students</a:t>
            </a:r>
            <a:endParaRPr lang="en-US" sz="1200" dirty="0"/>
          </a:p>
        </p:txBody>
      </p:sp>
      <p:sp>
        <p:nvSpPr>
          <p:cNvPr id="15" name="Text 13"/>
          <p:cNvSpPr/>
          <p:nvPr/>
        </p:nvSpPr>
        <p:spPr>
          <a:xfrm>
            <a:off x="731520" y="2176272"/>
            <a:ext cx="1920240" cy="201168"/>
          </a:xfrm>
          <a:prstGeom prst="rect">
            <a:avLst/>
          </a:prstGeom>
          <a:noFill/>
          <a:ln/>
        </p:spPr>
        <p:txBody>
          <a:bodyPr wrap="square" rtlCol="0" anchor="ctr"/>
          <a:lstStyle/>
          <a:p>
            <a:pPr algn="ctr" indent="0" marL="0">
              <a:buNone/>
            </a:pPr>
            <a:r>
              <a:rPr lang="en-US" sz="800" b="1" dirty="0">
                <a:solidFill>
                  <a:srgbClr val="1D4ED8"/>
                </a:solidFill>
                <a:latin typeface="Calibri" pitchFamily="34" charset="0"/>
                <a:ea typeface="Calibri" pitchFamily="34" charset="-122"/>
                <a:cs typeface="Calibri" pitchFamily="34" charset="-120"/>
              </a:rPr>
              <a:t>Conversion: 100%</a:t>
            </a:r>
            <a:endParaRPr lang="en-US" sz="800" dirty="0"/>
          </a:p>
        </p:txBody>
      </p:sp>
      <p:sp>
        <p:nvSpPr>
          <p:cNvPr id="16" name="Shape 14"/>
          <p:cNvSpPr/>
          <p:nvPr/>
        </p:nvSpPr>
        <p:spPr>
          <a:xfrm>
            <a:off x="2670048" y="2029968"/>
            <a:ext cx="237744" cy="0"/>
          </a:xfrm>
          <a:prstGeom prst="line">
            <a:avLst/>
          </a:prstGeom>
          <a:noFill/>
          <a:ln w="16510">
            <a:solidFill>
              <a:srgbClr val="1D4ED8"/>
            </a:solidFill>
            <a:prstDash val="solid"/>
            <a:tailEnd type="triangle"/>
          </a:ln>
        </p:spPr>
      </p:sp>
      <p:sp>
        <p:nvSpPr>
          <p:cNvPr id="17" name="Shape 15"/>
          <p:cNvSpPr/>
          <p:nvPr/>
        </p:nvSpPr>
        <p:spPr>
          <a:xfrm>
            <a:off x="2926080" y="1600200"/>
            <a:ext cx="1920240" cy="868680"/>
          </a:xfrm>
          <a:prstGeom prst="roundRect">
            <a:avLst>
              <a:gd name="adj" fmla="val 6316"/>
            </a:avLst>
          </a:prstGeom>
          <a:solidFill>
            <a:srgbClr val="EEF2FF"/>
          </a:solidFill>
          <a:ln w="16510">
            <a:solidFill>
              <a:srgbClr val="4338CA"/>
            </a:solidFill>
            <a:prstDash val="solid"/>
          </a:ln>
        </p:spPr>
      </p:sp>
      <p:sp>
        <p:nvSpPr>
          <p:cNvPr id="18" name="Text 16"/>
          <p:cNvSpPr/>
          <p:nvPr/>
        </p:nvSpPr>
        <p:spPr>
          <a:xfrm>
            <a:off x="2926080" y="1645920"/>
            <a:ext cx="1920240" cy="228600"/>
          </a:xfrm>
          <a:prstGeom prst="rect">
            <a:avLst/>
          </a:prstGeom>
          <a:noFill/>
          <a:ln/>
        </p:spPr>
        <p:txBody>
          <a:bodyPr wrap="square" rtlCol="0" anchor="ctr"/>
          <a:lstStyle/>
          <a:p>
            <a:pPr algn="ctr" indent="0" marL="0">
              <a:buNone/>
            </a:pPr>
            <a:r>
              <a:rPr lang="en-US" sz="850" b="1" dirty="0">
                <a:solidFill>
                  <a:srgbClr val="4338CA"/>
                </a:solidFill>
                <a:latin typeface="Calibri" pitchFamily="34" charset="0"/>
                <a:ea typeface="Calibri" pitchFamily="34" charset="-122"/>
                <a:cs typeface="Calibri" pitchFamily="34" charset="-120"/>
              </a:rPr>
              <a:t>2. Eligibility Check</a:t>
            </a:r>
            <a:endParaRPr lang="en-US" sz="850" dirty="0"/>
          </a:p>
        </p:txBody>
      </p:sp>
      <p:sp>
        <p:nvSpPr>
          <p:cNvPr id="19" name="Text 17"/>
          <p:cNvSpPr/>
          <p:nvPr/>
        </p:nvSpPr>
        <p:spPr>
          <a:xfrm>
            <a:off x="2926080" y="1874520"/>
            <a:ext cx="1920240" cy="292608"/>
          </a:xfrm>
          <a:prstGeom prst="rect">
            <a:avLst/>
          </a:prstGeom>
          <a:noFill/>
          <a:ln/>
        </p:spPr>
        <p:txBody>
          <a:bodyPr wrap="square"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421 Eligible</a:t>
            </a:r>
            <a:endParaRPr lang="en-US" sz="1200" dirty="0"/>
          </a:p>
        </p:txBody>
      </p:sp>
      <p:sp>
        <p:nvSpPr>
          <p:cNvPr id="20" name="Text 18"/>
          <p:cNvSpPr/>
          <p:nvPr/>
        </p:nvSpPr>
        <p:spPr>
          <a:xfrm>
            <a:off x="2926080" y="2176272"/>
            <a:ext cx="1920240" cy="201168"/>
          </a:xfrm>
          <a:prstGeom prst="rect">
            <a:avLst/>
          </a:prstGeom>
          <a:noFill/>
          <a:ln/>
        </p:spPr>
        <p:txBody>
          <a:bodyPr wrap="square" rtlCol="0" anchor="ctr"/>
          <a:lstStyle/>
          <a:p>
            <a:pPr algn="ctr" indent="0" marL="0">
              <a:buNone/>
            </a:pPr>
            <a:r>
              <a:rPr lang="en-US" sz="800" b="1" dirty="0">
                <a:solidFill>
                  <a:srgbClr val="4338CA"/>
                </a:solidFill>
                <a:latin typeface="Calibri" pitchFamily="34" charset="0"/>
                <a:ea typeface="Calibri" pitchFamily="34" charset="-122"/>
                <a:cs typeface="Calibri" pitchFamily="34" charset="-120"/>
              </a:rPr>
              <a:t>Conversion: 81%</a:t>
            </a:r>
            <a:endParaRPr lang="en-US" sz="800" dirty="0"/>
          </a:p>
        </p:txBody>
      </p:sp>
      <p:sp>
        <p:nvSpPr>
          <p:cNvPr id="21" name="Shape 19"/>
          <p:cNvSpPr/>
          <p:nvPr/>
        </p:nvSpPr>
        <p:spPr>
          <a:xfrm>
            <a:off x="4864608" y="2029968"/>
            <a:ext cx="237744" cy="0"/>
          </a:xfrm>
          <a:prstGeom prst="line">
            <a:avLst/>
          </a:prstGeom>
          <a:noFill/>
          <a:ln w="16510">
            <a:solidFill>
              <a:srgbClr val="4338CA"/>
            </a:solidFill>
            <a:prstDash val="solid"/>
            <a:tailEnd type="triangle"/>
          </a:ln>
        </p:spPr>
      </p:sp>
      <p:sp>
        <p:nvSpPr>
          <p:cNvPr id="22" name="Shape 20"/>
          <p:cNvSpPr/>
          <p:nvPr/>
        </p:nvSpPr>
        <p:spPr>
          <a:xfrm>
            <a:off x="5120640" y="1600200"/>
            <a:ext cx="1920240" cy="868680"/>
          </a:xfrm>
          <a:prstGeom prst="roundRect">
            <a:avLst>
              <a:gd name="adj" fmla="val 6316"/>
            </a:avLst>
          </a:prstGeom>
          <a:solidFill>
            <a:srgbClr val="F5F3FF"/>
          </a:solidFill>
          <a:ln w="16510">
            <a:solidFill>
              <a:srgbClr val="7C3AED"/>
            </a:solidFill>
            <a:prstDash val="solid"/>
          </a:ln>
        </p:spPr>
      </p:sp>
      <p:sp>
        <p:nvSpPr>
          <p:cNvPr id="23" name="Text 21"/>
          <p:cNvSpPr/>
          <p:nvPr/>
        </p:nvSpPr>
        <p:spPr>
          <a:xfrm>
            <a:off x="5120640" y="1645920"/>
            <a:ext cx="1920240" cy="228600"/>
          </a:xfrm>
          <a:prstGeom prst="rect">
            <a:avLst/>
          </a:prstGeom>
          <a:noFill/>
          <a:ln/>
        </p:spPr>
        <p:txBody>
          <a:bodyPr wrap="square" rtlCol="0" anchor="ctr"/>
          <a:lstStyle/>
          <a:p>
            <a:pPr algn="ctr" indent="0" marL="0">
              <a:buNone/>
            </a:pPr>
            <a:r>
              <a:rPr lang="en-US" sz="850" b="1" dirty="0">
                <a:solidFill>
                  <a:srgbClr val="7C3AED"/>
                </a:solidFill>
                <a:latin typeface="Calibri" pitchFamily="34" charset="0"/>
                <a:ea typeface="Calibri" pitchFamily="34" charset="-122"/>
                <a:cs typeface="Calibri" pitchFamily="34" charset="-120"/>
              </a:rPr>
              <a:t>3. ATS Screened</a:t>
            </a:r>
            <a:endParaRPr lang="en-US" sz="850" dirty="0"/>
          </a:p>
        </p:txBody>
      </p:sp>
      <p:sp>
        <p:nvSpPr>
          <p:cNvPr id="24" name="Text 22"/>
          <p:cNvSpPr/>
          <p:nvPr/>
        </p:nvSpPr>
        <p:spPr>
          <a:xfrm>
            <a:off x="5120640" y="1874520"/>
            <a:ext cx="1920240" cy="292608"/>
          </a:xfrm>
          <a:prstGeom prst="rect">
            <a:avLst/>
          </a:prstGeom>
          <a:noFill/>
          <a:ln/>
        </p:spPr>
        <p:txBody>
          <a:bodyPr wrap="square"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322 Passed (≥70%)</a:t>
            </a:r>
            <a:endParaRPr lang="en-US" sz="1200" dirty="0"/>
          </a:p>
        </p:txBody>
      </p:sp>
      <p:sp>
        <p:nvSpPr>
          <p:cNvPr id="25" name="Text 23"/>
          <p:cNvSpPr/>
          <p:nvPr/>
        </p:nvSpPr>
        <p:spPr>
          <a:xfrm>
            <a:off x="5120640" y="2176272"/>
            <a:ext cx="1920240" cy="201168"/>
          </a:xfrm>
          <a:prstGeom prst="rect">
            <a:avLst/>
          </a:prstGeom>
          <a:noFill/>
          <a:ln/>
        </p:spPr>
        <p:txBody>
          <a:bodyPr wrap="square" rtlCol="0" anchor="ctr"/>
          <a:lstStyle/>
          <a:p>
            <a:pPr algn="ctr" indent="0" marL="0">
              <a:buNone/>
            </a:pPr>
            <a:r>
              <a:rPr lang="en-US" sz="800" b="1" dirty="0">
                <a:solidFill>
                  <a:srgbClr val="7C3AED"/>
                </a:solidFill>
                <a:latin typeface="Calibri" pitchFamily="34" charset="0"/>
                <a:ea typeface="Calibri" pitchFamily="34" charset="-122"/>
                <a:cs typeface="Calibri" pitchFamily="34" charset="-120"/>
              </a:rPr>
              <a:t>Conversion: 62%</a:t>
            </a:r>
            <a:endParaRPr lang="en-US" sz="800" dirty="0"/>
          </a:p>
        </p:txBody>
      </p:sp>
      <p:sp>
        <p:nvSpPr>
          <p:cNvPr id="26" name="Shape 24"/>
          <p:cNvSpPr/>
          <p:nvPr/>
        </p:nvSpPr>
        <p:spPr>
          <a:xfrm>
            <a:off x="7059168" y="2029968"/>
            <a:ext cx="237744" cy="0"/>
          </a:xfrm>
          <a:prstGeom prst="line">
            <a:avLst/>
          </a:prstGeom>
          <a:noFill/>
          <a:ln w="16510">
            <a:solidFill>
              <a:srgbClr val="7C3AED"/>
            </a:solidFill>
            <a:prstDash val="solid"/>
            <a:tailEnd type="triangle"/>
          </a:ln>
        </p:spPr>
      </p:sp>
      <p:sp>
        <p:nvSpPr>
          <p:cNvPr id="27" name="Shape 25"/>
          <p:cNvSpPr/>
          <p:nvPr/>
        </p:nvSpPr>
        <p:spPr>
          <a:xfrm>
            <a:off x="7315200" y="1600200"/>
            <a:ext cx="1920240" cy="868680"/>
          </a:xfrm>
          <a:prstGeom prst="roundRect">
            <a:avLst>
              <a:gd name="adj" fmla="val 6316"/>
            </a:avLst>
          </a:prstGeom>
          <a:solidFill>
            <a:srgbClr val="F0FDFA"/>
          </a:solidFill>
          <a:ln w="16510">
            <a:solidFill>
              <a:srgbClr val="0D9488"/>
            </a:solidFill>
            <a:prstDash val="solid"/>
          </a:ln>
        </p:spPr>
      </p:sp>
      <p:sp>
        <p:nvSpPr>
          <p:cNvPr id="28" name="Text 26"/>
          <p:cNvSpPr/>
          <p:nvPr/>
        </p:nvSpPr>
        <p:spPr>
          <a:xfrm>
            <a:off x="7315200" y="1645920"/>
            <a:ext cx="1920240" cy="228600"/>
          </a:xfrm>
          <a:prstGeom prst="rect">
            <a:avLst/>
          </a:prstGeom>
          <a:noFill/>
          <a:ln/>
        </p:spPr>
        <p:txBody>
          <a:bodyPr wrap="square" rtlCol="0" anchor="ctr"/>
          <a:lstStyle/>
          <a:p>
            <a:pPr algn="ctr" indent="0" marL="0">
              <a:buNone/>
            </a:pPr>
            <a:r>
              <a:rPr lang="en-US" sz="850" b="1" dirty="0">
                <a:solidFill>
                  <a:srgbClr val="0D9488"/>
                </a:solidFill>
                <a:latin typeface="Calibri" pitchFamily="34" charset="0"/>
                <a:ea typeface="Calibri" pitchFamily="34" charset="-122"/>
                <a:cs typeface="Calibri" pitchFamily="34" charset="-120"/>
              </a:rPr>
              <a:t>4. Tech Interview</a:t>
            </a:r>
            <a:endParaRPr lang="en-US" sz="850" dirty="0"/>
          </a:p>
        </p:txBody>
      </p:sp>
      <p:sp>
        <p:nvSpPr>
          <p:cNvPr id="29" name="Text 27"/>
          <p:cNvSpPr/>
          <p:nvPr/>
        </p:nvSpPr>
        <p:spPr>
          <a:xfrm>
            <a:off x="7315200" y="1874520"/>
            <a:ext cx="1920240" cy="292608"/>
          </a:xfrm>
          <a:prstGeom prst="rect">
            <a:avLst/>
          </a:prstGeom>
          <a:noFill/>
          <a:ln/>
        </p:spPr>
        <p:txBody>
          <a:bodyPr wrap="square"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161 Interviewed</a:t>
            </a:r>
            <a:endParaRPr lang="en-US" sz="1200" dirty="0"/>
          </a:p>
        </p:txBody>
      </p:sp>
      <p:sp>
        <p:nvSpPr>
          <p:cNvPr id="30" name="Text 28"/>
          <p:cNvSpPr/>
          <p:nvPr/>
        </p:nvSpPr>
        <p:spPr>
          <a:xfrm>
            <a:off x="7315200" y="2176272"/>
            <a:ext cx="1920240" cy="201168"/>
          </a:xfrm>
          <a:prstGeom prst="rect">
            <a:avLst/>
          </a:prstGeom>
          <a:noFill/>
          <a:ln/>
        </p:spPr>
        <p:txBody>
          <a:bodyPr wrap="square" rtlCol="0" anchor="ctr"/>
          <a:lstStyle/>
          <a:p>
            <a:pPr algn="ctr" indent="0" marL="0">
              <a:buNone/>
            </a:pPr>
            <a:r>
              <a:rPr lang="en-US" sz="800" b="1" dirty="0">
                <a:solidFill>
                  <a:srgbClr val="0D9488"/>
                </a:solidFill>
                <a:latin typeface="Calibri" pitchFamily="34" charset="0"/>
                <a:ea typeface="Calibri" pitchFamily="34" charset="-122"/>
                <a:cs typeface="Calibri" pitchFamily="34" charset="-120"/>
              </a:rPr>
              <a:t>Conversion: 31%</a:t>
            </a:r>
            <a:endParaRPr lang="en-US" sz="800" dirty="0"/>
          </a:p>
        </p:txBody>
      </p:sp>
      <p:sp>
        <p:nvSpPr>
          <p:cNvPr id="31" name="Shape 29"/>
          <p:cNvSpPr/>
          <p:nvPr/>
        </p:nvSpPr>
        <p:spPr>
          <a:xfrm>
            <a:off x="9253728" y="2029968"/>
            <a:ext cx="237744" cy="0"/>
          </a:xfrm>
          <a:prstGeom prst="line">
            <a:avLst/>
          </a:prstGeom>
          <a:noFill/>
          <a:ln w="16510">
            <a:solidFill>
              <a:srgbClr val="0D9488"/>
            </a:solidFill>
            <a:prstDash val="solid"/>
            <a:tailEnd type="triangle"/>
          </a:ln>
        </p:spPr>
      </p:sp>
      <p:sp>
        <p:nvSpPr>
          <p:cNvPr id="32" name="Shape 30"/>
          <p:cNvSpPr/>
          <p:nvPr/>
        </p:nvSpPr>
        <p:spPr>
          <a:xfrm>
            <a:off x="9509760" y="1600200"/>
            <a:ext cx="1920240" cy="868680"/>
          </a:xfrm>
          <a:prstGeom prst="roundRect">
            <a:avLst>
              <a:gd name="adj" fmla="val 6316"/>
            </a:avLst>
          </a:prstGeom>
          <a:solidFill>
            <a:srgbClr val="ECFDF5"/>
          </a:solidFill>
          <a:ln w="16510">
            <a:solidFill>
              <a:srgbClr val="059669"/>
            </a:solidFill>
            <a:prstDash val="solid"/>
          </a:ln>
        </p:spPr>
      </p:sp>
      <p:sp>
        <p:nvSpPr>
          <p:cNvPr id="33" name="Text 31"/>
          <p:cNvSpPr/>
          <p:nvPr/>
        </p:nvSpPr>
        <p:spPr>
          <a:xfrm>
            <a:off x="9509760" y="1645920"/>
            <a:ext cx="1920240" cy="228600"/>
          </a:xfrm>
          <a:prstGeom prst="rect">
            <a:avLst/>
          </a:prstGeom>
          <a:noFill/>
          <a:ln/>
        </p:spPr>
        <p:txBody>
          <a:bodyPr wrap="square" rtlCol="0" anchor="ctr"/>
          <a:lstStyle/>
          <a:p>
            <a:pPr algn="ctr" indent="0" marL="0">
              <a:buNone/>
            </a:pPr>
            <a:r>
              <a:rPr lang="en-US" sz="850" b="1" dirty="0">
                <a:solidFill>
                  <a:srgbClr val="059669"/>
                </a:solidFill>
                <a:latin typeface="Calibri" pitchFamily="34" charset="0"/>
                <a:ea typeface="Calibri" pitchFamily="34" charset="-122"/>
                <a:cs typeface="Calibri" pitchFamily="34" charset="-120"/>
              </a:rPr>
              <a:t>5. Offers Extended</a:t>
            </a:r>
            <a:endParaRPr lang="en-US" sz="850" dirty="0"/>
          </a:p>
        </p:txBody>
      </p:sp>
      <p:sp>
        <p:nvSpPr>
          <p:cNvPr id="34" name="Text 32"/>
          <p:cNvSpPr/>
          <p:nvPr/>
        </p:nvSpPr>
        <p:spPr>
          <a:xfrm>
            <a:off x="9509760" y="1874520"/>
            <a:ext cx="1920240" cy="292608"/>
          </a:xfrm>
          <a:prstGeom prst="rect">
            <a:avLst/>
          </a:prstGeom>
          <a:noFill/>
          <a:ln/>
        </p:spPr>
        <p:txBody>
          <a:bodyPr wrap="square"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94 Placed</a:t>
            </a:r>
            <a:endParaRPr lang="en-US" sz="1200" dirty="0"/>
          </a:p>
        </p:txBody>
      </p:sp>
      <p:sp>
        <p:nvSpPr>
          <p:cNvPr id="35" name="Text 33"/>
          <p:cNvSpPr/>
          <p:nvPr/>
        </p:nvSpPr>
        <p:spPr>
          <a:xfrm>
            <a:off x="9509760" y="2176272"/>
            <a:ext cx="1920240" cy="201168"/>
          </a:xfrm>
          <a:prstGeom prst="rect">
            <a:avLst/>
          </a:prstGeom>
          <a:noFill/>
          <a:ln/>
        </p:spPr>
        <p:txBody>
          <a:bodyPr wrap="square" rtlCol="0" anchor="ctr"/>
          <a:lstStyle/>
          <a:p>
            <a:pPr algn="ctr" indent="0" marL="0">
              <a:buNone/>
            </a:pPr>
            <a:r>
              <a:rPr lang="en-US" sz="800" b="1" dirty="0">
                <a:solidFill>
                  <a:srgbClr val="059669"/>
                </a:solidFill>
                <a:latin typeface="Calibri" pitchFamily="34" charset="0"/>
                <a:ea typeface="Calibri" pitchFamily="34" charset="-122"/>
                <a:cs typeface="Calibri" pitchFamily="34" charset="-120"/>
              </a:rPr>
              <a:t>Conversion: 18%</a:t>
            </a:r>
            <a:endParaRPr lang="en-US" sz="800" dirty="0"/>
          </a:p>
        </p:txBody>
      </p:sp>
      <p:sp>
        <p:nvSpPr>
          <p:cNvPr id="36" name="Shape 34"/>
          <p:cNvSpPr/>
          <p:nvPr/>
        </p:nvSpPr>
        <p:spPr>
          <a:xfrm>
            <a:off x="731520" y="2697480"/>
            <a:ext cx="2560320" cy="868680"/>
          </a:xfrm>
          <a:prstGeom prst="roundRect">
            <a:avLst>
              <a:gd name="adj" fmla="val 6316"/>
            </a:avLst>
          </a:prstGeom>
          <a:solidFill>
            <a:srgbClr val="FFFFFF"/>
          </a:solidFill>
          <a:ln w="13970">
            <a:solidFill>
              <a:srgbClr val="1D4ED8"/>
            </a:solidFill>
            <a:prstDash val="solid"/>
          </a:ln>
        </p:spPr>
      </p:sp>
      <p:sp>
        <p:nvSpPr>
          <p:cNvPr id="37" name="Text 35"/>
          <p:cNvSpPr/>
          <p:nvPr/>
        </p:nvSpPr>
        <p:spPr>
          <a:xfrm>
            <a:off x="731520" y="2761488"/>
            <a:ext cx="2560320" cy="201168"/>
          </a:xfrm>
          <a:prstGeom prst="rect">
            <a:avLst/>
          </a:prstGeom>
          <a:noFill/>
          <a:ln/>
        </p:spPr>
        <p:txBody>
          <a:bodyPr wrap="square" rtlCol="0" anchor="ctr"/>
          <a:lstStyle/>
          <a:p>
            <a:pPr algn="ctr" indent="0" marL="0">
              <a:buNone/>
            </a:pPr>
            <a:r>
              <a:rPr lang="en-US" sz="750" b="1" spc="150" kern="0" dirty="0">
                <a:solidFill>
                  <a:srgbClr val="1D4ED8"/>
                </a:solidFill>
                <a:latin typeface="Calibri" pitchFamily="34" charset="0"/>
                <a:ea typeface="Calibri" pitchFamily="34" charset="-122"/>
                <a:cs typeface="Calibri" pitchFamily="34" charset="-120"/>
              </a:rPr>
              <a:t>CLIENT PAGE HYDRATION</a:t>
            </a:r>
            <a:endParaRPr lang="en-US" sz="750" dirty="0"/>
          </a:p>
        </p:txBody>
      </p:sp>
      <p:sp>
        <p:nvSpPr>
          <p:cNvPr id="38" name="Text 36"/>
          <p:cNvSpPr/>
          <p:nvPr/>
        </p:nvSpPr>
        <p:spPr>
          <a:xfrm>
            <a:off x="731520" y="2944368"/>
            <a:ext cx="2560320" cy="347472"/>
          </a:xfrm>
          <a:prstGeom prst="rect">
            <a:avLst/>
          </a:prstGeom>
          <a:noFill/>
          <a:ln/>
        </p:spPr>
        <p:txBody>
          <a:bodyPr wrap="square"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&lt; 1.1s</a:t>
            </a:r>
            <a:endParaRPr lang="en-US" sz="1800" dirty="0"/>
          </a:p>
        </p:txBody>
      </p:sp>
      <p:sp>
        <p:nvSpPr>
          <p:cNvPr id="39" name="Text 37"/>
          <p:cNvSpPr/>
          <p:nvPr/>
        </p:nvSpPr>
        <p:spPr>
          <a:xfrm>
            <a:off x="731520" y="3291840"/>
            <a:ext cx="2560320" cy="201168"/>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React 18 + Vite SPA bundle build</a:t>
            </a:r>
            <a:endParaRPr lang="en-US" sz="750" dirty="0"/>
          </a:p>
        </p:txBody>
      </p:sp>
      <p:sp>
        <p:nvSpPr>
          <p:cNvPr id="40" name="Shape 38"/>
          <p:cNvSpPr/>
          <p:nvPr/>
        </p:nvSpPr>
        <p:spPr>
          <a:xfrm>
            <a:off x="3429000" y="2697480"/>
            <a:ext cx="2560320" cy="868680"/>
          </a:xfrm>
          <a:prstGeom prst="roundRect">
            <a:avLst>
              <a:gd name="adj" fmla="val 6316"/>
            </a:avLst>
          </a:prstGeom>
          <a:solidFill>
            <a:srgbClr val="FFFFFF"/>
          </a:solidFill>
          <a:ln w="13970">
            <a:solidFill>
              <a:srgbClr val="0D9488"/>
            </a:solidFill>
            <a:prstDash val="solid"/>
          </a:ln>
        </p:spPr>
      </p:sp>
      <p:sp>
        <p:nvSpPr>
          <p:cNvPr id="41" name="Text 39"/>
          <p:cNvSpPr/>
          <p:nvPr/>
        </p:nvSpPr>
        <p:spPr>
          <a:xfrm>
            <a:off x="3429000" y="2761488"/>
            <a:ext cx="2560320" cy="201168"/>
          </a:xfrm>
          <a:prstGeom prst="rect">
            <a:avLst/>
          </a:prstGeom>
          <a:noFill/>
          <a:ln/>
        </p:spPr>
        <p:txBody>
          <a:bodyPr wrap="square" rtlCol="0" anchor="ctr"/>
          <a:lstStyle/>
          <a:p>
            <a:pPr algn="ctr" indent="0" marL="0">
              <a:buNone/>
            </a:pPr>
            <a:r>
              <a:rPr lang="en-US" sz="750" b="1" spc="150" kern="0" dirty="0">
                <a:solidFill>
                  <a:srgbClr val="0D9488"/>
                </a:solidFill>
                <a:latin typeface="Calibri" pitchFamily="34" charset="0"/>
                <a:ea typeface="Calibri" pitchFamily="34" charset="-122"/>
                <a:cs typeface="Calibri" pitchFamily="34" charset="-120"/>
              </a:rPr>
              <a:t>RESUME PARSING TIME</a:t>
            </a:r>
            <a:endParaRPr lang="en-US" sz="750" dirty="0"/>
          </a:p>
        </p:txBody>
      </p:sp>
      <p:sp>
        <p:nvSpPr>
          <p:cNvPr id="42" name="Text 40"/>
          <p:cNvSpPr/>
          <p:nvPr/>
        </p:nvSpPr>
        <p:spPr>
          <a:xfrm>
            <a:off x="3429000" y="2944368"/>
            <a:ext cx="2560320" cy="347472"/>
          </a:xfrm>
          <a:prstGeom prst="rect">
            <a:avLst/>
          </a:prstGeom>
          <a:noFill/>
          <a:ln/>
        </p:spPr>
        <p:txBody>
          <a:bodyPr wrap="square"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&lt; 780ms</a:t>
            </a:r>
            <a:endParaRPr lang="en-US" sz="1800" dirty="0"/>
          </a:p>
        </p:txBody>
      </p:sp>
      <p:sp>
        <p:nvSpPr>
          <p:cNvPr id="43" name="Text 41"/>
          <p:cNvSpPr/>
          <p:nvPr/>
        </p:nvSpPr>
        <p:spPr>
          <a:xfrm>
            <a:off x="3429000" y="3291840"/>
            <a:ext cx="2560320" cy="201168"/>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pdf-parse &amp; mammoth extract time</a:t>
            </a:r>
            <a:endParaRPr lang="en-US" sz="750" dirty="0"/>
          </a:p>
        </p:txBody>
      </p:sp>
      <p:sp>
        <p:nvSpPr>
          <p:cNvPr id="44" name="Shape 42"/>
          <p:cNvSpPr/>
          <p:nvPr/>
        </p:nvSpPr>
        <p:spPr>
          <a:xfrm>
            <a:off x="6126480" y="2697480"/>
            <a:ext cx="2560320" cy="868680"/>
          </a:xfrm>
          <a:prstGeom prst="roundRect">
            <a:avLst>
              <a:gd name="adj" fmla="val 6316"/>
            </a:avLst>
          </a:prstGeom>
          <a:solidFill>
            <a:srgbClr val="FFFFFF"/>
          </a:solidFill>
          <a:ln w="13970">
            <a:solidFill>
              <a:srgbClr val="7C3AED"/>
            </a:solidFill>
            <a:prstDash val="solid"/>
          </a:ln>
        </p:spPr>
      </p:sp>
      <p:sp>
        <p:nvSpPr>
          <p:cNvPr id="45" name="Text 43"/>
          <p:cNvSpPr/>
          <p:nvPr/>
        </p:nvSpPr>
        <p:spPr>
          <a:xfrm>
            <a:off x="6126480" y="2761488"/>
            <a:ext cx="2560320" cy="201168"/>
          </a:xfrm>
          <a:prstGeom prst="rect">
            <a:avLst/>
          </a:prstGeom>
          <a:noFill/>
          <a:ln/>
        </p:spPr>
        <p:txBody>
          <a:bodyPr wrap="square" rtlCol="0" anchor="ctr"/>
          <a:lstStyle/>
          <a:p>
            <a:pPr algn="ctr" indent="0" marL="0">
              <a:buNone/>
            </a:pPr>
            <a:r>
              <a:rPr lang="en-US" sz="750" b="1" spc="150" kern="0" dirty="0">
                <a:solidFill>
                  <a:srgbClr val="7C3AED"/>
                </a:solidFill>
                <a:latin typeface="Calibri" pitchFamily="34" charset="0"/>
                <a:ea typeface="Calibri" pitchFamily="34" charset="-122"/>
                <a:cs typeface="Calibri" pitchFamily="34" charset="-120"/>
              </a:rPr>
              <a:t>ATS SCORING ENGINE</a:t>
            </a:r>
            <a:endParaRPr lang="en-US" sz="750" dirty="0"/>
          </a:p>
        </p:txBody>
      </p:sp>
      <p:sp>
        <p:nvSpPr>
          <p:cNvPr id="46" name="Text 44"/>
          <p:cNvSpPr/>
          <p:nvPr/>
        </p:nvSpPr>
        <p:spPr>
          <a:xfrm>
            <a:off x="6126480" y="2944368"/>
            <a:ext cx="2560320" cy="347472"/>
          </a:xfrm>
          <a:prstGeom prst="rect">
            <a:avLst/>
          </a:prstGeom>
          <a:noFill/>
          <a:ln/>
        </p:spPr>
        <p:txBody>
          <a:bodyPr wrap="square"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&lt; 45ms</a:t>
            </a:r>
            <a:endParaRPr lang="en-US" sz="1800" dirty="0"/>
          </a:p>
        </p:txBody>
      </p:sp>
      <p:sp>
        <p:nvSpPr>
          <p:cNvPr id="47" name="Text 45"/>
          <p:cNvSpPr/>
          <p:nvPr/>
        </p:nvSpPr>
        <p:spPr>
          <a:xfrm>
            <a:off x="6126480" y="3291840"/>
            <a:ext cx="2560320" cy="201168"/>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Vector math &amp; keyword intersection</a:t>
            </a:r>
            <a:endParaRPr lang="en-US" sz="750" dirty="0"/>
          </a:p>
        </p:txBody>
      </p:sp>
      <p:sp>
        <p:nvSpPr>
          <p:cNvPr id="48" name="Shape 46"/>
          <p:cNvSpPr/>
          <p:nvPr/>
        </p:nvSpPr>
        <p:spPr>
          <a:xfrm>
            <a:off x="8823960" y="2697480"/>
            <a:ext cx="2560320" cy="868680"/>
          </a:xfrm>
          <a:prstGeom prst="roundRect">
            <a:avLst>
              <a:gd name="adj" fmla="val 6316"/>
            </a:avLst>
          </a:prstGeom>
          <a:solidFill>
            <a:srgbClr val="FFFFFF"/>
          </a:solidFill>
          <a:ln w="13970">
            <a:solidFill>
              <a:srgbClr val="059669"/>
            </a:solidFill>
            <a:prstDash val="solid"/>
          </a:ln>
        </p:spPr>
      </p:sp>
      <p:sp>
        <p:nvSpPr>
          <p:cNvPr id="49" name="Text 47"/>
          <p:cNvSpPr/>
          <p:nvPr/>
        </p:nvSpPr>
        <p:spPr>
          <a:xfrm>
            <a:off x="8823960" y="2761488"/>
            <a:ext cx="2560320" cy="201168"/>
          </a:xfrm>
          <a:prstGeom prst="rect">
            <a:avLst/>
          </a:prstGeom>
          <a:noFill/>
          <a:ln/>
        </p:spPr>
        <p:txBody>
          <a:bodyPr wrap="square" rtlCol="0" anchor="ctr"/>
          <a:lstStyle/>
          <a:p>
            <a:pPr algn="ctr" indent="0" marL="0">
              <a:buNone/>
            </a:pPr>
            <a:r>
              <a:rPr lang="en-US" sz="750" b="1" spc="150" kern="0" dirty="0">
                <a:solidFill>
                  <a:srgbClr val="059669"/>
                </a:solidFill>
                <a:latin typeface="Calibri" pitchFamily="34" charset="0"/>
                <a:ea typeface="Calibri" pitchFamily="34" charset="-122"/>
                <a:cs typeface="Calibri" pitchFamily="34" charset="-120"/>
              </a:rPr>
              <a:t>SMTP EMAIL DISPATCH</a:t>
            </a:r>
            <a:endParaRPr lang="en-US" sz="750" dirty="0"/>
          </a:p>
        </p:txBody>
      </p:sp>
      <p:sp>
        <p:nvSpPr>
          <p:cNvPr id="50" name="Text 48"/>
          <p:cNvSpPr/>
          <p:nvPr/>
        </p:nvSpPr>
        <p:spPr>
          <a:xfrm>
            <a:off x="8823960" y="2944368"/>
            <a:ext cx="2560320" cy="347472"/>
          </a:xfrm>
          <a:prstGeom prst="rect">
            <a:avLst/>
          </a:prstGeom>
          <a:noFill/>
          <a:ln/>
        </p:spPr>
        <p:txBody>
          <a:bodyPr wrap="square"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&lt; 1.4s</a:t>
            </a:r>
            <a:endParaRPr lang="en-US" sz="1800" dirty="0"/>
          </a:p>
        </p:txBody>
      </p:sp>
      <p:sp>
        <p:nvSpPr>
          <p:cNvPr id="51" name="Text 49"/>
          <p:cNvSpPr/>
          <p:nvPr/>
        </p:nvSpPr>
        <p:spPr>
          <a:xfrm>
            <a:off x="8823960" y="3291840"/>
            <a:ext cx="2560320" cy="201168"/>
          </a:xfrm>
          <a:prstGeom prst="rect">
            <a:avLst/>
          </a:prstGeom>
          <a:noFill/>
          <a:ln/>
        </p:spPr>
        <p:txBody>
          <a:bodyPr wrap="square" rtlCol="0" anchor="ctr"/>
          <a:lstStyle/>
          <a:p>
            <a:pPr algn="ctr" indent="0" marL="0">
              <a:buNone/>
            </a:pPr>
            <a:r>
              <a:rPr lang="en-US" sz="750" dirty="0">
                <a:solidFill>
                  <a:srgbClr val="64748B"/>
                </a:solidFill>
                <a:latin typeface="Calibri" pitchFamily="34" charset="0"/>
                <a:ea typeface="Calibri" pitchFamily="34" charset="-122"/>
                <a:cs typeface="Calibri" pitchFamily="34" charset="-120"/>
              </a:rPr>
              <a:t>NodeMailer asynchronous transport</a:t>
            </a:r>
            <a:endParaRPr lang="en-US" sz="750" dirty="0"/>
          </a:p>
        </p:txBody>
      </p:sp>
      <p:sp>
        <p:nvSpPr>
          <p:cNvPr id="52" name="Text 50"/>
          <p:cNvSpPr/>
          <p:nvPr/>
        </p:nvSpPr>
        <p:spPr>
          <a:xfrm>
            <a:off x="731520" y="3749040"/>
            <a:ext cx="7315200" cy="256032"/>
          </a:xfrm>
          <a:prstGeom prst="rect">
            <a:avLst/>
          </a:prstGeom>
          <a:noFill/>
          <a:ln/>
        </p:spPr>
        <p:txBody>
          <a:bodyPr wrap="square" rtlCol="0" anchor="ctr"/>
          <a:lstStyle/>
          <a:p>
            <a:pPr indent="0" marL="0">
              <a:buNone/>
            </a:pPr>
            <a:r>
              <a:rPr lang="en-US" sz="850" b="1" spc="200" kern="0" dirty="0">
                <a:solidFill>
                  <a:srgbClr val="0F172A"/>
                </a:solidFill>
                <a:latin typeface="Calibri" pitchFamily="34" charset="0"/>
                <a:ea typeface="Calibri" pitchFamily="34" charset="-122"/>
                <a:cs typeface="Calibri" pitchFamily="34" charset="-120"/>
              </a:rPr>
              <a:t>BENCHMARK: TRADITIONAL MANUAL PLACEMENT VS. ALTS PLATFORM</a:t>
            </a:r>
            <a:endParaRPr lang="en-US" sz="8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4023360"/>
          <a:ext cx="10698480" cy="914400"/>
        </p:xfrm>
        <a:graphic>
          <a:graphicData uri="http://schemas.openxmlformats.org/drawingml/2006/table">
            <a:tbl>
              <a:tblPr/>
              <a:tblGrid>
                <a:gridCol w="2286000"/>
                <a:gridCol w="3291840"/>
                <a:gridCol w="3291840"/>
                <a:gridCol w="1828800"/>
              </a:tblGrid>
              <a:tr h="320040">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Operational Dimension</a:t>
                      </a:r>
                      <a:endParaRPr lang="en-US" sz="95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4338C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Traditional Collegiate Process</a:t>
                      </a:r>
                      <a:endParaRPr lang="en-US" sz="95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4338C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ALTS AI-Powered Platform</a:t>
                      </a:r>
                      <a:endParaRPr lang="en-US" sz="95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4338C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Empirical Improvement</a:t>
                      </a:r>
                      <a:endParaRPr lang="en-US" sz="95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4338CA"/>
                    </a:solidFill>
                  </a:tcPr>
                </a:tc>
              </a:tr>
              <a:tr h="384048">
                <a:tc>
                  <a:txBody>
                    <a:bodyPr/>
                    <a:lstStyle/>
                    <a:p>
                      <a:pPr indent="0" marL="0">
                        <a:buNone/>
                      </a:pPr>
                      <a:r>
                        <a:rPr lang="en-US" sz="900" b="1" dirty="0">
                          <a:solidFill>
                            <a:srgbClr val="0F172A"/>
                          </a:solidFill>
                          <a:latin typeface="Calibri" pitchFamily="34" charset="0"/>
                          <a:ea typeface="Calibri" pitchFamily="34" charset="-122"/>
                          <a:cs typeface="Calibri" pitchFamily="34" charset="-120"/>
                        </a:rPr>
                        <a:t>Resume Review Speed</a:t>
                      </a:r>
                      <a:endParaRPr lang="en-US" sz="9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334155"/>
                          </a:solidFill>
                          <a:latin typeface="Calibri" pitchFamily="34" charset="0"/>
                          <a:ea typeface="Calibri" pitchFamily="34" charset="-122"/>
                          <a:cs typeface="Calibri" pitchFamily="34" charset="-120"/>
                        </a:rPr>
                        <a:t>10–15 minutes per candidate resume</a:t>
                      </a:r>
                      <a:endParaRPr lang="en-US" sz="85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b="1" dirty="0">
                          <a:solidFill>
                            <a:srgbClr val="059669"/>
                          </a:solidFill>
                          <a:latin typeface="Calibri" pitchFamily="34" charset="0"/>
                          <a:ea typeface="Calibri" pitchFamily="34" charset="-122"/>
                          <a:cs typeface="Calibri" pitchFamily="34" charset="-120"/>
                        </a:rPr>
                        <a:t>&lt; 800ms automated parsing &amp; scoring</a:t>
                      </a:r>
                      <a:endParaRPr lang="en-US" sz="85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850" b="1" dirty="0">
                          <a:solidFill>
                            <a:srgbClr val="059669"/>
                          </a:solidFill>
                          <a:latin typeface="Calibri" pitchFamily="34" charset="0"/>
                          <a:ea typeface="Calibri" pitchFamily="34" charset="-122"/>
                          <a:cs typeface="Calibri" pitchFamily="34" charset="-120"/>
                        </a:rPr>
                        <a:t>~900× Turnaround Acceleration</a:t>
                      </a:r>
                      <a:endParaRPr lang="en-US" sz="85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84048">
                <a:tc>
                  <a:txBody>
                    <a:bodyPr/>
                    <a:lstStyle/>
                    <a:p>
                      <a:pPr indent="0" marL="0">
                        <a:buNone/>
                      </a:pPr>
                      <a:r>
                        <a:rPr lang="en-US" sz="900" b="1" dirty="0">
                          <a:solidFill>
                            <a:srgbClr val="0F172A"/>
                          </a:solidFill>
                          <a:latin typeface="Calibri" pitchFamily="34" charset="0"/>
                          <a:ea typeface="Calibri" pitchFamily="34" charset="-122"/>
                          <a:cs typeface="Calibri" pitchFamily="34" charset="-120"/>
                        </a:rPr>
                        <a:t>Notification Latency</a:t>
                      </a:r>
                      <a:endParaRPr lang="en-US" sz="9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334155"/>
                          </a:solidFill>
                          <a:latin typeface="Calibri" pitchFamily="34" charset="0"/>
                          <a:ea typeface="Calibri" pitchFamily="34" charset="-122"/>
                          <a:cs typeface="Calibri" pitchFamily="34" charset="-120"/>
                        </a:rPr>
                        <a:t>2–5 business days (manual email batching)</a:t>
                      </a:r>
                      <a:endParaRPr lang="en-US" sz="85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b="1" dirty="0">
                          <a:solidFill>
                            <a:srgbClr val="059669"/>
                          </a:solidFill>
                          <a:latin typeface="Calibri" pitchFamily="34" charset="0"/>
                          <a:ea typeface="Calibri" pitchFamily="34" charset="-122"/>
                          <a:cs typeface="Calibri" pitchFamily="34" charset="-120"/>
                        </a:rPr>
                        <a:t>Instantaneous (&lt; 2 sec via NodeMailer)</a:t>
                      </a:r>
                      <a:endParaRPr lang="en-US" sz="85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850" b="1" dirty="0">
                          <a:solidFill>
                            <a:srgbClr val="059669"/>
                          </a:solidFill>
                          <a:latin typeface="Calibri" pitchFamily="34" charset="0"/>
                          <a:ea typeface="Calibri" pitchFamily="34" charset="-122"/>
                          <a:cs typeface="Calibri" pitchFamily="34" charset="-120"/>
                        </a:rPr>
                        <a:t>Real-time Event Dispatch</a:t>
                      </a:r>
                      <a:endParaRPr lang="en-US" sz="85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84048">
                <a:tc>
                  <a:txBody>
                    <a:bodyPr/>
                    <a:lstStyle/>
                    <a:p>
                      <a:pPr indent="0" marL="0">
                        <a:buNone/>
                      </a:pPr>
                      <a:r>
                        <a:rPr lang="en-US" sz="900" b="1" dirty="0">
                          <a:solidFill>
                            <a:srgbClr val="0F172A"/>
                          </a:solidFill>
                          <a:latin typeface="Calibri" pitchFamily="34" charset="0"/>
                          <a:ea typeface="Calibri" pitchFamily="34" charset="-122"/>
                          <a:cs typeface="Calibri" pitchFamily="34" charset="-120"/>
                        </a:rPr>
                        <a:t>Candidate Tracking</a:t>
                      </a:r>
                      <a:endParaRPr lang="en-US" sz="9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334155"/>
                          </a:solidFill>
                          <a:latin typeface="Calibri" pitchFamily="34" charset="0"/>
                          <a:ea typeface="Calibri" pitchFamily="34" charset="-122"/>
                          <a:cs typeface="Calibri" pitchFamily="34" charset="-120"/>
                        </a:rPr>
                        <a:t>Opaque; notice boards &amp; verbal updates</a:t>
                      </a:r>
                      <a:endParaRPr lang="en-US" sz="85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b="1" dirty="0">
                          <a:solidFill>
                            <a:srgbClr val="059669"/>
                          </a:solidFill>
                          <a:latin typeface="Calibri" pitchFamily="34" charset="0"/>
                          <a:ea typeface="Calibri" pitchFamily="34" charset="-122"/>
                          <a:cs typeface="Calibri" pitchFamily="34" charset="-120"/>
                        </a:rPr>
                        <a:t>Live self-service student dashboard</a:t>
                      </a:r>
                      <a:endParaRPr lang="en-US" sz="85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850" b="1" dirty="0">
                          <a:solidFill>
                            <a:srgbClr val="059669"/>
                          </a:solidFill>
                          <a:latin typeface="Calibri" pitchFamily="34" charset="0"/>
                          <a:ea typeface="Calibri" pitchFamily="34" charset="-122"/>
                          <a:cs typeface="Calibri" pitchFamily="34" charset="-120"/>
                        </a:rPr>
                        <a:t>100% End-to-End Visibility</a:t>
                      </a:r>
                      <a:endParaRPr lang="en-US" sz="85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84048">
                <a:tc>
                  <a:txBody>
                    <a:bodyPr/>
                    <a:lstStyle/>
                    <a:p>
                      <a:pPr indent="0" marL="0">
                        <a:buNone/>
                      </a:pPr>
                      <a:r>
                        <a:rPr lang="en-US" sz="900" b="1" dirty="0">
                          <a:solidFill>
                            <a:srgbClr val="0F172A"/>
                          </a:solidFill>
                          <a:latin typeface="Calibri" pitchFamily="34" charset="0"/>
                          <a:ea typeface="Calibri" pitchFamily="34" charset="-122"/>
                          <a:cs typeface="Calibri" pitchFamily="34" charset="-120"/>
                        </a:rPr>
                        <a:t>Placement Reporting</a:t>
                      </a:r>
                      <a:endParaRPr lang="en-US" sz="90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dirty="0">
                          <a:solidFill>
                            <a:srgbClr val="334155"/>
                          </a:solidFill>
                          <a:latin typeface="Calibri" pitchFamily="34" charset="0"/>
                          <a:ea typeface="Calibri" pitchFamily="34" charset="-122"/>
                          <a:cs typeface="Calibri" pitchFamily="34" charset="-120"/>
                        </a:rPr>
                        <a:t>Weeks required to aggregate Excel logs</a:t>
                      </a:r>
                      <a:endParaRPr lang="en-US" sz="85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850" b="1" dirty="0">
                          <a:solidFill>
                            <a:srgbClr val="059669"/>
                          </a:solidFill>
                          <a:latin typeface="Calibri" pitchFamily="34" charset="0"/>
                          <a:ea typeface="Calibri" pitchFamily="34" charset="-122"/>
                          <a:cs typeface="Calibri" pitchFamily="34" charset="-120"/>
                        </a:rPr>
                        <a:t>One-click visual analytics via Recharts</a:t>
                      </a:r>
                      <a:endParaRPr lang="en-US" sz="85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850" b="1" dirty="0">
                          <a:solidFill>
                            <a:srgbClr val="059669"/>
                          </a:solidFill>
                          <a:latin typeface="Calibri" pitchFamily="34" charset="0"/>
                          <a:ea typeface="Calibri" pitchFamily="34" charset="-122"/>
                          <a:cs typeface="Calibri" pitchFamily="34" charset="-120"/>
                        </a:rPr>
                        <a:t>Immediate Institutional Insights</a:t>
                      </a:r>
                      <a:endParaRPr lang="en-US" sz="850" dirty="0">
                        <a:latin typeface="Calibri" charset="0"/>
                        <a:ea typeface="Calibri" charset="0"/>
                        <a:cs typeface="Calibri" charset="0"/>
                      </a:endParaRPr>
                    </a:p>
                  </a:txBody>
                  <a:tcPr marL="76200" marR="762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D4ED8"/>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DBEAFE"/>
          </a:solidFill>
          <a:ln w="10160">
            <a:solidFill>
              <a:srgbClr val="1D4ED8"/>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1D4ED8"/>
                </a:solidFill>
                <a:latin typeface="Calibri" pitchFamily="34" charset="0"/>
                <a:ea typeface="Calibri" pitchFamily="34" charset="-122"/>
                <a:cs typeface="Calibri" pitchFamily="34" charset="-120"/>
              </a:rPr>
              <a:t>SUMMARY</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Conclusion &amp; Key Contributions</a:t>
            </a:r>
            <a:endParaRPr lang="en-US" sz="2300" dirty="0"/>
          </a:p>
        </p:txBody>
      </p:sp>
      <p:sp>
        <p:nvSpPr>
          <p:cNvPr id="8" name="Shape 6"/>
          <p:cNvSpPr/>
          <p:nvPr/>
        </p:nvSpPr>
        <p:spPr>
          <a:xfrm>
            <a:off x="731520" y="1097280"/>
            <a:ext cx="2194560" cy="32004"/>
          </a:xfrm>
          <a:prstGeom prst="rect">
            <a:avLst/>
          </a:prstGeom>
          <a:solidFill>
            <a:srgbClr val="1D4ED8"/>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1D4ED8"/>
                </a:solidFill>
                <a:latin typeface="Calibri" pitchFamily="34" charset="0"/>
                <a:ea typeface="Calibri" pitchFamily="34" charset="-122"/>
                <a:cs typeface="Calibri" pitchFamily="34" charset="-120"/>
              </a:rPr>
              <a:t>15</a:t>
            </a:r>
            <a:endParaRPr lang="en-US" sz="950" dirty="0"/>
          </a:p>
        </p:txBody>
      </p:sp>
      <p:sp>
        <p:nvSpPr>
          <p:cNvPr id="11" name="Shape 9"/>
          <p:cNvSpPr/>
          <p:nvPr/>
        </p:nvSpPr>
        <p:spPr>
          <a:xfrm>
            <a:off x="731520" y="1325880"/>
            <a:ext cx="10698480" cy="1463040"/>
          </a:xfrm>
          <a:prstGeom prst="roundRect">
            <a:avLst>
              <a:gd name="adj" fmla="val 5000"/>
            </a:avLst>
          </a:prstGeom>
          <a:solidFill>
            <a:srgbClr val="FFFFFF"/>
          </a:solidFill>
          <a:ln w="15240">
            <a:solidFill>
              <a:srgbClr val="1D4ED8"/>
            </a:solidFill>
            <a:prstDash val="solid"/>
          </a:ln>
        </p:spPr>
      </p:sp>
      <p:sp>
        <p:nvSpPr>
          <p:cNvPr id="12" name="Text 10"/>
          <p:cNvSpPr/>
          <p:nvPr/>
        </p:nvSpPr>
        <p:spPr>
          <a:xfrm>
            <a:off x="1005840" y="1463040"/>
            <a:ext cx="10149840" cy="1188720"/>
          </a:xfrm>
          <a:prstGeom prst="rect">
            <a:avLst/>
          </a:prstGeom>
          <a:noFill/>
          <a:ln/>
        </p:spPr>
        <p:txBody>
          <a:bodyPr wrap="square" rtlCol="0" anchor="t"/>
          <a:lstStyle/>
          <a:p>
            <a:pPr indent="0" marL="0">
              <a:lnSpc>
                <a:spcPct val="145000"/>
              </a:lnSpc>
              <a:buNone/>
            </a:pPr>
            <a:r>
              <a:rPr lang="en-US" sz="1250" dirty="0">
                <a:solidFill>
                  <a:srgbClr val="334155"/>
                </a:solidFill>
                <a:latin typeface="Calibri" pitchFamily="34" charset="0"/>
                <a:ea typeface="Calibri" pitchFamily="34" charset="-122"/>
                <a:cs typeface="Calibri" pitchFamily="34" charset="-120"/>
              </a:rPr>
              <a:t>The ALTS Campus Placement Portal demonstrates the successful implementation of a production-grade, AI-assisted placement management system engineered specifically for ALTS on the MERN stack. By replacing antiquated manual routines with automated document parsing, algorithmic ATS candidate scoring, asynchronous email delivery, and interactive analytics, the portal establishes a benchmark for collegiate recruitment tools. The system validates that open-source modern web technologies can deliver enterprise-grade institutional solutions without prohibitive licensing overhead.</a:t>
            </a:r>
            <a:endParaRPr lang="en-US" sz="1250" dirty="0"/>
          </a:p>
        </p:txBody>
      </p:sp>
      <p:sp>
        <p:nvSpPr>
          <p:cNvPr id="13" name="Shape 11"/>
          <p:cNvSpPr/>
          <p:nvPr/>
        </p:nvSpPr>
        <p:spPr>
          <a:xfrm>
            <a:off x="731520" y="3017520"/>
            <a:ext cx="3474720" cy="256032"/>
          </a:xfrm>
          <a:prstGeom prst="roundRect">
            <a:avLst>
              <a:gd name="adj" fmla="val 14286"/>
            </a:avLst>
          </a:prstGeom>
          <a:solidFill>
            <a:srgbClr val="DBEAFE"/>
          </a:solidFill>
          <a:ln w="7620">
            <a:solidFill>
              <a:srgbClr val="1D4ED8"/>
            </a:solidFill>
            <a:prstDash val="solid"/>
          </a:ln>
        </p:spPr>
      </p:sp>
      <p:sp>
        <p:nvSpPr>
          <p:cNvPr id="14" name="Text 12"/>
          <p:cNvSpPr/>
          <p:nvPr/>
        </p:nvSpPr>
        <p:spPr>
          <a:xfrm>
            <a:off x="731520" y="3017520"/>
            <a:ext cx="3474720" cy="256032"/>
          </a:xfrm>
          <a:prstGeom prst="rect">
            <a:avLst/>
          </a:prstGeom>
          <a:noFill/>
          <a:ln/>
        </p:spPr>
        <p:txBody>
          <a:bodyPr wrap="square" rtlCol="0" anchor="ctr"/>
          <a:lstStyle/>
          <a:p>
            <a:pPr algn="ctr" indent="0" marL="0">
              <a:buNone/>
            </a:pPr>
            <a:r>
              <a:rPr lang="en-US" sz="850" b="1" spc="150" kern="0" dirty="0">
                <a:solidFill>
                  <a:srgbClr val="1D4ED8"/>
                </a:solidFill>
                <a:latin typeface="Calibri" pitchFamily="34" charset="0"/>
                <a:ea typeface="Calibri" pitchFamily="34" charset="-122"/>
                <a:cs typeface="Calibri" pitchFamily="34" charset="-120"/>
              </a:rPr>
              <a:t>KEY SCIENTIFIC &amp; TECHNICAL CONTRIBUTIONS</a:t>
            </a:r>
            <a:endParaRPr lang="en-US" sz="850" dirty="0"/>
          </a:p>
        </p:txBody>
      </p:sp>
      <p:sp>
        <p:nvSpPr>
          <p:cNvPr id="15" name="Text 13"/>
          <p:cNvSpPr/>
          <p:nvPr/>
        </p:nvSpPr>
        <p:spPr>
          <a:xfrm>
            <a:off x="731520" y="3337560"/>
            <a:ext cx="10698480" cy="5120640"/>
          </a:xfrm>
          <a:prstGeom prst="rect">
            <a:avLst/>
          </a:prstGeom>
          <a:noFill/>
          <a:ln/>
        </p:spPr>
        <p:txBody>
          <a:bodyPr wrap="square" rtlCol="0" anchor="t"/>
          <a:lstStyle/>
          <a:p>
            <a:pPr>
              <a:lnSpc>
                <a:spcPct val="135000"/>
              </a:lnSpc>
              <a:spcAft>
                <a:spcPts val="700"/>
              </a:spcAft>
            </a:pPr>
            <a:r>
              <a:rPr lang="en-US" sz="1200" dirty="0">
                <a:solidFill>
                  <a:srgbClr val="334155"/>
                </a:solidFill>
                <a:latin typeface="Calibri" pitchFamily="34" charset="0"/>
                <a:ea typeface="Calibri" pitchFamily="34" charset="-122"/>
                <a:cs typeface="Calibri" pitchFamily="34" charset="-120"/>
              </a:rPr>
              <a:t>Holistic End-to-End Placement Lifecycle: Fully digitized workflow spanning registration, profile creation, resume parsing, ATS scoring, application submission, interview tracking, and offer notification.</a:t>
            </a:r>
            <a:endParaRPr lang="en-US" sz="1200" dirty="0"/>
          </a:p>
          <a:p>
            <a:pPr>
              <a:lnSpc>
                <a:spcPct val="135000"/>
              </a:lnSpc>
              <a:spcAft>
                <a:spcPts val="700"/>
              </a:spcAft>
            </a:pPr>
            <a:r>
              <a:rPr lang="en-US" sz="1200" dirty="0">
                <a:solidFill>
                  <a:srgbClr val="334155"/>
                </a:solidFill>
                <a:latin typeface="Calibri" pitchFamily="34" charset="0"/>
                <a:ea typeface="Calibri" pitchFamily="34" charset="-122"/>
                <a:cs typeface="Calibri" pitchFamily="34" charset="-120"/>
              </a:rPr>
              <a:t>Tri-Tenant Architecture with Strict RBAC: Comprehensive separation of concerns across Student, Recruiter, and Admin user personas guarded by stateless JWT tokens and cryptographic hashing.</a:t>
            </a:r>
            <a:endParaRPr lang="en-US" sz="1200" dirty="0"/>
          </a:p>
          <a:p>
            <a:pPr>
              <a:lnSpc>
                <a:spcPct val="135000"/>
              </a:lnSpc>
              <a:spcAft>
                <a:spcPts val="700"/>
              </a:spcAft>
            </a:pPr>
            <a:r>
              <a:rPr lang="en-US" sz="1200" dirty="0">
                <a:solidFill>
                  <a:srgbClr val="334155"/>
                </a:solidFill>
                <a:latin typeface="Calibri" pitchFamily="34" charset="0"/>
                <a:ea typeface="Calibri" pitchFamily="34" charset="-122"/>
                <a:cs typeface="Calibri" pitchFamily="34" charset="-120"/>
              </a:rPr>
              <a:t>Automated Asynchronous Communication: Zero-latency email alerts via NodeMailer removing manual notification bottlenecks and ensuring complete transparency for candidates.</a:t>
            </a:r>
            <a:endParaRPr lang="en-US" sz="1200" dirty="0"/>
          </a:p>
          <a:p>
            <a:pPr>
              <a:lnSpc>
                <a:spcPct val="135000"/>
              </a:lnSpc>
              <a:spcAft>
                <a:spcPts val="700"/>
              </a:spcAft>
            </a:pPr>
            <a:r>
              <a:rPr lang="en-US" sz="1200" dirty="0">
                <a:solidFill>
                  <a:srgbClr val="334155"/>
                </a:solidFill>
                <a:latin typeface="Calibri" pitchFamily="34" charset="0"/>
                <a:ea typeface="Calibri" pitchFamily="34" charset="-122"/>
                <a:cs typeface="Calibri" pitchFamily="34" charset="-120"/>
              </a:rPr>
              <a:t>Format-Agnostic ATS Parsing Subsystem: Native extraction pipelines for both PDF and DOCX documents with automated taxonomy-based technical keyword matching.</a:t>
            </a:r>
            <a:endParaRPr lang="en-US" sz="1200" dirty="0"/>
          </a:p>
          <a:p>
            <a:pPr>
              <a:lnSpc>
                <a:spcPct val="135000"/>
              </a:lnSpc>
              <a:spcAft>
                <a:spcPts val="700"/>
              </a:spcAft>
            </a:pPr>
            <a:r>
              <a:rPr lang="en-US" sz="1200" dirty="0">
                <a:solidFill>
                  <a:srgbClr val="334155"/>
                </a:solidFill>
                <a:latin typeface="Calibri" pitchFamily="34" charset="0"/>
                <a:ea typeface="Calibri" pitchFamily="34" charset="-122"/>
                <a:cs typeface="Calibri" pitchFamily="34" charset="-120"/>
              </a:rPr>
              <a:t>Data-Driven Governance Dashboards: Live Recharts visual funnels providing ALTS placement officers and company recruiters with instant data-backed recruitment metrics.</a:t>
            </a:r>
            <a:endParaRPr lang="en-US" sz="1200" dirty="0"/>
          </a:p>
          <a:p>
            <a:pPr>
              <a:lnSpc>
                <a:spcPct val="135000"/>
              </a:lnSpc>
              <a:spcAft>
                <a:spcPts val="700"/>
              </a:spcAft>
            </a:pPr>
            <a:r>
              <a:rPr lang="en-US" sz="1200" dirty="0">
                <a:solidFill>
                  <a:srgbClr val="334155"/>
                </a:solidFill>
                <a:latin typeface="Calibri" pitchFamily="34" charset="0"/>
                <a:ea typeface="Calibri" pitchFamily="34" charset="-122"/>
                <a:cs typeface="Calibri" pitchFamily="34" charset="-120"/>
              </a:rPr>
              <a:t>Democratized Open-Source Foundation: Engineered with 100% open-source technologies, empowering ALTS to self-host and customize the platform freely without external licensing costs.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7C3AED"/>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EDE9FE"/>
          </a:solidFill>
          <a:ln w="10160">
            <a:solidFill>
              <a:srgbClr val="7C3AED"/>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7C3AED"/>
                </a:solidFill>
                <a:latin typeface="Calibri" pitchFamily="34" charset="0"/>
                <a:ea typeface="Calibri" pitchFamily="34" charset="-122"/>
                <a:cs typeface="Calibri" pitchFamily="34" charset="-120"/>
              </a:rPr>
              <a:t>ROADMAP</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Future Scope &amp; Enhancements Roadmap</a:t>
            </a:r>
            <a:endParaRPr lang="en-US" sz="2300" dirty="0"/>
          </a:p>
        </p:txBody>
      </p:sp>
      <p:sp>
        <p:nvSpPr>
          <p:cNvPr id="8" name="Shape 6"/>
          <p:cNvSpPr/>
          <p:nvPr/>
        </p:nvSpPr>
        <p:spPr>
          <a:xfrm>
            <a:off x="731520" y="1097280"/>
            <a:ext cx="2194560" cy="32004"/>
          </a:xfrm>
          <a:prstGeom prst="rect">
            <a:avLst/>
          </a:prstGeom>
          <a:solidFill>
            <a:srgbClr val="7C3AED"/>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7C3AED"/>
                </a:solidFill>
                <a:latin typeface="Calibri" pitchFamily="34" charset="0"/>
                <a:ea typeface="Calibri" pitchFamily="34" charset="-122"/>
                <a:cs typeface="Calibri" pitchFamily="34" charset="-120"/>
              </a:rPr>
              <a:t>16</a:t>
            </a:r>
            <a:endParaRPr lang="en-US" sz="950" dirty="0"/>
          </a:p>
        </p:txBody>
      </p:sp>
      <p:sp>
        <p:nvSpPr>
          <p:cNvPr id="11" name="Shape 9"/>
          <p:cNvSpPr/>
          <p:nvPr/>
        </p:nvSpPr>
        <p:spPr>
          <a:xfrm>
            <a:off x="731520" y="1325880"/>
            <a:ext cx="4114800" cy="292608"/>
          </a:xfrm>
          <a:prstGeom prst="roundRect">
            <a:avLst>
              <a:gd name="adj" fmla="val 12500"/>
            </a:avLst>
          </a:prstGeom>
          <a:solidFill>
            <a:srgbClr val="DBEAFE"/>
          </a:solidFill>
          <a:ln w="10160">
            <a:solidFill>
              <a:srgbClr val="1D4ED8"/>
            </a:solidFill>
            <a:prstDash val="solid"/>
          </a:ln>
        </p:spPr>
      </p:sp>
      <p:sp>
        <p:nvSpPr>
          <p:cNvPr id="12" name="Text 10"/>
          <p:cNvSpPr/>
          <p:nvPr/>
        </p:nvSpPr>
        <p:spPr>
          <a:xfrm>
            <a:off x="731520" y="1325880"/>
            <a:ext cx="4114800" cy="292608"/>
          </a:xfrm>
          <a:prstGeom prst="rect">
            <a:avLst/>
          </a:prstGeom>
          <a:noFill/>
          <a:ln/>
        </p:spPr>
        <p:txBody>
          <a:bodyPr wrap="square" rtlCol="0" anchor="ctr"/>
          <a:lstStyle/>
          <a:p>
            <a:pPr algn="ctr" indent="0" marL="0">
              <a:buNone/>
            </a:pPr>
            <a:r>
              <a:rPr lang="en-US" sz="850" b="1" spc="150" kern="0" dirty="0">
                <a:solidFill>
                  <a:srgbClr val="1D4ED8"/>
                </a:solidFill>
                <a:latin typeface="Calibri" pitchFamily="34" charset="0"/>
                <a:ea typeface="Calibri" pitchFamily="34" charset="-122"/>
                <a:cs typeface="Calibri" pitchFamily="34" charset="-120"/>
              </a:rPr>
              <a:t>PHASE 1 — SHORT TERM (1–3 MONTHS)</a:t>
            </a:r>
            <a:endParaRPr lang="en-US" sz="850" dirty="0"/>
          </a:p>
        </p:txBody>
      </p:sp>
      <p:sp>
        <p:nvSpPr>
          <p:cNvPr id="13" name="Text 11"/>
          <p:cNvSpPr/>
          <p:nvPr/>
        </p:nvSpPr>
        <p:spPr>
          <a:xfrm>
            <a:off x="731520" y="1673352"/>
            <a:ext cx="10698480" cy="5120640"/>
          </a:xfrm>
          <a:prstGeom prst="rect">
            <a:avLst/>
          </a:prstGeom>
          <a:noFill/>
          <a:ln/>
        </p:spPr>
        <p:txBody>
          <a:bodyPr wrap="square" rtlCol="0" anchor="t"/>
          <a:lstStyle/>
          <a:p>
            <a:pPr>
              <a:lnSpc>
                <a:spcPct val="135000"/>
              </a:lnSpc>
              <a:spcAft>
                <a:spcPts val="700"/>
              </a:spcAft>
            </a:pPr>
            <a:r>
              <a:rPr lang="en-US" sz="1150" dirty="0">
                <a:solidFill>
                  <a:srgbClr val="334155"/>
                </a:solidFill>
                <a:latin typeface="Calibri" pitchFamily="34" charset="0"/>
                <a:ea typeface="Calibri" pitchFamily="34" charset="-122"/>
                <a:cs typeface="Calibri" pitchFamily="34" charset="-120"/>
              </a:rPr>
              <a:t>Full-Duplex WebSockets (Socket.IO): Real-time instant messaging between recruiters and candidates; live push notifications.</a:t>
            </a:r>
            <a:endParaRPr lang="en-US" sz="1150" dirty="0"/>
          </a:p>
          <a:p>
            <a:pPr>
              <a:lnSpc>
                <a:spcPct val="135000"/>
              </a:lnSpc>
              <a:spcAft>
                <a:spcPts val="700"/>
              </a:spcAft>
            </a:pPr>
            <a:r>
              <a:rPr lang="en-US" sz="1150" dirty="0">
                <a:solidFill>
                  <a:srgbClr val="334155"/>
                </a:solidFill>
                <a:latin typeface="Calibri" pitchFamily="34" charset="0"/>
                <a:ea typeface="Calibri" pitchFamily="34" charset="-122"/>
                <a:cs typeface="Calibri" pitchFamily="34" charset="-120"/>
              </a:rPr>
              <a:t>OAuth 2.0 Single Sign-On: Google and GitHub federated authentication for one-click student and company onboarding.</a:t>
            </a:r>
            <a:endParaRPr lang="en-US" sz="1150" dirty="0"/>
          </a:p>
          <a:p>
            <a:pPr>
              <a:lnSpc>
                <a:spcPct val="135000"/>
              </a:lnSpc>
              <a:spcAft>
                <a:spcPts val="700"/>
              </a:spcAft>
            </a:pPr>
            <a:r>
              <a:rPr lang="en-US" sz="1150" dirty="0">
                <a:solidFill>
                  <a:srgbClr val="334155"/>
                </a:solidFill>
                <a:latin typeface="Calibri" pitchFamily="34" charset="0"/>
                <a:ea typeface="Calibri" pitchFamily="34" charset="-122"/>
                <a:cs typeface="Calibri" pitchFamily="34" charset="-120"/>
              </a:rPr>
              <a:t>Advanced Semantic NLP Parser: Integration of spaCy / HuggingFace Transformers for deep semantic context and soft-skill parsing.</a:t>
            </a:r>
            <a:endParaRPr lang="en-US" sz="1150" dirty="0"/>
          </a:p>
        </p:txBody>
      </p:sp>
      <p:sp>
        <p:nvSpPr>
          <p:cNvPr id="14" name="Shape 12"/>
          <p:cNvSpPr/>
          <p:nvPr/>
        </p:nvSpPr>
        <p:spPr>
          <a:xfrm>
            <a:off x="731520" y="3054096"/>
            <a:ext cx="4114800" cy="292608"/>
          </a:xfrm>
          <a:prstGeom prst="roundRect">
            <a:avLst>
              <a:gd name="adj" fmla="val 12500"/>
            </a:avLst>
          </a:prstGeom>
          <a:solidFill>
            <a:srgbClr val="D1FAE5"/>
          </a:solidFill>
          <a:ln w="10160">
            <a:solidFill>
              <a:srgbClr val="059669"/>
            </a:solidFill>
            <a:prstDash val="solid"/>
          </a:ln>
        </p:spPr>
      </p:sp>
      <p:sp>
        <p:nvSpPr>
          <p:cNvPr id="15" name="Text 13"/>
          <p:cNvSpPr/>
          <p:nvPr/>
        </p:nvSpPr>
        <p:spPr>
          <a:xfrm>
            <a:off x="731520" y="3054096"/>
            <a:ext cx="4114800" cy="292608"/>
          </a:xfrm>
          <a:prstGeom prst="rect">
            <a:avLst/>
          </a:prstGeom>
          <a:noFill/>
          <a:ln/>
        </p:spPr>
        <p:txBody>
          <a:bodyPr wrap="square" rtlCol="0" anchor="ctr"/>
          <a:lstStyle/>
          <a:p>
            <a:pPr algn="ctr" indent="0" marL="0">
              <a:buNone/>
            </a:pPr>
            <a:r>
              <a:rPr lang="en-US" sz="850" b="1" spc="150" kern="0" dirty="0">
                <a:solidFill>
                  <a:srgbClr val="059669"/>
                </a:solidFill>
                <a:latin typeface="Calibri" pitchFamily="34" charset="0"/>
                <a:ea typeface="Calibri" pitchFamily="34" charset="-122"/>
                <a:cs typeface="Calibri" pitchFamily="34" charset="-120"/>
              </a:rPr>
              <a:t>PHASE 2 — MEDIUM TERM (3–6 MONTHS)</a:t>
            </a:r>
            <a:endParaRPr lang="en-US" sz="850" dirty="0"/>
          </a:p>
        </p:txBody>
      </p:sp>
      <p:sp>
        <p:nvSpPr>
          <p:cNvPr id="16" name="Text 14"/>
          <p:cNvSpPr/>
          <p:nvPr/>
        </p:nvSpPr>
        <p:spPr>
          <a:xfrm>
            <a:off x="731520" y="3401568"/>
            <a:ext cx="10698480" cy="5120640"/>
          </a:xfrm>
          <a:prstGeom prst="rect">
            <a:avLst/>
          </a:prstGeom>
          <a:noFill/>
          <a:ln/>
        </p:spPr>
        <p:txBody>
          <a:bodyPr wrap="square" rtlCol="0" anchor="t"/>
          <a:lstStyle/>
          <a:p>
            <a:pPr>
              <a:lnSpc>
                <a:spcPct val="135000"/>
              </a:lnSpc>
              <a:spcAft>
                <a:spcPts val="700"/>
              </a:spcAft>
            </a:pPr>
            <a:r>
              <a:rPr lang="en-US" sz="1150" dirty="0">
                <a:solidFill>
                  <a:srgbClr val="334155"/>
                </a:solidFill>
                <a:latin typeface="Calibri" pitchFamily="34" charset="0"/>
                <a:ea typeface="Calibri" pitchFamily="34" charset="-122"/>
                <a:cs typeface="Calibri" pitchFamily="34" charset="-120"/>
              </a:rPr>
              <a:t>Collaborative Filtering Recommendation Engine: ML model suggesting job openings based on alumni placement history and candidate skill clusters.</a:t>
            </a:r>
            <a:endParaRPr lang="en-US" sz="1150" dirty="0"/>
          </a:p>
          <a:p>
            <a:pPr>
              <a:lnSpc>
                <a:spcPct val="135000"/>
              </a:lnSpc>
              <a:spcAft>
                <a:spcPts val="700"/>
              </a:spcAft>
            </a:pPr>
            <a:r>
              <a:rPr lang="en-US" sz="1150" dirty="0">
                <a:solidFill>
                  <a:srgbClr val="334155"/>
                </a:solidFill>
                <a:latin typeface="Calibri" pitchFamily="34" charset="0"/>
                <a:ea typeface="Calibri" pitchFamily="34" charset="-122"/>
                <a:cs typeface="Calibri" pitchFamily="34" charset="-120"/>
              </a:rPr>
              <a:t>Integrated Video Interviewing &amp; Scheduling: WebRTC-powered virtual interview rooms with automated Google Calendar synchronization.</a:t>
            </a:r>
            <a:endParaRPr lang="en-US" sz="1150" dirty="0"/>
          </a:p>
          <a:p>
            <a:pPr>
              <a:lnSpc>
                <a:spcPct val="135000"/>
              </a:lnSpc>
              <a:spcAft>
                <a:spcPts val="700"/>
              </a:spcAft>
            </a:pPr>
            <a:r>
              <a:rPr lang="en-US" sz="1150" dirty="0">
                <a:solidFill>
                  <a:srgbClr val="334155"/>
                </a:solidFill>
                <a:latin typeface="Calibri" pitchFamily="34" charset="0"/>
                <a:ea typeface="Calibri" pitchFamily="34" charset="-122"/>
                <a:cs typeface="Calibri" pitchFamily="34" charset="-120"/>
              </a:rPr>
              <a:t>Progressive Web App (PWA): Offline-capable mobile client with background push alerts for impending placement deadlines.</a:t>
            </a:r>
            <a:endParaRPr lang="en-US" sz="1150" dirty="0"/>
          </a:p>
        </p:txBody>
      </p:sp>
      <p:sp>
        <p:nvSpPr>
          <p:cNvPr id="17" name="Shape 15"/>
          <p:cNvSpPr/>
          <p:nvPr/>
        </p:nvSpPr>
        <p:spPr>
          <a:xfrm>
            <a:off x="731520" y="4782312"/>
            <a:ext cx="4114800" cy="292608"/>
          </a:xfrm>
          <a:prstGeom prst="roundRect">
            <a:avLst>
              <a:gd name="adj" fmla="val 12500"/>
            </a:avLst>
          </a:prstGeom>
          <a:solidFill>
            <a:srgbClr val="EDE9FE"/>
          </a:solidFill>
          <a:ln w="10160">
            <a:solidFill>
              <a:srgbClr val="7C3AED"/>
            </a:solidFill>
            <a:prstDash val="solid"/>
          </a:ln>
        </p:spPr>
      </p:sp>
      <p:sp>
        <p:nvSpPr>
          <p:cNvPr id="18" name="Text 16"/>
          <p:cNvSpPr/>
          <p:nvPr/>
        </p:nvSpPr>
        <p:spPr>
          <a:xfrm>
            <a:off x="731520" y="4782312"/>
            <a:ext cx="4114800" cy="292608"/>
          </a:xfrm>
          <a:prstGeom prst="rect">
            <a:avLst/>
          </a:prstGeom>
          <a:noFill/>
          <a:ln/>
        </p:spPr>
        <p:txBody>
          <a:bodyPr wrap="square" rtlCol="0" anchor="ctr"/>
          <a:lstStyle/>
          <a:p>
            <a:pPr algn="ctr" indent="0" marL="0">
              <a:buNone/>
            </a:pPr>
            <a:r>
              <a:rPr lang="en-US" sz="850" b="1" spc="150" kern="0" dirty="0">
                <a:solidFill>
                  <a:srgbClr val="7C3AED"/>
                </a:solidFill>
                <a:latin typeface="Calibri" pitchFamily="34" charset="0"/>
                <a:ea typeface="Calibri" pitchFamily="34" charset="-122"/>
                <a:cs typeface="Calibri" pitchFamily="34" charset="-120"/>
              </a:rPr>
              <a:t>PHASE 3 — LONG TERM (6–12 MONTHS)</a:t>
            </a:r>
            <a:endParaRPr lang="en-US" sz="850" dirty="0"/>
          </a:p>
        </p:txBody>
      </p:sp>
      <p:sp>
        <p:nvSpPr>
          <p:cNvPr id="19" name="Text 17"/>
          <p:cNvSpPr/>
          <p:nvPr/>
        </p:nvSpPr>
        <p:spPr>
          <a:xfrm>
            <a:off x="731520" y="5129784"/>
            <a:ext cx="10698480" cy="5120640"/>
          </a:xfrm>
          <a:prstGeom prst="rect">
            <a:avLst/>
          </a:prstGeom>
          <a:noFill/>
          <a:ln/>
        </p:spPr>
        <p:txBody>
          <a:bodyPr wrap="square" rtlCol="0" anchor="t"/>
          <a:lstStyle/>
          <a:p>
            <a:pPr>
              <a:lnSpc>
                <a:spcPct val="135000"/>
              </a:lnSpc>
              <a:spcAft>
                <a:spcPts val="700"/>
              </a:spcAft>
            </a:pPr>
            <a:r>
              <a:rPr lang="en-US" sz="1150" dirty="0">
                <a:solidFill>
                  <a:srgbClr val="334155"/>
                </a:solidFill>
                <a:latin typeface="Calibri" pitchFamily="34" charset="0"/>
                <a:ea typeface="Calibri" pitchFamily="34" charset="-122"/>
                <a:cs typeface="Calibri" pitchFamily="34" charset="-120"/>
              </a:rPr>
              <a:t>Inter-College Placement Federation: Shared multi-tenant network enabling joint campus recruitment drives across affiliated universities.</a:t>
            </a:r>
            <a:endParaRPr lang="en-US" sz="1150" dirty="0"/>
          </a:p>
          <a:p>
            <a:pPr>
              <a:lnSpc>
                <a:spcPct val="135000"/>
              </a:lnSpc>
              <a:spcAft>
                <a:spcPts val="700"/>
              </a:spcAft>
            </a:pPr>
            <a:r>
              <a:rPr lang="en-US" sz="1150" dirty="0">
                <a:solidFill>
                  <a:srgbClr val="334155"/>
                </a:solidFill>
                <a:latin typeface="Calibri" pitchFamily="34" charset="0"/>
                <a:ea typeface="Calibri" pitchFamily="34" charset="-122"/>
                <a:cs typeface="Calibri" pitchFamily="34" charset="-120"/>
              </a:rPr>
              <a:t>Blockchain Credential Verification: Tamper-proof verification of college degrees, certificates, and academic transcripts on Ethereum/Polygon.</a:t>
            </a:r>
            <a:endParaRPr lang="en-US" sz="1150" dirty="0"/>
          </a:p>
          <a:p>
            <a:pPr>
              <a:lnSpc>
                <a:spcPct val="135000"/>
              </a:lnSpc>
              <a:spcAft>
                <a:spcPts val="700"/>
              </a:spcAft>
            </a:pPr>
            <a:r>
              <a:rPr lang="en-US" sz="1150" dirty="0">
                <a:solidFill>
                  <a:srgbClr val="334155"/>
                </a:solidFill>
                <a:latin typeface="Calibri" pitchFamily="34" charset="0"/>
                <a:ea typeface="Calibri" pitchFamily="34" charset="-122"/>
                <a:cs typeface="Calibri" pitchFamily="34" charset="-120"/>
              </a:rPr>
              <a:t>Predictive Placement Analytics: Time-series forecasting predicting annual hiring demand and emerging industry skill shortages.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4338CA"/>
          </a:solidFill>
          <a:ln/>
        </p:spPr>
      </p:sp>
      <p:sp>
        <p:nvSpPr>
          <p:cNvPr id="3" name="Shape 1"/>
          <p:cNvSpPr/>
          <p:nvPr/>
        </p:nvSpPr>
        <p:spPr>
          <a:xfrm>
            <a:off x="0" y="73152"/>
            <a:ext cx="3200400" cy="22860"/>
          </a:xfrm>
          <a:prstGeom prst="rect">
            <a:avLst/>
          </a:prstGeom>
          <a:solidFill>
            <a:srgbClr val="7C3AED"/>
          </a:solidFill>
          <a:ln/>
        </p:spPr>
      </p:sp>
      <p:sp>
        <p:nvSpPr>
          <p:cNvPr id="4" name="Shape 2"/>
          <p:cNvSpPr/>
          <p:nvPr/>
        </p:nvSpPr>
        <p:spPr>
          <a:xfrm>
            <a:off x="731520" y="256032"/>
            <a:ext cx="2194560" cy="256032"/>
          </a:xfrm>
          <a:prstGeom prst="roundRect">
            <a:avLst>
              <a:gd name="adj" fmla="val 17857"/>
            </a:avLst>
          </a:prstGeom>
          <a:solidFill>
            <a:srgbClr val="CCFBF1"/>
          </a:solidFill>
          <a:ln w="10160">
            <a:solidFill>
              <a:srgbClr val="4338CA"/>
            </a:solidFill>
            <a:prstDash val="solid"/>
          </a:ln>
        </p:spPr>
      </p:sp>
      <p:sp>
        <p:nvSpPr>
          <p:cNvPr id="5" name="Text 3"/>
          <p:cNvSpPr/>
          <p:nvPr/>
        </p:nvSpPr>
        <p:spPr>
          <a:xfrm>
            <a:off x="731520" y="256032"/>
            <a:ext cx="2194560" cy="256032"/>
          </a:xfrm>
          <a:prstGeom prst="rect">
            <a:avLst/>
          </a:prstGeom>
          <a:noFill/>
          <a:ln/>
        </p:spPr>
        <p:txBody>
          <a:bodyPr wrap="square" rtlCol="0" anchor="ctr"/>
          <a:lstStyle/>
          <a:p>
            <a:pPr algn="ctr" indent="0" marL="0">
              <a:buNone/>
            </a:pPr>
            <a:r>
              <a:rPr lang="en-US" sz="850" b="1" spc="200" kern="0" dirty="0">
                <a:solidFill>
                  <a:srgbClr val="4338CA"/>
                </a:solidFill>
                <a:latin typeface="Calibri" pitchFamily="34" charset="0"/>
                <a:ea typeface="Calibri" pitchFamily="34" charset="-122"/>
                <a:cs typeface="Calibri" pitchFamily="34" charset="-120"/>
              </a:rPr>
              <a:t>CITATIONS</a:t>
            </a:r>
            <a:endParaRPr lang="en-US" sz="850" dirty="0"/>
          </a:p>
        </p:txBody>
      </p:sp>
      <p:sp>
        <p:nvSpPr>
          <p:cNvPr id="6" name="Text 4"/>
          <p:cNvSpPr/>
          <p:nvPr/>
        </p:nvSpPr>
        <p:spPr>
          <a:xfrm>
            <a:off x="7772400" y="256032"/>
            <a:ext cx="3657600" cy="256032"/>
          </a:xfrm>
          <a:prstGeom prst="rect">
            <a:avLst/>
          </a:prstGeom>
          <a:noFill/>
          <a:ln/>
        </p:spPr>
        <p:txBody>
          <a:bodyPr wrap="square" rtlCol="0" anchor="ctr"/>
          <a:lstStyle/>
          <a:p>
            <a:pPr algn="r" indent="0" marL="0">
              <a:buNone/>
            </a:pPr>
            <a:r>
              <a:rPr lang="en-US" sz="850" b="1" spc="150" kern="0" dirty="0">
                <a:solidFill>
                  <a:srgbClr val="64748B"/>
                </a:solidFill>
                <a:latin typeface="Calibri" pitchFamily="34" charset="0"/>
                <a:ea typeface="Calibri" pitchFamily="34" charset="-122"/>
                <a:cs typeface="Calibri" pitchFamily="34" charset="-120"/>
              </a:rPr>
              <a:t>ALTS | CAMPUS PLACEMENT PORTAL</a:t>
            </a:r>
            <a:endParaRPr lang="en-US" sz="850" dirty="0"/>
          </a:p>
        </p:txBody>
      </p:sp>
      <p:sp>
        <p:nvSpPr>
          <p:cNvPr id="7" name="Text 5"/>
          <p:cNvSpPr/>
          <p:nvPr/>
        </p:nvSpPr>
        <p:spPr>
          <a:xfrm>
            <a:off x="731520" y="566928"/>
            <a:ext cx="10515600" cy="475488"/>
          </a:xfrm>
          <a:prstGeom prst="rect">
            <a:avLst/>
          </a:prstGeom>
          <a:noFill/>
          <a:ln/>
        </p:spPr>
        <p:txBody>
          <a:bodyPr wrap="square"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References &amp; Academic Publications</a:t>
            </a:r>
            <a:endParaRPr lang="en-US" sz="2300" dirty="0"/>
          </a:p>
        </p:txBody>
      </p:sp>
      <p:sp>
        <p:nvSpPr>
          <p:cNvPr id="8" name="Shape 6"/>
          <p:cNvSpPr/>
          <p:nvPr/>
        </p:nvSpPr>
        <p:spPr>
          <a:xfrm>
            <a:off x="731520" y="1097280"/>
            <a:ext cx="2194560" cy="32004"/>
          </a:xfrm>
          <a:prstGeom prst="rect">
            <a:avLst/>
          </a:prstGeom>
          <a:solidFill>
            <a:srgbClr val="4338CA"/>
          </a:solidFill>
          <a:ln/>
        </p:spPr>
      </p:sp>
      <p:sp>
        <p:nvSpPr>
          <p:cNvPr id="9" name="Shape 7"/>
          <p:cNvSpPr/>
          <p:nvPr/>
        </p:nvSpPr>
        <p:spPr>
          <a:xfrm>
            <a:off x="11064240" y="6355080"/>
            <a:ext cx="640080" cy="320040"/>
          </a:xfrm>
          <a:prstGeom prst="roundRect">
            <a:avLst>
              <a:gd name="adj" fmla="val 11429"/>
            </a:avLst>
          </a:prstGeom>
          <a:solidFill>
            <a:srgbClr val="FFFFFF"/>
          </a:solidFill>
          <a:ln w="6350">
            <a:solidFill>
              <a:srgbClr val="E2E8F0"/>
            </a:solidFill>
            <a:prstDash val="solid"/>
          </a:ln>
        </p:spPr>
      </p:sp>
      <p:sp>
        <p:nvSpPr>
          <p:cNvPr id="10" name="Text 8"/>
          <p:cNvSpPr/>
          <p:nvPr/>
        </p:nvSpPr>
        <p:spPr>
          <a:xfrm>
            <a:off x="11064240" y="6355080"/>
            <a:ext cx="640080" cy="320040"/>
          </a:xfrm>
          <a:prstGeom prst="rect">
            <a:avLst/>
          </a:prstGeom>
          <a:noFill/>
          <a:ln/>
        </p:spPr>
        <p:txBody>
          <a:bodyPr wrap="square" rtlCol="0" anchor="ctr"/>
          <a:lstStyle/>
          <a:p>
            <a:pPr algn="ctr" indent="0" marL="0">
              <a:buNone/>
            </a:pPr>
            <a:r>
              <a:rPr lang="en-US" sz="950" b="1" dirty="0">
                <a:solidFill>
                  <a:srgbClr val="4338CA"/>
                </a:solidFill>
                <a:latin typeface="Calibri" pitchFamily="34" charset="0"/>
                <a:ea typeface="Calibri" pitchFamily="34" charset="-122"/>
                <a:cs typeface="Calibri" pitchFamily="34" charset="-120"/>
              </a:rPr>
              <a:t>17</a:t>
            </a:r>
            <a:endParaRPr lang="en-US" sz="950" dirty="0"/>
          </a:p>
        </p:txBody>
      </p:sp>
      <p:sp>
        <p:nvSpPr>
          <p:cNvPr id="11" name="Shape 9"/>
          <p:cNvSpPr/>
          <p:nvPr/>
        </p:nvSpPr>
        <p:spPr>
          <a:xfrm>
            <a:off x="731520" y="1325880"/>
            <a:ext cx="10698480" cy="347472"/>
          </a:xfrm>
          <a:prstGeom prst="roundRect">
            <a:avLst>
              <a:gd name="adj" fmla="val 10526"/>
            </a:avLst>
          </a:prstGeom>
          <a:solidFill>
            <a:srgbClr val="FFFFFF"/>
          </a:solidFill>
          <a:ln w="6350">
            <a:solidFill>
              <a:srgbClr val="E2E8F0"/>
            </a:solidFill>
            <a:prstDash val="solid"/>
          </a:ln>
        </p:spPr>
      </p:sp>
      <p:sp>
        <p:nvSpPr>
          <p:cNvPr id="12" name="Text 10"/>
          <p:cNvSpPr/>
          <p:nvPr/>
        </p:nvSpPr>
        <p:spPr>
          <a:xfrm>
            <a:off x="868680" y="1325880"/>
            <a:ext cx="10424160" cy="347472"/>
          </a:xfrm>
          <a:prstGeom prst="rect">
            <a:avLst/>
          </a:prstGeom>
          <a:noFill/>
          <a:ln/>
        </p:spPr>
        <p:txBody>
          <a:bodyPr wrap="square" rtlCol="0" anchor="ctr"/>
          <a:lstStyle/>
          <a:p>
            <a:pPr indent="0" marL="0">
              <a:buNone/>
            </a:pPr>
            <a:r>
              <a:rPr lang="en-US" sz="920" dirty="0">
                <a:solidFill>
                  <a:srgbClr val="334155"/>
                </a:solidFill>
                <a:latin typeface="Calibri" pitchFamily="34" charset="0"/>
                <a:ea typeface="Calibri" pitchFamily="34" charset="-122"/>
                <a:cs typeface="Calibri" pitchFamily="34" charset="-120"/>
              </a:rPr>
              <a:t>[1]  S. Patil, A. Kulkarni, and R. Joshi, "Design and Implementation of Online Placement Management System," International Journal of Engineering Research &amp; Technology (IJERT), vol. 9, no. 5, pp. 245–250, 2020.</a:t>
            </a:r>
            <a:endParaRPr lang="en-US" sz="920" dirty="0"/>
          </a:p>
        </p:txBody>
      </p:sp>
      <p:sp>
        <p:nvSpPr>
          <p:cNvPr id="13" name="Shape 11"/>
          <p:cNvSpPr/>
          <p:nvPr/>
        </p:nvSpPr>
        <p:spPr>
          <a:xfrm>
            <a:off x="731520" y="1719072"/>
            <a:ext cx="10698480" cy="347472"/>
          </a:xfrm>
          <a:prstGeom prst="roundRect">
            <a:avLst>
              <a:gd name="adj" fmla="val 10526"/>
            </a:avLst>
          </a:prstGeom>
          <a:solidFill>
            <a:srgbClr val="EEF2FF"/>
          </a:solidFill>
          <a:ln w="6350">
            <a:solidFill>
              <a:srgbClr val="E2E8F0"/>
            </a:solidFill>
            <a:prstDash val="solid"/>
          </a:ln>
        </p:spPr>
      </p:sp>
      <p:sp>
        <p:nvSpPr>
          <p:cNvPr id="14" name="Text 12"/>
          <p:cNvSpPr/>
          <p:nvPr/>
        </p:nvSpPr>
        <p:spPr>
          <a:xfrm>
            <a:off x="868680" y="1719072"/>
            <a:ext cx="10424160" cy="347472"/>
          </a:xfrm>
          <a:prstGeom prst="rect">
            <a:avLst/>
          </a:prstGeom>
          <a:noFill/>
          <a:ln/>
        </p:spPr>
        <p:txBody>
          <a:bodyPr wrap="square" rtlCol="0" anchor="ctr"/>
          <a:lstStyle/>
          <a:p>
            <a:pPr indent="0" marL="0">
              <a:buNone/>
            </a:pPr>
            <a:r>
              <a:rPr lang="en-US" sz="920" dirty="0">
                <a:solidFill>
                  <a:srgbClr val="334155"/>
                </a:solidFill>
                <a:latin typeface="Calibri" pitchFamily="34" charset="0"/>
                <a:ea typeface="Calibri" pitchFamily="34" charset="-122"/>
                <a:cs typeface="Calibri" pitchFamily="34" charset="-120"/>
              </a:rPr>
              <a:t>[2]  R. Kumar and P. Singh, "Automated Campus Recruitment and Candidate Screening System using Machine Learning," in IEEE International Conference on Computer Communication and Informatics (ICCCNT), 2021, pp. 1–6.</a:t>
            </a:r>
            <a:endParaRPr lang="en-US" sz="920" dirty="0"/>
          </a:p>
        </p:txBody>
      </p:sp>
      <p:sp>
        <p:nvSpPr>
          <p:cNvPr id="15" name="Shape 13"/>
          <p:cNvSpPr/>
          <p:nvPr/>
        </p:nvSpPr>
        <p:spPr>
          <a:xfrm>
            <a:off x="731520" y="2112264"/>
            <a:ext cx="10698480" cy="347472"/>
          </a:xfrm>
          <a:prstGeom prst="roundRect">
            <a:avLst>
              <a:gd name="adj" fmla="val 10526"/>
            </a:avLst>
          </a:prstGeom>
          <a:solidFill>
            <a:srgbClr val="FFFFFF"/>
          </a:solidFill>
          <a:ln w="6350">
            <a:solidFill>
              <a:srgbClr val="E2E8F0"/>
            </a:solidFill>
            <a:prstDash val="solid"/>
          </a:ln>
        </p:spPr>
      </p:sp>
      <p:sp>
        <p:nvSpPr>
          <p:cNvPr id="16" name="Text 14"/>
          <p:cNvSpPr/>
          <p:nvPr/>
        </p:nvSpPr>
        <p:spPr>
          <a:xfrm>
            <a:off x="868680" y="2112264"/>
            <a:ext cx="10424160" cy="347472"/>
          </a:xfrm>
          <a:prstGeom prst="rect">
            <a:avLst/>
          </a:prstGeom>
          <a:noFill/>
          <a:ln/>
        </p:spPr>
        <p:txBody>
          <a:bodyPr wrap="square" rtlCol="0" anchor="ctr"/>
          <a:lstStyle/>
          <a:p>
            <a:pPr indent="0" marL="0">
              <a:buNone/>
            </a:pPr>
            <a:r>
              <a:rPr lang="en-US" sz="920" dirty="0">
                <a:solidFill>
                  <a:srgbClr val="334155"/>
                </a:solidFill>
                <a:latin typeface="Calibri" pitchFamily="34" charset="0"/>
                <a:ea typeface="Calibri" pitchFamily="34" charset="-122"/>
                <a:cs typeface="Calibri" pitchFamily="34" charset="-120"/>
              </a:rPr>
              <a:t>[3]  M. Bankar, V. Gaikwad, and S. Pawar, "College Placement and Training Management System with ATS Scoring," IEEE Access, vol. 8, pp. 112040–112048, 2021.</a:t>
            </a:r>
            <a:endParaRPr lang="en-US" sz="920" dirty="0"/>
          </a:p>
        </p:txBody>
      </p:sp>
      <p:sp>
        <p:nvSpPr>
          <p:cNvPr id="17" name="Shape 15"/>
          <p:cNvSpPr/>
          <p:nvPr/>
        </p:nvSpPr>
        <p:spPr>
          <a:xfrm>
            <a:off x="731520" y="2505456"/>
            <a:ext cx="10698480" cy="347472"/>
          </a:xfrm>
          <a:prstGeom prst="roundRect">
            <a:avLst>
              <a:gd name="adj" fmla="val 10526"/>
            </a:avLst>
          </a:prstGeom>
          <a:solidFill>
            <a:srgbClr val="EEF2FF"/>
          </a:solidFill>
          <a:ln w="6350">
            <a:solidFill>
              <a:srgbClr val="E2E8F0"/>
            </a:solidFill>
            <a:prstDash val="solid"/>
          </a:ln>
        </p:spPr>
      </p:sp>
      <p:sp>
        <p:nvSpPr>
          <p:cNvPr id="18" name="Text 16"/>
          <p:cNvSpPr/>
          <p:nvPr/>
        </p:nvSpPr>
        <p:spPr>
          <a:xfrm>
            <a:off x="868680" y="2505456"/>
            <a:ext cx="10424160" cy="347472"/>
          </a:xfrm>
          <a:prstGeom prst="rect">
            <a:avLst/>
          </a:prstGeom>
          <a:noFill/>
          <a:ln/>
        </p:spPr>
        <p:txBody>
          <a:bodyPr wrap="square" rtlCol="0" anchor="ctr"/>
          <a:lstStyle/>
          <a:p>
            <a:pPr indent="0" marL="0">
              <a:buNone/>
            </a:pPr>
            <a:r>
              <a:rPr lang="en-US" sz="920" dirty="0">
                <a:solidFill>
                  <a:srgbClr val="334155"/>
                </a:solidFill>
                <a:latin typeface="Calibri" pitchFamily="34" charset="0"/>
                <a:ea typeface="Calibri" pitchFamily="34" charset="-122"/>
                <a:cs typeface="Calibri" pitchFamily="34" charset="-120"/>
              </a:rPr>
              <a:t>[4]  MongoDB Inc., "MongoDB Manual and Architecture Guide (v7.0)," MongoDB Documentation, 2024. [Online]. Available: https://docs.mongodb.com/</a:t>
            </a:r>
            <a:endParaRPr lang="en-US" sz="920" dirty="0"/>
          </a:p>
        </p:txBody>
      </p:sp>
      <p:sp>
        <p:nvSpPr>
          <p:cNvPr id="19" name="Shape 17"/>
          <p:cNvSpPr/>
          <p:nvPr/>
        </p:nvSpPr>
        <p:spPr>
          <a:xfrm>
            <a:off x="731520" y="2898648"/>
            <a:ext cx="10698480" cy="347472"/>
          </a:xfrm>
          <a:prstGeom prst="roundRect">
            <a:avLst>
              <a:gd name="adj" fmla="val 10526"/>
            </a:avLst>
          </a:prstGeom>
          <a:solidFill>
            <a:srgbClr val="FFFFFF"/>
          </a:solidFill>
          <a:ln w="6350">
            <a:solidFill>
              <a:srgbClr val="E2E8F0"/>
            </a:solidFill>
            <a:prstDash val="solid"/>
          </a:ln>
        </p:spPr>
      </p:sp>
      <p:sp>
        <p:nvSpPr>
          <p:cNvPr id="20" name="Text 18"/>
          <p:cNvSpPr/>
          <p:nvPr/>
        </p:nvSpPr>
        <p:spPr>
          <a:xfrm>
            <a:off x="868680" y="2898648"/>
            <a:ext cx="10424160" cy="347472"/>
          </a:xfrm>
          <a:prstGeom prst="rect">
            <a:avLst/>
          </a:prstGeom>
          <a:noFill/>
          <a:ln/>
        </p:spPr>
        <p:txBody>
          <a:bodyPr wrap="square" rtlCol="0" anchor="ctr"/>
          <a:lstStyle/>
          <a:p>
            <a:pPr indent="0" marL="0">
              <a:buNone/>
            </a:pPr>
            <a:r>
              <a:rPr lang="en-US" sz="920" dirty="0">
                <a:solidFill>
                  <a:srgbClr val="334155"/>
                </a:solidFill>
                <a:latin typeface="Calibri" pitchFamily="34" charset="0"/>
                <a:ea typeface="Calibri" pitchFamily="34" charset="-122"/>
                <a:cs typeface="Calibri" pitchFamily="34" charset="-120"/>
              </a:rPr>
              <a:t>[5]  OpenJS Foundation, "Express.js — Fast, Unopinionated, Minimalist Web Framework for Node.js," Express Guide, 2024. [Online]. Available: https://expressjs.com/</a:t>
            </a:r>
            <a:endParaRPr lang="en-US" sz="920" dirty="0"/>
          </a:p>
        </p:txBody>
      </p:sp>
      <p:sp>
        <p:nvSpPr>
          <p:cNvPr id="21" name="Shape 19"/>
          <p:cNvSpPr/>
          <p:nvPr/>
        </p:nvSpPr>
        <p:spPr>
          <a:xfrm>
            <a:off x="731520" y="3291840"/>
            <a:ext cx="10698480" cy="347472"/>
          </a:xfrm>
          <a:prstGeom prst="roundRect">
            <a:avLst>
              <a:gd name="adj" fmla="val 10526"/>
            </a:avLst>
          </a:prstGeom>
          <a:solidFill>
            <a:srgbClr val="EEF2FF"/>
          </a:solidFill>
          <a:ln w="6350">
            <a:solidFill>
              <a:srgbClr val="E2E8F0"/>
            </a:solidFill>
            <a:prstDash val="solid"/>
          </a:ln>
        </p:spPr>
      </p:sp>
      <p:sp>
        <p:nvSpPr>
          <p:cNvPr id="22" name="Text 20"/>
          <p:cNvSpPr/>
          <p:nvPr/>
        </p:nvSpPr>
        <p:spPr>
          <a:xfrm>
            <a:off x="868680" y="3291840"/>
            <a:ext cx="10424160" cy="347472"/>
          </a:xfrm>
          <a:prstGeom prst="rect">
            <a:avLst/>
          </a:prstGeom>
          <a:noFill/>
          <a:ln/>
        </p:spPr>
        <p:txBody>
          <a:bodyPr wrap="square" rtlCol="0" anchor="ctr"/>
          <a:lstStyle/>
          <a:p>
            <a:pPr indent="0" marL="0">
              <a:buNone/>
            </a:pPr>
            <a:r>
              <a:rPr lang="en-US" sz="920" dirty="0">
                <a:solidFill>
                  <a:srgbClr val="334155"/>
                </a:solidFill>
                <a:latin typeface="Calibri" pitchFamily="34" charset="0"/>
                <a:ea typeface="Calibri" pitchFamily="34" charset="-122"/>
                <a:cs typeface="Calibri" pitchFamily="34" charset="-120"/>
              </a:rPr>
              <a:t>[6]  Meta Open Source, "React Documentation: Building User Interfaces with Components," React.dev, 2024. [Online]. Available: https://react.dev/</a:t>
            </a:r>
            <a:endParaRPr lang="en-US" sz="920" dirty="0"/>
          </a:p>
        </p:txBody>
      </p:sp>
      <p:sp>
        <p:nvSpPr>
          <p:cNvPr id="23" name="Shape 21"/>
          <p:cNvSpPr/>
          <p:nvPr/>
        </p:nvSpPr>
        <p:spPr>
          <a:xfrm>
            <a:off x="731520" y="3685032"/>
            <a:ext cx="10698480" cy="347472"/>
          </a:xfrm>
          <a:prstGeom prst="roundRect">
            <a:avLst>
              <a:gd name="adj" fmla="val 10526"/>
            </a:avLst>
          </a:prstGeom>
          <a:solidFill>
            <a:srgbClr val="FFFFFF"/>
          </a:solidFill>
          <a:ln w="6350">
            <a:solidFill>
              <a:srgbClr val="E2E8F0"/>
            </a:solidFill>
            <a:prstDash val="solid"/>
          </a:ln>
        </p:spPr>
      </p:sp>
      <p:sp>
        <p:nvSpPr>
          <p:cNvPr id="24" name="Text 22"/>
          <p:cNvSpPr/>
          <p:nvPr/>
        </p:nvSpPr>
        <p:spPr>
          <a:xfrm>
            <a:off x="868680" y="3685032"/>
            <a:ext cx="10424160" cy="347472"/>
          </a:xfrm>
          <a:prstGeom prst="rect">
            <a:avLst/>
          </a:prstGeom>
          <a:noFill/>
          <a:ln/>
        </p:spPr>
        <p:txBody>
          <a:bodyPr wrap="square" rtlCol="0" anchor="ctr"/>
          <a:lstStyle/>
          <a:p>
            <a:pPr indent="0" marL="0">
              <a:buNone/>
            </a:pPr>
            <a:r>
              <a:rPr lang="en-US" sz="920" dirty="0">
                <a:solidFill>
                  <a:srgbClr val="334155"/>
                </a:solidFill>
                <a:latin typeface="Calibri" pitchFamily="34" charset="0"/>
                <a:ea typeface="Calibri" pitchFamily="34" charset="-122"/>
                <a:cs typeface="Calibri" pitchFamily="34" charset="-120"/>
              </a:rPr>
              <a:t>[7]  M. Jones, J. Bradley, and N. Sakimura, "JSON Web Token (JWT)," RFC 7519, IETF Proposed Standard, May 2015. [Online]. Available: https://tools.ietf.org/html/rfc7519</a:t>
            </a:r>
            <a:endParaRPr lang="en-US" sz="920" dirty="0"/>
          </a:p>
        </p:txBody>
      </p:sp>
      <p:sp>
        <p:nvSpPr>
          <p:cNvPr id="25" name="Shape 23"/>
          <p:cNvSpPr/>
          <p:nvPr/>
        </p:nvSpPr>
        <p:spPr>
          <a:xfrm>
            <a:off x="731520" y="4078224"/>
            <a:ext cx="10698480" cy="347472"/>
          </a:xfrm>
          <a:prstGeom prst="roundRect">
            <a:avLst>
              <a:gd name="adj" fmla="val 10526"/>
            </a:avLst>
          </a:prstGeom>
          <a:solidFill>
            <a:srgbClr val="EEF2FF"/>
          </a:solidFill>
          <a:ln w="6350">
            <a:solidFill>
              <a:srgbClr val="E2E8F0"/>
            </a:solidFill>
            <a:prstDash val="solid"/>
          </a:ln>
        </p:spPr>
      </p:sp>
      <p:sp>
        <p:nvSpPr>
          <p:cNvPr id="26" name="Text 24"/>
          <p:cNvSpPr/>
          <p:nvPr/>
        </p:nvSpPr>
        <p:spPr>
          <a:xfrm>
            <a:off x="868680" y="4078224"/>
            <a:ext cx="10424160" cy="347472"/>
          </a:xfrm>
          <a:prstGeom prst="rect">
            <a:avLst/>
          </a:prstGeom>
          <a:noFill/>
          <a:ln/>
        </p:spPr>
        <p:txBody>
          <a:bodyPr wrap="square" rtlCol="0" anchor="ctr"/>
          <a:lstStyle/>
          <a:p>
            <a:pPr indent="0" marL="0">
              <a:buNone/>
            </a:pPr>
            <a:r>
              <a:rPr lang="en-US" sz="920" dirty="0">
                <a:solidFill>
                  <a:srgbClr val="334155"/>
                </a:solidFill>
                <a:latin typeface="Calibri" pitchFamily="34" charset="0"/>
                <a:ea typeface="Calibri" pitchFamily="34" charset="-122"/>
                <a:cs typeface="Calibri" pitchFamily="34" charset="-120"/>
              </a:rPr>
              <a:t>[8]  A. Heun, "NodeMailer — Send Emails with Node.js," NodeMailer Documentation, 2024. [Online]. Available: https://nodemailer.com/about/</a:t>
            </a:r>
            <a:endParaRPr lang="en-US" sz="920" dirty="0"/>
          </a:p>
        </p:txBody>
      </p:sp>
      <p:sp>
        <p:nvSpPr>
          <p:cNvPr id="27" name="Shape 25"/>
          <p:cNvSpPr/>
          <p:nvPr/>
        </p:nvSpPr>
        <p:spPr>
          <a:xfrm>
            <a:off x="731520" y="4471416"/>
            <a:ext cx="10698480" cy="347472"/>
          </a:xfrm>
          <a:prstGeom prst="roundRect">
            <a:avLst>
              <a:gd name="adj" fmla="val 10526"/>
            </a:avLst>
          </a:prstGeom>
          <a:solidFill>
            <a:srgbClr val="FFFFFF"/>
          </a:solidFill>
          <a:ln w="6350">
            <a:solidFill>
              <a:srgbClr val="E2E8F0"/>
            </a:solidFill>
            <a:prstDash val="solid"/>
          </a:ln>
        </p:spPr>
      </p:sp>
      <p:sp>
        <p:nvSpPr>
          <p:cNvPr id="28" name="Text 26"/>
          <p:cNvSpPr/>
          <p:nvPr/>
        </p:nvSpPr>
        <p:spPr>
          <a:xfrm>
            <a:off x="868680" y="4471416"/>
            <a:ext cx="10424160" cy="347472"/>
          </a:xfrm>
          <a:prstGeom prst="rect">
            <a:avLst/>
          </a:prstGeom>
          <a:noFill/>
          <a:ln/>
        </p:spPr>
        <p:txBody>
          <a:bodyPr wrap="square" rtlCol="0" anchor="ctr"/>
          <a:lstStyle/>
          <a:p>
            <a:pPr indent="0" marL="0">
              <a:buNone/>
            </a:pPr>
            <a:r>
              <a:rPr lang="en-US" sz="920" dirty="0">
                <a:solidFill>
                  <a:srgbClr val="334155"/>
                </a:solidFill>
                <a:latin typeface="Calibri" pitchFamily="34" charset="0"/>
                <a:ea typeface="Calibri" pitchFamily="34" charset="-122"/>
                <a:cs typeface="Calibri" pitchFamily="34" charset="-120"/>
              </a:rPr>
              <a:t>[9]  E. You et al., "Vite: Next Generation Frontend Tooling," Vite Documentation, 2024. [Online]. Available: https://vitejs.dev/</a:t>
            </a:r>
            <a:endParaRPr lang="en-US" sz="920" dirty="0"/>
          </a:p>
        </p:txBody>
      </p:sp>
      <p:sp>
        <p:nvSpPr>
          <p:cNvPr id="29" name="Shape 27"/>
          <p:cNvSpPr/>
          <p:nvPr/>
        </p:nvSpPr>
        <p:spPr>
          <a:xfrm>
            <a:off x="731520" y="4864608"/>
            <a:ext cx="10698480" cy="347472"/>
          </a:xfrm>
          <a:prstGeom prst="roundRect">
            <a:avLst>
              <a:gd name="adj" fmla="val 10526"/>
            </a:avLst>
          </a:prstGeom>
          <a:solidFill>
            <a:srgbClr val="EEF2FF"/>
          </a:solidFill>
          <a:ln w="6350">
            <a:solidFill>
              <a:srgbClr val="E2E8F0"/>
            </a:solidFill>
            <a:prstDash val="solid"/>
          </a:ln>
        </p:spPr>
      </p:sp>
      <p:sp>
        <p:nvSpPr>
          <p:cNvPr id="30" name="Text 28"/>
          <p:cNvSpPr/>
          <p:nvPr/>
        </p:nvSpPr>
        <p:spPr>
          <a:xfrm>
            <a:off x="868680" y="4864608"/>
            <a:ext cx="10424160" cy="347472"/>
          </a:xfrm>
          <a:prstGeom prst="rect">
            <a:avLst/>
          </a:prstGeom>
          <a:noFill/>
          <a:ln/>
        </p:spPr>
        <p:txBody>
          <a:bodyPr wrap="square" rtlCol="0" anchor="ctr"/>
          <a:lstStyle/>
          <a:p>
            <a:pPr indent="0" marL="0">
              <a:buNone/>
            </a:pPr>
            <a:r>
              <a:rPr lang="en-US" sz="920" dirty="0">
                <a:solidFill>
                  <a:srgbClr val="334155"/>
                </a:solidFill>
                <a:latin typeface="Calibri" pitchFamily="34" charset="0"/>
                <a:ea typeface="Calibri" pitchFamily="34" charset="-122"/>
                <a:cs typeface="Calibri" pitchFamily="34" charset="-120"/>
              </a:rPr>
              <a:t>[10] Recharts Group, "Recharts — Redefined Chart Library Built with React and D3," Recharts API Guide, 2024. [Online]. Available: https://recharts.org/</a:t>
            </a:r>
            <a:endParaRPr lang="en-US" sz="920" dirty="0"/>
          </a:p>
        </p:txBody>
      </p:sp>
      <p:sp>
        <p:nvSpPr>
          <p:cNvPr id="31" name="Shape 29"/>
          <p:cNvSpPr/>
          <p:nvPr/>
        </p:nvSpPr>
        <p:spPr>
          <a:xfrm>
            <a:off x="731520" y="5257800"/>
            <a:ext cx="10698480" cy="347472"/>
          </a:xfrm>
          <a:prstGeom prst="roundRect">
            <a:avLst>
              <a:gd name="adj" fmla="val 10526"/>
            </a:avLst>
          </a:prstGeom>
          <a:solidFill>
            <a:srgbClr val="FFFFFF"/>
          </a:solidFill>
          <a:ln w="6350">
            <a:solidFill>
              <a:srgbClr val="E2E8F0"/>
            </a:solidFill>
            <a:prstDash val="solid"/>
          </a:ln>
        </p:spPr>
      </p:sp>
      <p:sp>
        <p:nvSpPr>
          <p:cNvPr id="32" name="Text 30"/>
          <p:cNvSpPr/>
          <p:nvPr/>
        </p:nvSpPr>
        <p:spPr>
          <a:xfrm>
            <a:off x="868680" y="5257800"/>
            <a:ext cx="10424160" cy="347472"/>
          </a:xfrm>
          <a:prstGeom prst="rect">
            <a:avLst/>
          </a:prstGeom>
          <a:noFill/>
          <a:ln/>
        </p:spPr>
        <p:txBody>
          <a:bodyPr wrap="square" rtlCol="0" anchor="ctr"/>
          <a:lstStyle/>
          <a:p>
            <a:pPr indent="0" marL="0">
              <a:buNone/>
            </a:pPr>
            <a:r>
              <a:rPr lang="en-US" sz="920" dirty="0">
                <a:solidFill>
                  <a:srgbClr val="334155"/>
                </a:solidFill>
                <a:latin typeface="Calibri" pitchFamily="34" charset="0"/>
                <a:ea typeface="Calibri" pitchFamily="34" charset="-122"/>
                <a:cs typeface="Calibri" pitchFamily="34" charset="-120"/>
              </a:rPr>
              <a:t>[11] Framer B.V., "Framer Motion — Production-ready Animation Library for React," Motion Guide, 2024. [Online]. Available: https://www.framer.com/motion/</a:t>
            </a:r>
            <a:endParaRPr lang="en-US" sz="920" dirty="0"/>
          </a:p>
        </p:txBody>
      </p:sp>
      <p:sp>
        <p:nvSpPr>
          <p:cNvPr id="33" name="Shape 31"/>
          <p:cNvSpPr/>
          <p:nvPr/>
        </p:nvSpPr>
        <p:spPr>
          <a:xfrm>
            <a:off x="731520" y="5650992"/>
            <a:ext cx="10698480" cy="347472"/>
          </a:xfrm>
          <a:prstGeom prst="roundRect">
            <a:avLst>
              <a:gd name="adj" fmla="val 10526"/>
            </a:avLst>
          </a:prstGeom>
          <a:solidFill>
            <a:srgbClr val="EEF2FF"/>
          </a:solidFill>
          <a:ln w="6350">
            <a:solidFill>
              <a:srgbClr val="E2E8F0"/>
            </a:solidFill>
            <a:prstDash val="solid"/>
          </a:ln>
        </p:spPr>
      </p:sp>
      <p:sp>
        <p:nvSpPr>
          <p:cNvPr id="34" name="Text 32"/>
          <p:cNvSpPr/>
          <p:nvPr/>
        </p:nvSpPr>
        <p:spPr>
          <a:xfrm>
            <a:off x="868680" y="5650992"/>
            <a:ext cx="10424160" cy="347472"/>
          </a:xfrm>
          <a:prstGeom prst="rect">
            <a:avLst/>
          </a:prstGeom>
          <a:noFill/>
          <a:ln/>
        </p:spPr>
        <p:txBody>
          <a:bodyPr wrap="square" rtlCol="0" anchor="ctr"/>
          <a:lstStyle/>
          <a:p>
            <a:pPr indent="0" marL="0">
              <a:buNone/>
            </a:pPr>
            <a:r>
              <a:rPr lang="en-US" sz="920" dirty="0">
                <a:solidFill>
                  <a:srgbClr val="334155"/>
                </a:solidFill>
                <a:latin typeface="Calibri" pitchFamily="34" charset="0"/>
                <a:ea typeface="Calibri" pitchFamily="34" charset="-122"/>
                <a:cs typeface="Calibri" pitchFamily="34" charset="-120"/>
              </a:rPr>
              <a:t>[12] M. S. Bernstein et al., "pdf-parse: Pure JavaScript PDF Text Extraction Library," npm Repository, 2023. [Online]. Available: https://www.npmjs.com/package/pdf-parse</a:t>
            </a:r>
            <a:endParaRPr lang="en-US" sz="9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D4ED8"/>
          </a:solidFill>
          <a:ln/>
        </p:spPr>
      </p:sp>
      <p:sp>
        <p:nvSpPr>
          <p:cNvPr id="3" name="Shape 1"/>
          <p:cNvSpPr/>
          <p:nvPr/>
        </p:nvSpPr>
        <p:spPr>
          <a:xfrm>
            <a:off x="0" y="91440"/>
            <a:ext cx="5943600" cy="27432"/>
          </a:xfrm>
          <a:prstGeom prst="rect">
            <a:avLst/>
          </a:prstGeom>
          <a:solidFill>
            <a:srgbClr val="7C3AED"/>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5400" b="1" dirty="0">
                <a:solidFill>
                  <a:srgbClr val="0F172A"/>
                </a:solidFill>
                <a:latin typeface="Calibri" pitchFamily="34" charset="0"/>
                <a:ea typeface="Calibri" pitchFamily="34" charset="-122"/>
                <a:cs typeface="Calibri" pitchFamily="34" charset="-120"/>
              </a:rPr>
              <a:t>Thank You</a:t>
            </a:r>
            <a:endParaRPr lang="en-US" sz="5400" dirty="0"/>
          </a:p>
        </p:txBody>
      </p:sp>
      <p:sp>
        <p:nvSpPr>
          <p:cNvPr id="5" name="Shape 3"/>
          <p:cNvSpPr/>
          <p:nvPr/>
        </p:nvSpPr>
        <p:spPr>
          <a:xfrm>
            <a:off x="5212080" y="2880360"/>
            <a:ext cx="1737360" cy="36576"/>
          </a:xfrm>
          <a:prstGeom prst="rect">
            <a:avLst/>
          </a:prstGeom>
          <a:solidFill>
            <a:srgbClr val="1D4ED8"/>
          </a:solidFill>
          <a:ln/>
        </p:spPr>
      </p:sp>
      <p:sp>
        <p:nvSpPr>
          <p:cNvPr id="6" name="Text 4"/>
          <p:cNvSpPr/>
          <p:nvPr/>
        </p:nvSpPr>
        <p:spPr>
          <a:xfrm>
            <a:off x="0" y="3154680"/>
            <a:ext cx="12191695" cy="548640"/>
          </a:xfrm>
          <a:prstGeom prst="rect">
            <a:avLst/>
          </a:prstGeom>
          <a:noFill/>
          <a:ln/>
        </p:spPr>
        <p:txBody>
          <a:bodyPr wrap="square" rtlCol="0" anchor="ctr"/>
          <a:lstStyle/>
          <a:p>
            <a:pPr algn="ctr" indent="0" marL="0">
              <a:buNone/>
            </a:pPr>
            <a:r>
              <a:rPr lang="en-US" sz="1900" b="1" dirty="0">
                <a:solidFill>
                  <a:srgbClr val="7C3AED"/>
                </a:solidFill>
                <a:latin typeface="Calibri" pitchFamily="34" charset="0"/>
                <a:ea typeface="Calibri" pitchFamily="34" charset="-122"/>
                <a:cs typeface="Calibri" pitchFamily="34" charset="-120"/>
              </a:rPr>
              <a:t>Questions &amp; Discussion</a:t>
            </a:r>
            <a:endParaRPr lang="en-US" sz="1900" dirty="0"/>
          </a:p>
        </p:txBody>
      </p:sp>
      <p:sp>
        <p:nvSpPr>
          <p:cNvPr id="7" name="Shape 5"/>
          <p:cNvSpPr/>
          <p:nvPr/>
        </p:nvSpPr>
        <p:spPr>
          <a:xfrm>
            <a:off x="3291840" y="4023360"/>
            <a:ext cx="5577840" cy="1371600"/>
          </a:xfrm>
          <a:prstGeom prst="roundRect">
            <a:avLst>
              <a:gd name="adj" fmla="val 5333"/>
            </a:avLst>
          </a:prstGeom>
          <a:solidFill>
            <a:srgbClr val="EFF6FF"/>
          </a:solidFill>
          <a:ln w="15240">
            <a:solidFill>
              <a:srgbClr val="1D4ED8"/>
            </a:solidFill>
            <a:prstDash val="solid"/>
          </a:ln>
        </p:spPr>
      </p:sp>
      <p:sp>
        <p:nvSpPr>
          <p:cNvPr id="8" name="Text 6"/>
          <p:cNvSpPr/>
          <p:nvPr/>
        </p:nvSpPr>
        <p:spPr>
          <a:xfrm>
            <a:off x="3474720" y="4160520"/>
            <a:ext cx="5212080" cy="1097280"/>
          </a:xfrm>
          <a:prstGeom prst="rect">
            <a:avLst/>
          </a:prstGeom>
          <a:noFill/>
          <a:ln/>
        </p:spPr>
        <p:txBody>
          <a:bodyPr wrap="square" rtlCol="0" anchor="ctr"/>
          <a:lstStyle/>
          <a:p>
            <a:pPr algn="ctr" indent="0" marL="0">
              <a:lnSpc>
                <a:spcPct val="145000"/>
              </a:lnSpc>
              <a:buNone/>
            </a:pPr>
            <a:r>
              <a:rPr lang="en-US" sz="1400" b="1" dirty="0">
                <a:solidFill>
                  <a:srgbClr val="0F172A"/>
                </a:solidFill>
                <a:latin typeface="Calibri" pitchFamily="34" charset="0"/>
                <a:ea typeface="Calibri" pitchFamily="34" charset="-122"/>
                <a:cs typeface="Calibri" pitchFamily="34" charset="-120"/>
              </a:rPr>
              <a:t>ALTS Campus Placement Portal</a:t>
            </a:r>
            <a:endParaRPr lang="en-US" sz="1400" dirty="0"/>
          </a:p>
          <a:p>
            <a:pPr algn="ctr" indent="0" marL="0">
              <a:lnSpc>
                <a:spcPct val="145000"/>
              </a:lnSpc>
              <a:buNone/>
            </a:pPr>
            <a:r>
              <a:rPr lang="en-US" sz="1400" b="1" dirty="0">
                <a:solidFill>
                  <a:srgbClr val="0F172A"/>
                </a:solidFill>
                <a:latin typeface="Calibri" pitchFamily="34" charset="0"/>
                <a:ea typeface="Calibri" pitchFamily="34" charset="-122"/>
                <a:cs typeface="Calibri" pitchFamily="34" charset="-120"/>
              </a:rPr>
              <a:t>Department of Computer Science &amp; Engineering</a:t>
            </a:r>
            <a:endParaRPr lang="en-US" sz="1400" dirty="0"/>
          </a:p>
          <a:p>
            <a:pPr algn="ctr" indent="0" marL="0">
              <a:lnSpc>
                <a:spcPct val="145000"/>
              </a:lnSpc>
              <a:buNone/>
            </a:pPr>
            <a:r>
              <a:rPr lang="en-US" sz="1400" b="1" dirty="0">
                <a:solidFill>
                  <a:srgbClr val="0F172A"/>
                </a:solidFill>
                <a:latin typeface="Calibri" pitchFamily="34" charset="0"/>
                <a:ea typeface="Calibri" pitchFamily="34" charset="-122"/>
                <a:cs typeface="Calibri" pitchFamily="34" charset="-120"/>
              </a:rPr>
              <a:t>ALTS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ALTS Campus Placement Portal</dc:title>
  <dc:subject>PptxGenJS Presentation</dc:subject>
  <dc:creator>Department of Computer Science &amp; Engineering, ALTS</dc:creator>
  <cp:lastModifiedBy>Department of Computer Science &amp; Engineering, ALTS</cp:lastModifiedBy>
  <cp:revision>1</cp:revision>
  <dcterms:created xsi:type="dcterms:W3CDTF">2026-10-27T17:27:15Z</dcterms:created>
  <dcterms:modified xsi:type="dcterms:W3CDTF">2026-10-27T17:27:15Z</dcterms:modified>
</cp:coreProperties>
</file>