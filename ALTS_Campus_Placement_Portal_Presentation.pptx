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supervisor and panel members. Today we are presenting ALTS, an AI-powered end-to-end campus placement portal built to modernize campus hiring through automated resume parsing, algorithmic matching, and unified recruitment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roadmap for our presentation. We will walk you through the problem landscape, literature gaps, system architecture, core ATS algorithms, implementation tech stack, experimental results, and conclude with future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details the core motivation behind ALTS. College campus placement drives manage thousands of student records, resulting in significant administrative drag. ALTS delivers immediate value by automating the resume intake, providing ATS gap diagnostics, and eliminating recruitment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formalize the four critical bottlenecks observed in existing placement ecosystems: manual resume handling, complete lack of student feedback, noisy communication channels, and the absence of live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goals are concrete and quantifiable. We set out to build a multi-format document parser, an algorithmic matching score calculator, ATS feedback diagnostics, end-to-end recruitment tracking, and instant email dispatch.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table highlights the research gap. Existing college ERPs provide no intelligent scoring, while enterprise tools like Workday or Greenhouse are prohibitively expensive and lack university-specific criteria like CGPA and branch filtering.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four-tier system architecture: Presentation Layer in React with Framer Motion; Secure API Gateway with JWT and RBAC; Processing Engine utilizing pdf-parse and Mammoth; and a resilient hybrid persistence tier supporting MongoDB and an in-memory mock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our core mathematical formulations. The ATS score combines baseline weight, industry keyword density, section existence indicators, and metric detection. The Job Match score computes Jaccard-like set intersection between student competencies and job requirements plus a CGPA threshold bonus.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exact implementation specifications. On the frontend, we use React 18 with Vite, Framer Motion, and Recharts. On the backend, Express with JWT and Nodemailer. File parsing is executed with pdf-parse and Mammoth, backed by a dual MongoDB/In-Memory persistence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Experimental results demonstrate that ALTS parses resumes in under 120 ms, slashes applicant shortlisting time from days to seconds, and maintains a 94.2% diagnostic accuracy for skill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ALTS achieves all project objectives: full placement automation, native zero-cost document parsing, actionable student diagnostics, and high-availability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future roadmap, we plan to extend ALTS with semantic LLM embeddings, asynchronous video interview evaluation, blockchain transcript verification, and cross-platform native mobile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valuable time and attention. We now invite any questions, suggestions, or comments from the respected evaluation committee.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731520" y="594360"/>
            <a:ext cx="10725912" cy="5669280"/>
          </a:xfrm>
          <a:prstGeom prst="roundRect">
            <a:avLst>
              <a:gd name="adj" fmla="val 1613"/>
            </a:avLst>
          </a:prstGeom>
          <a:solidFill>
            <a:srgbClr val="141C33"/>
          </a:solidFill>
          <a:ln w="19050">
            <a:solidFill>
              <a:srgbClr val="28375C"/>
            </a:solidFill>
            <a:prstDash val="solid"/>
          </a:ln>
        </p:spPr>
      </p:sp>
      <p:sp>
        <p:nvSpPr>
          <p:cNvPr id="3" name="Shape 1"/>
          <p:cNvSpPr/>
          <p:nvPr/>
        </p:nvSpPr>
        <p:spPr>
          <a:xfrm>
            <a:off x="1188720" y="960120"/>
            <a:ext cx="4389120" cy="320040"/>
          </a:xfrm>
          <a:prstGeom prst="roundRect">
            <a:avLst>
              <a:gd name="adj" fmla="val 42857"/>
            </a:avLst>
          </a:prstGeom>
          <a:solidFill>
            <a:srgbClr val="1B284D"/>
          </a:solidFill>
          <a:ln w="12700">
            <a:solidFill>
              <a:srgbClr val="38BDF8"/>
            </a:solidFill>
            <a:prstDash val="solid"/>
          </a:ln>
        </p:spPr>
      </p:sp>
      <p:sp>
        <p:nvSpPr>
          <p:cNvPr id="4" name="Text 2"/>
          <p:cNvSpPr/>
          <p:nvPr/>
        </p:nvSpPr>
        <p:spPr>
          <a:xfrm>
            <a:off x="1188720" y="960120"/>
            <a:ext cx="4389120" cy="320040"/>
          </a:xfrm>
          <a:prstGeom prst="rect">
            <a:avLst/>
          </a:prstGeom>
          <a:noFill/>
          <a:ln/>
        </p:spPr>
        <p:txBody>
          <a:bodyPr wrap="square" lIns="0" tIns="0" rIns="0" bIns="0" rtlCol="0" anchor="ctr"/>
          <a:lstStyle/>
          <a:p>
            <a:pPr algn="ctr" indent="0" marL="0">
              <a:buNone/>
            </a:pPr>
            <a:r>
              <a:rPr lang="en-US" sz="1000" b="1" spc="150" kern="0" dirty="0">
                <a:solidFill>
                  <a:srgbClr val="38BDF8"/>
                </a:solidFill>
                <a:latin typeface="Calibri" pitchFamily="34" charset="0"/>
                <a:ea typeface="Calibri" pitchFamily="34" charset="-122"/>
                <a:cs typeface="Calibri" pitchFamily="34" charset="-120"/>
              </a:rPr>
              <a:t>FINAL YEAR CAPSTONE PROJECT DEFENSE</a:t>
            </a:r>
            <a:endParaRPr lang="en-US" sz="1000" dirty="0"/>
          </a:p>
        </p:txBody>
      </p:sp>
      <p:sp>
        <p:nvSpPr>
          <p:cNvPr id="5" name="Text 3"/>
          <p:cNvSpPr/>
          <p:nvPr/>
        </p:nvSpPr>
        <p:spPr>
          <a:xfrm>
            <a:off x="1188720" y="1417320"/>
            <a:ext cx="978408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ALTS : AI-Powered Campus Placement Portal</a:t>
            </a:r>
            <a:endParaRPr lang="en-US" sz="3000" dirty="0"/>
          </a:p>
        </p:txBody>
      </p:sp>
      <p:sp>
        <p:nvSpPr>
          <p:cNvPr id="6" name="Text 4"/>
          <p:cNvSpPr/>
          <p:nvPr/>
        </p:nvSpPr>
        <p:spPr>
          <a:xfrm>
            <a:off x="1188720" y="2240280"/>
            <a:ext cx="9784080" cy="411480"/>
          </a:xfrm>
          <a:prstGeom prst="rect">
            <a:avLst/>
          </a:prstGeom>
          <a:noFill/>
          <a:ln/>
        </p:spPr>
        <p:txBody>
          <a:bodyPr wrap="square" lIns="0" tIns="0" rIns="0" bIns="0" rtlCol="0" anchor="ctr"/>
          <a:lstStyle/>
          <a:p>
            <a:pPr indent="0" marL="0">
              <a:buNone/>
            </a:pPr>
            <a:r>
              <a:rPr lang="en-US" sz="1400" dirty="0">
                <a:solidFill>
                  <a:srgbClr val="818CF8"/>
                </a:solidFill>
                <a:latin typeface="Calibri" pitchFamily="34" charset="0"/>
                <a:ea typeface="Calibri" pitchFamily="34" charset="-122"/>
                <a:cs typeface="Calibri" pitchFamily="34" charset="-120"/>
              </a:rPr>
              <a:t>Intelligent Resume Screening, Algorithmic Job-Matching &amp; Unified Recruitment Lifecycle Management</a:t>
            </a:r>
            <a:endParaRPr lang="en-US" sz="1400" dirty="0"/>
          </a:p>
        </p:txBody>
      </p:sp>
      <p:sp>
        <p:nvSpPr>
          <p:cNvPr id="7" name="Shape 5"/>
          <p:cNvSpPr/>
          <p:nvPr/>
        </p:nvSpPr>
        <p:spPr>
          <a:xfrm>
            <a:off x="1188720" y="2788920"/>
            <a:ext cx="9784080" cy="18288"/>
          </a:xfrm>
          <a:prstGeom prst="rect">
            <a:avLst/>
          </a:prstGeom>
          <a:solidFill>
            <a:srgbClr val="28375C"/>
          </a:solidFill>
          <a:ln w="12700">
            <a:solidFill>
              <a:srgbClr val="28375C"/>
            </a:solidFill>
            <a:prstDash val="solid"/>
          </a:ln>
        </p:spPr>
      </p:sp>
      <p:sp>
        <p:nvSpPr>
          <p:cNvPr id="8" name="Shape 6"/>
          <p:cNvSpPr/>
          <p:nvPr/>
        </p:nvSpPr>
        <p:spPr>
          <a:xfrm>
            <a:off x="1188720" y="3017520"/>
            <a:ext cx="4709160" cy="2834640"/>
          </a:xfrm>
          <a:prstGeom prst="roundRect">
            <a:avLst>
              <a:gd name="adj" fmla="val 2581"/>
            </a:avLst>
          </a:prstGeom>
          <a:solidFill>
            <a:srgbClr val="1B2544"/>
          </a:solidFill>
          <a:ln w="12700">
            <a:solidFill>
              <a:srgbClr val="28375C"/>
            </a:solidFill>
            <a:prstDash val="solid"/>
          </a:ln>
        </p:spPr>
      </p:sp>
      <p:sp>
        <p:nvSpPr>
          <p:cNvPr id="9" name="Text 7"/>
          <p:cNvSpPr/>
          <p:nvPr/>
        </p:nvSpPr>
        <p:spPr>
          <a:xfrm>
            <a:off x="1463040" y="3200400"/>
            <a:ext cx="4114800" cy="274320"/>
          </a:xfrm>
          <a:prstGeom prst="rect">
            <a:avLst/>
          </a:prstGeom>
          <a:noFill/>
          <a:ln/>
        </p:spPr>
        <p:txBody>
          <a:bodyPr wrap="square" lIns="0" tIns="0" rIns="0" bIns="0" rtlCol="0" anchor="ctr"/>
          <a:lstStyle/>
          <a:p>
            <a:pPr indent="0" marL="0">
              <a:buNone/>
            </a:pPr>
            <a:r>
              <a:rPr lang="en-US" sz="1100" b="1" spc="100" kern="0" dirty="0">
                <a:solidFill>
                  <a:srgbClr val="38BDF8"/>
                </a:solidFill>
                <a:latin typeface="Calibri" pitchFamily="34" charset="0"/>
                <a:ea typeface="Calibri" pitchFamily="34" charset="-122"/>
                <a:cs typeface="Calibri" pitchFamily="34" charset="-120"/>
              </a:rPr>
              <a:t>PROJECT TEAM MEMBERS</a:t>
            </a:r>
            <a:endParaRPr lang="en-US" sz="1100" dirty="0"/>
          </a:p>
        </p:txBody>
      </p:sp>
      <p:sp>
        <p:nvSpPr>
          <p:cNvPr id="10" name="Text 8"/>
          <p:cNvSpPr/>
          <p:nvPr/>
        </p:nvSpPr>
        <p:spPr>
          <a:xfrm>
            <a:off x="1463040" y="3520440"/>
            <a:ext cx="4114800" cy="21031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Chintu Goud
</a:t>
            </a:r>
            <a:pPr indent="0" marL="0">
              <a:buNone/>
            </a:pPr>
            <a:r>
              <a:rPr lang="en-US" sz="1050" dirty="0">
                <a:solidFill>
                  <a:srgbClr val="34D399"/>
                </a:solidFill>
                <a:latin typeface="Calibri" pitchFamily="34" charset="0"/>
                <a:ea typeface="Calibri" pitchFamily="34" charset="-122"/>
                <a:cs typeface="Calibri" pitchFamily="34" charset="-120"/>
              </a:rPr>
              <a:t>Role: Full-Stack Architect &amp; AI Engine Lead
</a:t>
            </a:r>
            <a:pPr indent="0" marL="0">
              <a:buNone/>
            </a:pPr>
            <a:r>
              <a:rPr lang="en-US" sz="950" dirty="0">
                <a:solidFill>
                  <a:srgbClr val="94A3B8"/>
                </a:solidFill>
                <a:latin typeface="Calibri" pitchFamily="34" charset="0"/>
                <a:ea typeface="Calibri" pitchFamily="34" charset="-122"/>
                <a:cs typeface="Calibri" pitchFamily="34" charset="-120"/>
              </a:rPr>
              <a:t>Email: chintu@email.com | GitHub: Chintugoud-create
</a:t>
            </a:r>
            <a:pPr indent="0" marL="0">
              <a:buNone/>
            </a:pPr>
            <a:r>
              <a:rPr lang="en-US" sz="1300" b="1" dirty="0">
                <a:solidFill>
                  <a:srgbClr val="FFFFFF"/>
                </a:solidFill>
                <a:latin typeface="Calibri" pitchFamily="34" charset="0"/>
                <a:ea typeface="Calibri" pitchFamily="34" charset="-122"/>
                <a:cs typeface="Calibri" pitchFamily="34" charset="-120"/>
              </a:rPr>
              <a:t>Project Team Partner(s)
</a:t>
            </a:r>
            <a:pPr indent="0" marL="0">
              <a:buNone/>
            </a:pPr>
            <a:r>
              <a:rPr lang="en-US" sz="1050" dirty="0">
                <a:solidFill>
                  <a:srgbClr val="34D399"/>
                </a:solidFill>
                <a:latin typeface="Calibri" pitchFamily="34" charset="0"/>
                <a:ea typeface="Calibri" pitchFamily="34" charset="-122"/>
                <a:cs typeface="Calibri" pitchFamily="34" charset="-120"/>
              </a:rPr>
              <a:t>Role: Frontend UI/UX &amp; Quality Assurance Engineer
</a:t>
            </a:r>
            <a:pPr indent="0" marL="0">
              <a:buNone/>
            </a:pPr>
            <a:r>
              <a:rPr lang="en-US" sz="950" dirty="0">
                <a:solidFill>
                  <a:srgbClr val="94A3B8"/>
                </a:solidFill>
                <a:latin typeface="Calibri" pitchFamily="34" charset="0"/>
                <a:ea typeface="Calibri" pitchFamily="34" charset="-122"/>
                <a:cs typeface="Calibri" pitchFamily="34" charset="-120"/>
              </a:rPr>
              <a:t>Department of Computer Science &amp; Engineering</a:t>
            </a:r>
            <a:endParaRPr lang="en-US" sz="1300" dirty="0"/>
          </a:p>
        </p:txBody>
      </p:sp>
      <p:sp>
        <p:nvSpPr>
          <p:cNvPr id="11" name="Shape 9"/>
          <p:cNvSpPr/>
          <p:nvPr/>
        </p:nvSpPr>
        <p:spPr>
          <a:xfrm>
            <a:off x="6263640" y="3017520"/>
            <a:ext cx="4709160" cy="2834640"/>
          </a:xfrm>
          <a:prstGeom prst="roundRect">
            <a:avLst>
              <a:gd name="adj" fmla="val 2581"/>
            </a:avLst>
          </a:prstGeom>
          <a:solidFill>
            <a:srgbClr val="1B2544"/>
          </a:solidFill>
          <a:ln w="12700">
            <a:solidFill>
              <a:srgbClr val="28375C"/>
            </a:solidFill>
            <a:prstDash val="solid"/>
          </a:ln>
        </p:spPr>
      </p:sp>
      <p:sp>
        <p:nvSpPr>
          <p:cNvPr id="12" name="Text 10"/>
          <p:cNvSpPr/>
          <p:nvPr/>
        </p:nvSpPr>
        <p:spPr>
          <a:xfrm>
            <a:off x="6537960" y="3200400"/>
            <a:ext cx="4114800" cy="274320"/>
          </a:xfrm>
          <a:prstGeom prst="rect">
            <a:avLst/>
          </a:prstGeom>
          <a:noFill/>
          <a:ln/>
        </p:spPr>
        <p:txBody>
          <a:bodyPr wrap="square" lIns="0" tIns="0" rIns="0" bIns="0" rtlCol="0" anchor="ctr"/>
          <a:lstStyle/>
          <a:p>
            <a:pPr indent="0" marL="0">
              <a:buNone/>
            </a:pPr>
            <a:r>
              <a:rPr lang="en-US" sz="1100" b="1" spc="100" kern="0" dirty="0">
                <a:solidFill>
                  <a:srgbClr val="38BDF8"/>
                </a:solidFill>
                <a:latin typeface="Calibri" pitchFamily="34" charset="0"/>
                <a:ea typeface="Calibri" pitchFamily="34" charset="-122"/>
                <a:cs typeface="Calibri" pitchFamily="34" charset="-120"/>
              </a:rPr>
              <a:t>SUPERVISOR &amp; INSTITUTION</a:t>
            </a:r>
            <a:endParaRPr lang="en-US" sz="1100" dirty="0"/>
          </a:p>
        </p:txBody>
      </p:sp>
      <p:sp>
        <p:nvSpPr>
          <p:cNvPr id="13" name="Text 11"/>
          <p:cNvSpPr/>
          <p:nvPr/>
        </p:nvSpPr>
        <p:spPr>
          <a:xfrm>
            <a:off x="6537960" y="3520440"/>
            <a:ext cx="4114800" cy="21031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Project Supervisor:
</a:t>
            </a:r>
            <a:pPr indent="0" marL="0">
              <a:buNone/>
            </a:pPr>
            <a:r>
              <a:rPr lang="en-US" sz="1250" b="1" dirty="0">
                <a:solidFill>
                  <a:srgbClr val="FFFFFF"/>
                </a:solidFill>
                <a:latin typeface="Calibri" pitchFamily="34" charset="0"/>
                <a:ea typeface="Calibri" pitchFamily="34" charset="-122"/>
                <a:cs typeface="Calibri" pitchFamily="34" charset="-120"/>
              </a:rPr>
              <a:t>Dr. / Prof. Faculty Advisor, Ph.D.
</a:t>
            </a:r>
            <a:pPr indent="0" marL="0">
              <a:buNone/>
            </a:pPr>
            <a:r>
              <a:rPr lang="en-US" sz="1000" dirty="0">
                <a:solidFill>
                  <a:srgbClr val="94A3B8"/>
                </a:solidFill>
                <a:latin typeface="Calibri" pitchFamily="34" charset="0"/>
                <a:ea typeface="Calibri" pitchFamily="34" charset="-122"/>
                <a:cs typeface="Calibri" pitchFamily="34" charset="-120"/>
              </a:rPr>
              <a:t>Department of Computer Science &amp; Engineering
</a:t>
            </a:r>
            <a:pPr indent="0" marL="0">
              <a:buNone/>
            </a:pPr>
            <a:r>
              <a:rPr lang="en-US" sz="1000" dirty="0">
                <a:solidFill>
                  <a:srgbClr val="94A3B8"/>
                </a:solidFill>
                <a:latin typeface="Calibri" pitchFamily="34" charset="0"/>
                <a:ea typeface="Calibri" pitchFamily="34" charset="-122"/>
                <a:cs typeface="Calibri" pitchFamily="34" charset="-120"/>
              </a:rPr>
              <a:t>Institution:
</a:t>
            </a:r>
            <a:pPr indent="0" marL="0">
              <a:buNone/>
            </a:pPr>
            <a:r>
              <a:rPr lang="en-US" sz="1250" b="1" dirty="0">
                <a:solidFill>
                  <a:srgbClr val="FFFFFF"/>
                </a:solidFill>
                <a:latin typeface="Calibri" pitchFamily="34" charset="0"/>
                <a:ea typeface="Calibri" pitchFamily="34" charset="-122"/>
                <a:cs typeface="Calibri" pitchFamily="34" charset="-120"/>
              </a:rPr>
              <a:t>College of Engineering &amp; Technology
</a:t>
            </a:r>
            <a:pPr indent="0" marL="0">
              <a:buNone/>
            </a:pPr>
            <a:r>
              <a:rPr lang="en-US" sz="1000" dirty="0">
                <a:solidFill>
                  <a:srgbClr val="94A3B8"/>
                </a:solidFill>
                <a:latin typeface="Calibri" pitchFamily="34" charset="0"/>
                <a:ea typeface="Calibri" pitchFamily="34" charset="-122"/>
                <a:cs typeface="Calibri" pitchFamily="34" charset="-120"/>
              </a:rPr>
              <a:t>Academic Session: </a:t>
            </a:r>
            <a:pPr indent="0" marL="0">
              <a:buNone/>
            </a:pPr>
            <a:r>
              <a:rPr lang="en-US" sz="1050" b="1" dirty="0">
                <a:solidFill>
                  <a:srgbClr val="FBBF24"/>
                </a:solidFill>
                <a:latin typeface="Calibri" pitchFamily="34" charset="0"/>
                <a:ea typeface="Calibri" pitchFamily="34" charset="-122"/>
                <a:cs typeface="Calibri" pitchFamily="34" charset="-120"/>
              </a:rPr>
              <a:t>2026 – 2027 (Final Semester)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731520" y="384048"/>
            <a:ext cx="7315200" cy="228600"/>
          </a:xfrm>
          <a:prstGeom prst="rect">
            <a:avLst/>
          </a:prstGeom>
          <a:noFill/>
          <a:ln/>
        </p:spPr>
        <p:txBody>
          <a:bodyPr wrap="square" lIns="0" tIns="0" rIns="0" bIns="0"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PRESENTATION FLOW</a:t>
            </a:r>
            <a:endParaRPr lang="en-US" sz="1000" dirty="0"/>
          </a:p>
        </p:txBody>
      </p:sp>
      <p:sp>
        <p:nvSpPr>
          <p:cNvPr id="3" name="Text 1"/>
          <p:cNvSpPr/>
          <p:nvPr/>
        </p:nvSpPr>
        <p:spPr>
          <a:xfrm>
            <a:off x="731520" y="621792"/>
            <a:ext cx="9601200" cy="43891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Table of Contents &amp; Presentation Agenda</a:t>
            </a:r>
            <a:endParaRPr lang="en-US" sz="2200" dirty="0"/>
          </a:p>
        </p:txBody>
      </p:sp>
      <p:sp>
        <p:nvSpPr>
          <p:cNvPr id="4" name="Shape 2"/>
          <p:cNvSpPr/>
          <p:nvPr/>
        </p:nvSpPr>
        <p:spPr>
          <a:xfrm>
            <a:off x="731520" y="1143000"/>
            <a:ext cx="10725912" cy="18288"/>
          </a:xfrm>
          <a:prstGeom prst="rect">
            <a:avLst/>
          </a:prstGeom>
          <a:solidFill>
            <a:srgbClr val="28375C"/>
          </a:solidFill>
          <a:ln w="12700">
            <a:solidFill>
              <a:srgbClr val="28375C"/>
            </a:solidFill>
            <a:prstDash val="solid"/>
          </a:ln>
        </p:spPr>
      </p:sp>
      <p:sp>
        <p:nvSpPr>
          <p:cNvPr id="5" name="Text 3"/>
          <p:cNvSpPr/>
          <p:nvPr/>
        </p:nvSpPr>
        <p:spPr>
          <a:xfrm>
            <a:off x="731520" y="6355080"/>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ALTS | AI-Powered Campus Placement &amp; Applicant Tracking Portal</a:t>
            </a:r>
            <a:endParaRPr lang="en-US" sz="950" dirty="0"/>
          </a:p>
        </p:txBody>
      </p:sp>
      <p:sp>
        <p:nvSpPr>
          <p:cNvPr id="6" name="Text 4"/>
          <p:cNvSpPr/>
          <p:nvPr/>
        </p:nvSpPr>
        <p:spPr>
          <a:xfrm>
            <a:off x="8714232" y="6355080"/>
            <a:ext cx="2743200" cy="22860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Slide 2 of 13</a:t>
            </a:r>
            <a:endParaRPr lang="en-US" sz="950" dirty="0"/>
          </a:p>
        </p:txBody>
      </p:sp>
      <p:sp>
        <p:nvSpPr>
          <p:cNvPr id="7" name="Shape 5"/>
          <p:cNvSpPr/>
          <p:nvPr/>
        </p:nvSpPr>
        <p:spPr>
          <a:xfrm>
            <a:off x="731520" y="1353312"/>
            <a:ext cx="5285232" cy="859536"/>
          </a:xfrm>
          <a:prstGeom prst="roundRect">
            <a:avLst>
              <a:gd name="adj" fmla="val 8511"/>
            </a:avLst>
          </a:prstGeom>
          <a:solidFill>
            <a:srgbClr val="141C33"/>
          </a:solidFill>
          <a:ln w="12700">
            <a:solidFill>
              <a:srgbClr val="28375C"/>
            </a:solidFill>
            <a:prstDash val="solid"/>
          </a:ln>
        </p:spPr>
      </p:sp>
      <p:sp>
        <p:nvSpPr>
          <p:cNvPr id="8" name="Shape 6"/>
          <p:cNvSpPr/>
          <p:nvPr/>
        </p:nvSpPr>
        <p:spPr>
          <a:xfrm>
            <a:off x="896112" y="1517904"/>
            <a:ext cx="594360" cy="530352"/>
          </a:xfrm>
          <a:prstGeom prst="roundRect">
            <a:avLst>
              <a:gd name="adj" fmla="val 10345"/>
            </a:avLst>
          </a:prstGeom>
          <a:solidFill>
            <a:srgbClr val="1C274A"/>
          </a:solidFill>
          <a:ln w="12700">
            <a:solidFill>
              <a:srgbClr val="38BDF8"/>
            </a:solidFill>
            <a:prstDash val="solid"/>
          </a:ln>
        </p:spPr>
      </p:sp>
      <p:sp>
        <p:nvSpPr>
          <p:cNvPr id="9" name="Text 7"/>
          <p:cNvSpPr/>
          <p:nvPr/>
        </p:nvSpPr>
        <p:spPr>
          <a:xfrm>
            <a:off x="896112" y="1517904"/>
            <a:ext cx="594360" cy="530352"/>
          </a:xfrm>
          <a:prstGeom prst="rect">
            <a:avLst/>
          </a:prstGeom>
          <a:noFill/>
          <a:ln/>
        </p:spPr>
        <p:txBody>
          <a:bodyPr wrap="square" lIns="0" tIns="0" rIns="0" bIns="0" rtlCol="0" anchor="ctr"/>
          <a:lstStyle/>
          <a:p>
            <a:pPr algn="ctr" indent="0" marL="0">
              <a:buNone/>
            </a:pPr>
            <a:r>
              <a:rPr lang="en-US" sz="1400" b="1" dirty="0">
                <a:solidFill>
                  <a:srgbClr val="38BDF8"/>
                </a:solidFill>
                <a:latin typeface="Calibri" pitchFamily="34" charset="0"/>
                <a:ea typeface="Calibri" pitchFamily="34" charset="-122"/>
                <a:cs typeface="Calibri" pitchFamily="34" charset="-120"/>
              </a:rPr>
              <a:t>01</a:t>
            </a:r>
            <a:endParaRPr lang="en-US" sz="1400" dirty="0"/>
          </a:p>
        </p:txBody>
      </p:sp>
      <p:sp>
        <p:nvSpPr>
          <p:cNvPr id="10" name="Text 8"/>
          <p:cNvSpPr/>
          <p:nvPr/>
        </p:nvSpPr>
        <p:spPr>
          <a:xfrm>
            <a:off x="1600200" y="1463040"/>
            <a:ext cx="4251960" cy="6583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Abstract &amp; Motivation
</a:t>
            </a:r>
            <a:pPr indent="0" marL="0">
              <a:buNone/>
            </a:pPr>
            <a:r>
              <a:rPr lang="en-US" sz="950" dirty="0">
                <a:solidFill>
                  <a:srgbClr val="94A3B8"/>
                </a:solidFill>
                <a:latin typeface="Calibri" pitchFamily="34" charset="0"/>
                <a:ea typeface="Calibri" pitchFamily="34" charset="-122"/>
                <a:cs typeface="Calibri" pitchFamily="34" charset="-120"/>
              </a:rPr>
              <a:t>Core inspiration, systemic overview &amp; high-level project scope</a:t>
            </a:r>
            <a:endParaRPr lang="en-US" sz="1200" dirty="0"/>
          </a:p>
        </p:txBody>
      </p:sp>
      <p:sp>
        <p:nvSpPr>
          <p:cNvPr id="11" name="Shape 9"/>
          <p:cNvSpPr/>
          <p:nvPr/>
        </p:nvSpPr>
        <p:spPr>
          <a:xfrm>
            <a:off x="731520" y="2304288"/>
            <a:ext cx="5285232" cy="859536"/>
          </a:xfrm>
          <a:prstGeom prst="roundRect">
            <a:avLst>
              <a:gd name="adj" fmla="val 8511"/>
            </a:avLst>
          </a:prstGeom>
          <a:solidFill>
            <a:srgbClr val="141C33"/>
          </a:solidFill>
          <a:ln w="12700">
            <a:solidFill>
              <a:srgbClr val="28375C"/>
            </a:solidFill>
            <a:prstDash val="solid"/>
          </a:ln>
        </p:spPr>
      </p:sp>
      <p:sp>
        <p:nvSpPr>
          <p:cNvPr id="12" name="Shape 10"/>
          <p:cNvSpPr/>
          <p:nvPr/>
        </p:nvSpPr>
        <p:spPr>
          <a:xfrm>
            <a:off x="896112" y="2468880"/>
            <a:ext cx="594360" cy="530352"/>
          </a:xfrm>
          <a:prstGeom prst="roundRect">
            <a:avLst>
              <a:gd name="adj" fmla="val 10345"/>
            </a:avLst>
          </a:prstGeom>
          <a:solidFill>
            <a:srgbClr val="1C274A"/>
          </a:solidFill>
          <a:ln w="12700">
            <a:solidFill>
              <a:srgbClr val="38BDF8"/>
            </a:solidFill>
            <a:prstDash val="solid"/>
          </a:ln>
        </p:spPr>
      </p:sp>
      <p:sp>
        <p:nvSpPr>
          <p:cNvPr id="13" name="Text 11"/>
          <p:cNvSpPr/>
          <p:nvPr/>
        </p:nvSpPr>
        <p:spPr>
          <a:xfrm>
            <a:off x="896112" y="2468880"/>
            <a:ext cx="594360" cy="530352"/>
          </a:xfrm>
          <a:prstGeom prst="rect">
            <a:avLst/>
          </a:prstGeom>
          <a:noFill/>
          <a:ln/>
        </p:spPr>
        <p:txBody>
          <a:bodyPr wrap="square" lIns="0" tIns="0" rIns="0" bIns="0" rtlCol="0" anchor="ctr"/>
          <a:lstStyle/>
          <a:p>
            <a:pPr algn="ctr" indent="0" marL="0">
              <a:buNone/>
            </a:pPr>
            <a:r>
              <a:rPr lang="en-US" sz="1400" b="1" dirty="0">
                <a:solidFill>
                  <a:srgbClr val="38BDF8"/>
                </a:solidFill>
                <a:latin typeface="Calibri" pitchFamily="34" charset="0"/>
                <a:ea typeface="Calibri" pitchFamily="34" charset="-122"/>
                <a:cs typeface="Calibri" pitchFamily="34" charset="-120"/>
              </a:rPr>
              <a:t>02</a:t>
            </a:r>
            <a:endParaRPr lang="en-US" sz="1400" dirty="0"/>
          </a:p>
        </p:txBody>
      </p:sp>
      <p:sp>
        <p:nvSpPr>
          <p:cNvPr id="14" name="Text 12"/>
          <p:cNvSpPr/>
          <p:nvPr/>
        </p:nvSpPr>
        <p:spPr>
          <a:xfrm>
            <a:off x="1600200" y="2414016"/>
            <a:ext cx="4251960" cy="6583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Problem Statement
</a:t>
            </a:r>
            <a:pPr indent="0" marL="0">
              <a:buNone/>
            </a:pPr>
            <a:r>
              <a:rPr lang="en-US" sz="950" dirty="0">
                <a:solidFill>
                  <a:srgbClr val="94A3B8"/>
                </a:solidFill>
                <a:latin typeface="Calibri" pitchFamily="34" charset="0"/>
                <a:ea typeface="Calibri" pitchFamily="34" charset="-122"/>
                <a:cs typeface="Calibri" pitchFamily="34" charset="-120"/>
              </a:rPr>
              <a:t>Existing operational bottlenecks &amp; screening latency in campus drives</a:t>
            </a:r>
            <a:endParaRPr lang="en-US" sz="1200" dirty="0"/>
          </a:p>
        </p:txBody>
      </p:sp>
      <p:sp>
        <p:nvSpPr>
          <p:cNvPr id="15" name="Shape 13"/>
          <p:cNvSpPr/>
          <p:nvPr/>
        </p:nvSpPr>
        <p:spPr>
          <a:xfrm>
            <a:off x="731520" y="3255264"/>
            <a:ext cx="5285232" cy="859536"/>
          </a:xfrm>
          <a:prstGeom prst="roundRect">
            <a:avLst>
              <a:gd name="adj" fmla="val 8511"/>
            </a:avLst>
          </a:prstGeom>
          <a:solidFill>
            <a:srgbClr val="141C33"/>
          </a:solidFill>
          <a:ln w="12700">
            <a:solidFill>
              <a:srgbClr val="28375C"/>
            </a:solidFill>
            <a:prstDash val="solid"/>
          </a:ln>
        </p:spPr>
      </p:sp>
      <p:sp>
        <p:nvSpPr>
          <p:cNvPr id="16" name="Shape 14"/>
          <p:cNvSpPr/>
          <p:nvPr/>
        </p:nvSpPr>
        <p:spPr>
          <a:xfrm>
            <a:off x="896112" y="3419856"/>
            <a:ext cx="594360" cy="530352"/>
          </a:xfrm>
          <a:prstGeom prst="roundRect">
            <a:avLst>
              <a:gd name="adj" fmla="val 10345"/>
            </a:avLst>
          </a:prstGeom>
          <a:solidFill>
            <a:srgbClr val="1C274A"/>
          </a:solidFill>
          <a:ln w="12700">
            <a:solidFill>
              <a:srgbClr val="38BDF8"/>
            </a:solidFill>
            <a:prstDash val="solid"/>
          </a:ln>
        </p:spPr>
      </p:sp>
      <p:sp>
        <p:nvSpPr>
          <p:cNvPr id="17" name="Text 15"/>
          <p:cNvSpPr/>
          <p:nvPr/>
        </p:nvSpPr>
        <p:spPr>
          <a:xfrm>
            <a:off x="896112" y="3419856"/>
            <a:ext cx="594360" cy="530352"/>
          </a:xfrm>
          <a:prstGeom prst="rect">
            <a:avLst/>
          </a:prstGeom>
          <a:noFill/>
          <a:ln/>
        </p:spPr>
        <p:txBody>
          <a:bodyPr wrap="square" lIns="0" tIns="0" rIns="0" bIns="0" rtlCol="0" anchor="ctr"/>
          <a:lstStyle/>
          <a:p>
            <a:pPr algn="ctr" indent="0" marL="0">
              <a:buNone/>
            </a:pPr>
            <a:r>
              <a:rPr lang="en-US" sz="1400" b="1" dirty="0">
                <a:solidFill>
                  <a:srgbClr val="38BDF8"/>
                </a:solidFill>
                <a:latin typeface="Calibri" pitchFamily="34" charset="0"/>
                <a:ea typeface="Calibri" pitchFamily="34" charset="-122"/>
                <a:cs typeface="Calibri" pitchFamily="34" charset="-120"/>
              </a:rPr>
              <a:t>03</a:t>
            </a:r>
            <a:endParaRPr lang="en-US" sz="1400" dirty="0"/>
          </a:p>
        </p:txBody>
      </p:sp>
      <p:sp>
        <p:nvSpPr>
          <p:cNvPr id="18" name="Text 16"/>
          <p:cNvSpPr/>
          <p:nvPr/>
        </p:nvSpPr>
        <p:spPr>
          <a:xfrm>
            <a:off x="1600200" y="3364992"/>
            <a:ext cx="4251960" cy="6583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Project Objectives
</a:t>
            </a:r>
            <a:pPr indent="0" marL="0">
              <a:buNone/>
            </a:pPr>
            <a:r>
              <a:rPr lang="en-US" sz="950" dirty="0">
                <a:solidFill>
                  <a:srgbClr val="94A3B8"/>
                </a:solidFill>
                <a:latin typeface="Calibri" pitchFamily="34" charset="0"/>
                <a:ea typeface="Calibri" pitchFamily="34" charset="-122"/>
                <a:cs typeface="Calibri" pitchFamily="34" charset="-120"/>
              </a:rPr>
              <a:t>Primary technical deliverables, functional requirements &amp; KPI targets</a:t>
            </a:r>
            <a:endParaRPr lang="en-US" sz="1200" dirty="0"/>
          </a:p>
        </p:txBody>
      </p:sp>
      <p:sp>
        <p:nvSpPr>
          <p:cNvPr id="19" name="Shape 17"/>
          <p:cNvSpPr/>
          <p:nvPr/>
        </p:nvSpPr>
        <p:spPr>
          <a:xfrm>
            <a:off x="731520" y="4206240"/>
            <a:ext cx="5285232" cy="859536"/>
          </a:xfrm>
          <a:prstGeom prst="roundRect">
            <a:avLst>
              <a:gd name="adj" fmla="val 8511"/>
            </a:avLst>
          </a:prstGeom>
          <a:solidFill>
            <a:srgbClr val="141C33"/>
          </a:solidFill>
          <a:ln w="12700">
            <a:solidFill>
              <a:srgbClr val="28375C"/>
            </a:solidFill>
            <a:prstDash val="solid"/>
          </a:ln>
        </p:spPr>
      </p:sp>
      <p:sp>
        <p:nvSpPr>
          <p:cNvPr id="20" name="Shape 18"/>
          <p:cNvSpPr/>
          <p:nvPr/>
        </p:nvSpPr>
        <p:spPr>
          <a:xfrm>
            <a:off x="896112" y="4370832"/>
            <a:ext cx="594360" cy="530352"/>
          </a:xfrm>
          <a:prstGeom prst="roundRect">
            <a:avLst>
              <a:gd name="adj" fmla="val 10345"/>
            </a:avLst>
          </a:prstGeom>
          <a:solidFill>
            <a:srgbClr val="1C274A"/>
          </a:solidFill>
          <a:ln w="12700">
            <a:solidFill>
              <a:srgbClr val="38BDF8"/>
            </a:solidFill>
            <a:prstDash val="solid"/>
          </a:ln>
        </p:spPr>
      </p:sp>
      <p:sp>
        <p:nvSpPr>
          <p:cNvPr id="21" name="Text 19"/>
          <p:cNvSpPr/>
          <p:nvPr/>
        </p:nvSpPr>
        <p:spPr>
          <a:xfrm>
            <a:off x="896112" y="4370832"/>
            <a:ext cx="594360" cy="530352"/>
          </a:xfrm>
          <a:prstGeom prst="rect">
            <a:avLst/>
          </a:prstGeom>
          <a:noFill/>
          <a:ln/>
        </p:spPr>
        <p:txBody>
          <a:bodyPr wrap="square" lIns="0" tIns="0" rIns="0" bIns="0" rtlCol="0" anchor="ctr"/>
          <a:lstStyle/>
          <a:p>
            <a:pPr algn="ctr" indent="0" marL="0">
              <a:buNone/>
            </a:pPr>
            <a:r>
              <a:rPr lang="en-US" sz="1400" b="1" dirty="0">
                <a:solidFill>
                  <a:srgbClr val="38BDF8"/>
                </a:solidFill>
                <a:latin typeface="Calibri" pitchFamily="34" charset="0"/>
                <a:ea typeface="Calibri" pitchFamily="34" charset="-122"/>
                <a:cs typeface="Calibri" pitchFamily="34" charset="-120"/>
              </a:rPr>
              <a:t>04</a:t>
            </a:r>
            <a:endParaRPr lang="en-US" sz="1400" dirty="0"/>
          </a:p>
        </p:txBody>
      </p:sp>
      <p:sp>
        <p:nvSpPr>
          <p:cNvPr id="22" name="Text 20"/>
          <p:cNvSpPr/>
          <p:nvPr/>
        </p:nvSpPr>
        <p:spPr>
          <a:xfrm>
            <a:off x="1600200" y="4315968"/>
            <a:ext cx="4251960" cy="6583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Literature Survey
</a:t>
            </a:r>
            <a:pPr indent="0" marL="0">
              <a:buNone/>
            </a:pPr>
            <a:r>
              <a:rPr lang="en-US" sz="950" dirty="0">
                <a:solidFill>
                  <a:srgbClr val="94A3B8"/>
                </a:solidFill>
                <a:latin typeface="Calibri" pitchFamily="34" charset="0"/>
                <a:ea typeface="Calibri" pitchFamily="34" charset="-122"/>
                <a:cs typeface="Calibri" pitchFamily="34" charset="-120"/>
              </a:rPr>
              <a:t>Benchmarking existing university ERPs vs enterprise ATS solutions</a:t>
            </a:r>
            <a:endParaRPr lang="en-US" sz="1200" dirty="0"/>
          </a:p>
        </p:txBody>
      </p:sp>
      <p:sp>
        <p:nvSpPr>
          <p:cNvPr id="23" name="Shape 21"/>
          <p:cNvSpPr/>
          <p:nvPr/>
        </p:nvSpPr>
        <p:spPr>
          <a:xfrm>
            <a:off x="731520" y="5157216"/>
            <a:ext cx="5285232" cy="859536"/>
          </a:xfrm>
          <a:prstGeom prst="roundRect">
            <a:avLst>
              <a:gd name="adj" fmla="val 8511"/>
            </a:avLst>
          </a:prstGeom>
          <a:solidFill>
            <a:srgbClr val="141C33"/>
          </a:solidFill>
          <a:ln w="12700">
            <a:solidFill>
              <a:srgbClr val="28375C"/>
            </a:solidFill>
            <a:prstDash val="solid"/>
          </a:ln>
        </p:spPr>
      </p:sp>
      <p:sp>
        <p:nvSpPr>
          <p:cNvPr id="24" name="Shape 22"/>
          <p:cNvSpPr/>
          <p:nvPr/>
        </p:nvSpPr>
        <p:spPr>
          <a:xfrm>
            <a:off x="896112" y="5321808"/>
            <a:ext cx="594360" cy="530352"/>
          </a:xfrm>
          <a:prstGeom prst="roundRect">
            <a:avLst>
              <a:gd name="adj" fmla="val 10345"/>
            </a:avLst>
          </a:prstGeom>
          <a:solidFill>
            <a:srgbClr val="1C274A"/>
          </a:solidFill>
          <a:ln w="12700">
            <a:solidFill>
              <a:srgbClr val="38BDF8"/>
            </a:solidFill>
            <a:prstDash val="solid"/>
          </a:ln>
        </p:spPr>
      </p:sp>
      <p:sp>
        <p:nvSpPr>
          <p:cNvPr id="25" name="Text 23"/>
          <p:cNvSpPr/>
          <p:nvPr/>
        </p:nvSpPr>
        <p:spPr>
          <a:xfrm>
            <a:off x="896112" y="5321808"/>
            <a:ext cx="594360" cy="530352"/>
          </a:xfrm>
          <a:prstGeom prst="rect">
            <a:avLst/>
          </a:prstGeom>
          <a:noFill/>
          <a:ln/>
        </p:spPr>
        <p:txBody>
          <a:bodyPr wrap="square" lIns="0" tIns="0" rIns="0" bIns="0" rtlCol="0" anchor="ctr"/>
          <a:lstStyle/>
          <a:p>
            <a:pPr algn="ctr" indent="0" marL="0">
              <a:buNone/>
            </a:pPr>
            <a:r>
              <a:rPr lang="en-US" sz="1400" b="1" dirty="0">
                <a:solidFill>
                  <a:srgbClr val="38BDF8"/>
                </a:solidFill>
                <a:latin typeface="Calibri" pitchFamily="34" charset="0"/>
                <a:ea typeface="Calibri" pitchFamily="34" charset="-122"/>
                <a:cs typeface="Calibri" pitchFamily="34" charset="-120"/>
              </a:rPr>
              <a:t>05</a:t>
            </a:r>
            <a:endParaRPr lang="en-US" sz="1400" dirty="0"/>
          </a:p>
        </p:txBody>
      </p:sp>
      <p:sp>
        <p:nvSpPr>
          <p:cNvPr id="26" name="Text 24"/>
          <p:cNvSpPr/>
          <p:nvPr/>
        </p:nvSpPr>
        <p:spPr>
          <a:xfrm>
            <a:off x="1600200" y="5266944"/>
            <a:ext cx="4251960" cy="6583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System Architecture
</a:t>
            </a:r>
            <a:pPr indent="0" marL="0">
              <a:buNone/>
            </a:pPr>
            <a:r>
              <a:rPr lang="en-US" sz="950" dirty="0">
                <a:solidFill>
                  <a:srgbClr val="94A3B8"/>
                </a:solidFill>
                <a:latin typeface="Calibri" pitchFamily="34" charset="0"/>
                <a:ea typeface="Calibri" pitchFamily="34" charset="-122"/>
                <a:cs typeface="Calibri" pitchFamily="34" charset="-120"/>
              </a:rPr>
              <a:t>Tiered client-server framework, REST API &amp; data flow interaction</a:t>
            </a:r>
            <a:endParaRPr lang="en-US" sz="1200" dirty="0"/>
          </a:p>
        </p:txBody>
      </p:sp>
      <p:sp>
        <p:nvSpPr>
          <p:cNvPr id="27" name="Shape 25"/>
          <p:cNvSpPr/>
          <p:nvPr/>
        </p:nvSpPr>
        <p:spPr>
          <a:xfrm>
            <a:off x="6172200" y="1353312"/>
            <a:ext cx="5285232" cy="859536"/>
          </a:xfrm>
          <a:prstGeom prst="roundRect">
            <a:avLst>
              <a:gd name="adj" fmla="val 8511"/>
            </a:avLst>
          </a:prstGeom>
          <a:solidFill>
            <a:srgbClr val="141C33"/>
          </a:solidFill>
          <a:ln w="12700">
            <a:solidFill>
              <a:srgbClr val="28375C"/>
            </a:solidFill>
            <a:prstDash val="solid"/>
          </a:ln>
        </p:spPr>
      </p:sp>
      <p:sp>
        <p:nvSpPr>
          <p:cNvPr id="28" name="Shape 26"/>
          <p:cNvSpPr/>
          <p:nvPr/>
        </p:nvSpPr>
        <p:spPr>
          <a:xfrm>
            <a:off x="6336792" y="1517904"/>
            <a:ext cx="594360" cy="530352"/>
          </a:xfrm>
          <a:prstGeom prst="roundRect">
            <a:avLst>
              <a:gd name="adj" fmla="val 10345"/>
            </a:avLst>
          </a:prstGeom>
          <a:solidFill>
            <a:srgbClr val="1C274A"/>
          </a:solidFill>
          <a:ln w="12700">
            <a:solidFill>
              <a:srgbClr val="38BDF8"/>
            </a:solidFill>
            <a:prstDash val="solid"/>
          </a:ln>
        </p:spPr>
      </p:sp>
      <p:sp>
        <p:nvSpPr>
          <p:cNvPr id="29" name="Text 27"/>
          <p:cNvSpPr/>
          <p:nvPr/>
        </p:nvSpPr>
        <p:spPr>
          <a:xfrm>
            <a:off x="6336792" y="1517904"/>
            <a:ext cx="594360" cy="530352"/>
          </a:xfrm>
          <a:prstGeom prst="rect">
            <a:avLst/>
          </a:prstGeom>
          <a:noFill/>
          <a:ln/>
        </p:spPr>
        <p:txBody>
          <a:bodyPr wrap="square" lIns="0" tIns="0" rIns="0" bIns="0" rtlCol="0" anchor="ctr"/>
          <a:lstStyle/>
          <a:p>
            <a:pPr algn="ctr" indent="0" marL="0">
              <a:buNone/>
            </a:pPr>
            <a:r>
              <a:rPr lang="en-US" sz="1400" b="1" dirty="0">
                <a:solidFill>
                  <a:srgbClr val="38BDF8"/>
                </a:solidFill>
                <a:latin typeface="Calibri" pitchFamily="34" charset="0"/>
                <a:ea typeface="Calibri" pitchFamily="34" charset="-122"/>
                <a:cs typeface="Calibri" pitchFamily="34" charset="-120"/>
              </a:rPr>
              <a:t>06</a:t>
            </a:r>
            <a:endParaRPr lang="en-US" sz="1400" dirty="0"/>
          </a:p>
        </p:txBody>
      </p:sp>
      <p:sp>
        <p:nvSpPr>
          <p:cNvPr id="30" name="Text 28"/>
          <p:cNvSpPr/>
          <p:nvPr/>
        </p:nvSpPr>
        <p:spPr>
          <a:xfrm>
            <a:off x="7040880" y="1463040"/>
            <a:ext cx="4251960" cy="6583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Methodology &amp; Algorithm
</a:t>
            </a:r>
            <a:pPr indent="0" marL="0">
              <a:buNone/>
            </a:pPr>
            <a:r>
              <a:rPr lang="en-US" sz="950" dirty="0">
                <a:solidFill>
                  <a:srgbClr val="94A3B8"/>
                </a:solidFill>
                <a:latin typeface="Calibri" pitchFamily="34" charset="0"/>
                <a:ea typeface="Calibri" pitchFamily="34" charset="-122"/>
                <a:cs typeface="Calibri" pitchFamily="34" charset="-120"/>
              </a:rPr>
              <a:t>Heuristic ATS scoring, regex tokenization &amp; mathematical equations</a:t>
            </a:r>
            <a:endParaRPr lang="en-US" sz="1200" dirty="0"/>
          </a:p>
        </p:txBody>
      </p:sp>
      <p:sp>
        <p:nvSpPr>
          <p:cNvPr id="31" name="Shape 29"/>
          <p:cNvSpPr/>
          <p:nvPr/>
        </p:nvSpPr>
        <p:spPr>
          <a:xfrm>
            <a:off x="6172200" y="2304288"/>
            <a:ext cx="5285232" cy="859536"/>
          </a:xfrm>
          <a:prstGeom prst="roundRect">
            <a:avLst>
              <a:gd name="adj" fmla="val 8511"/>
            </a:avLst>
          </a:prstGeom>
          <a:solidFill>
            <a:srgbClr val="141C33"/>
          </a:solidFill>
          <a:ln w="12700">
            <a:solidFill>
              <a:srgbClr val="28375C"/>
            </a:solidFill>
            <a:prstDash val="solid"/>
          </a:ln>
        </p:spPr>
      </p:sp>
      <p:sp>
        <p:nvSpPr>
          <p:cNvPr id="32" name="Shape 30"/>
          <p:cNvSpPr/>
          <p:nvPr/>
        </p:nvSpPr>
        <p:spPr>
          <a:xfrm>
            <a:off x="6336792" y="2468880"/>
            <a:ext cx="594360" cy="530352"/>
          </a:xfrm>
          <a:prstGeom prst="roundRect">
            <a:avLst>
              <a:gd name="adj" fmla="val 10345"/>
            </a:avLst>
          </a:prstGeom>
          <a:solidFill>
            <a:srgbClr val="1C274A"/>
          </a:solidFill>
          <a:ln w="12700">
            <a:solidFill>
              <a:srgbClr val="38BDF8"/>
            </a:solidFill>
            <a:prstDash val="solid"/>
          </a:ln>
        </p:spPr>
      </p:sp>
      <p:sp>
        <p:nvSpPr>
          <p:cNvPr id="33" name="Text 31"/>
          <p:cNvSpPr/>
          <p:nvPr/>
        </p:nvSpPr>
        <p:spPr>
          <a:xfrm>
            <a:off x="6336792" y="2468880"/>
            <a:ext cx="594360" cy="530352"/>
          </a:xfrm>
          <a:prstGeom prst="rect">
            <a:avLst/>
          </a:prstGeom>
          <a:noFill/>
          <a:ln/>
        </p:spPr>
        <p:txBody>
          <a:bodyPr wrap="square" lIns="0" tIns="0" rIns="0" bIns="0" rtlCol="0" anchor="ctr"/>
          <a:lstStyle/>
          <a:p>
            <a:pPr algn="ctr" indent="0" marL="0">
              <a:buNone/>
            </a:pPr>
            <a:r>
              <a:rPr lang="en-US" sz="1400" b="1" dirty="0">
                <a:solidFill>
                  <a:srgbClr val="38BDF8"/>
                </a:solidFill>
                <a:latin typeface="Calibri" pitchFamily="34" charset="0"/>
                <a:ea typeface="Calibri" pitchFamily="34" charset="-122"/>
                <a:cs typeface="Calibri" pitchFamily="34" charset="-120"/>
              </a:rPr>
              <a:t>07</a:t>
            </a:r>
            <a:endParaRPr lang="en-US" sz="1400" dirty="0"/>
          </a:p>
        </p:txBody>
      </p:sp>
      <p:sp>
        <p:nvSpPr>
          <p:cNvPr id="34" name="Text 32"/>
          <p:cNvSpPr/>
          <p:nvPr/>
        </p:nvSpPr>
        <p:spPr>
          <a:xfrm>
            <a:off x="7040880" y="2414016"/>
            <a:ext cx="4251960" cy="6583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Implementation Details
</a:t>
            </a:r>
            <a:pPr indent="0" marL="0">
              <a:buNone/>
            </a:pPr>
            <a:r>
              <a:rPr lang="en-US" sz="950" dirty="0">
                <a:solidFill>
                  <a:srgbClr val="94A3B8"/>
                </a:solidFill>
                <a:latin typeface="Calibri" pitchFamily="34" charset="0"/>
                <a:ea typeface="Calibri" pitchFamily="34" charset="-122"/>
                <a:cs typeface="Calibri" pitchFamily="34" charset="-120"/>
              </a:rPr>
              <a:t>Full-stack MERN ecosystem, parsing libraries &amp; deployment setup</a:t>
            </a:r>
            <a:endParaRPr lang="en-US" sz="1200" dirty="0"/>
          </a:p>
        </p:txBody>
      </p:sp>
      <p:sp>
        <p:nvSpPr>
          <p:cNvPr id="35" name="Shape 33"/>
          <p:cNvSpPr/>
          <p:nvPr/>
        </p:nvSpPr>
        <p:spPr>
          <a:xfrm>
            <a:off x="6172200" y="3255264"/>
            <a:ext cx="5285232" cy="859536"/>
          </a:xfrm>
          <a:prstGeom prst="roundRect">
            <a:avLst>
              <a:gd name="adj" fmla="val 8511"/>
            </a:avLst>
          </a:prstGeom>
          <a:solidFill>
            <a:srgbClr val="141C33"/>
          </a:solidFill>
          <a:ln w="12700">
            <a:solidFill>
              <a:srgbClr val="28375C"/>
            </a:solidFill>
            <a:prstDash val="solid"/>
          </a:ln>
        </p:spPr>
      </p:sp>
      <p:sp>
        <p:nvSpPr>
          <p:cNvPr id="36" name="Shape 34"/>
          <p:cNvSpPr/>
          <p:nvPr/>
        </p:nvSpPr>
        <p:spPr>
          <a:xfrm>
            <a:off x="6336792" y="3419856"/>
            <a:ext cx="594360" cy="530352"/>
          </a:xfrm>
          <a:prstGeom prst="roundRect">
            <a:avLst>
              <a:gd name="adj" fmla="val 10345"/>
            </a:avLst>
          </a:prstGeom>
          <a:solidFill>
            <a:srgbClr val="1C274A"/>
          </a:solidFill>
          <a:ln w="12700">
            <a:solidFill>
              <a:srgbClr val="38BDF8"/>
            </a:solidFill>
            <a:prstDash val="solid"/>
          </a:ln>
        </p:spPr>
      </p:sp>
      <p:sp>
        <p:nvSpPr>
          <p:cNvPr id="37" name="Text 35"/>
          <p:cNvSpPr/>
          <p:nvPr/>
        </p:nvSpPr>
        <p:spPr>
          <a:xfrm>
            <a:off x="6336792" y="3419856"/>
            <a:ext cx="594360" cy="530352"/>
          </a:xfrm>
          <a:prstGeom prst="rect">
            <a:avLst/>
          </a:prstGeom>
          <a:noFill/>
          <a:ln/>
        </p:spPr>
        <p:txBody>
          <a:bodyPr wrap="square" lIns="0" tIns="0" rIns="0" bIns="0" rtlCol="0" anchor="ctr"/>
          <a:lstStyle/>
          <a:p>
            <a:pPr algn="ctr" indent="0" marL="0">
              <a:buNone/>
            </a:pPr>
            <a:r>
              <a:rPr lang="en-US" sz="1400" b="1" dirty="0">
                <a:solidFill>
                  <a:srgbClr val="38BDF8"/>
                </a:solidFill>
                <a:latin typeface="Calibri" pitchFamily="34" charset="0"/>
                <a:ea typeface="Calibri" pitchFamily="34" charset="-122"/>
                <a:cs typeface="Calibri" pitchFamily="34" charset="-120"/>
              </a:rPr>
              <a:t>08</a:t>
            </a:r>
            <a:endParaRPr lang="en-US" sz="1400" dirty="0"/>
          </a:p>
        </p:txBody>
      </p:sp>
      <p:sp>
        <p:nvSpPr>
          <p:cNvPr id="38" name="Text 36"/>
          <p:cNvSpPr/>
          <p:nvPr/>
        </p:nvSpPr>
        <p:spPr>
          <a:xfrm>
            <a:off x="7040880" y="3364992"/>
            <a:ext cx="4251960" cy="6583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Results &amp; Experimental Analysis
</a:t>
            </a:r>
            <a:pPr indent="0" marL="0">
              <a:buNone/>
            </a:pPr>
            <a:r>
              <a:rPr lang="en-US" sz="950" dirty="0">
                <a:solidFill>
                  <a:srgbClr val="94A3B8"/>
                </a:solidFill>
                <a:latin typeface="Calibri" pitchFamily="34" charset="0"/>
                <a:ea typeface="Calibri" pitchFamily="34" charset="-122"/>
                <a:cs typeface="Calibri" pitchFamily="34" charset="-120"/>
              </a:rPr>
              <a:t>Extraction latency benchmarks, match precision &amp; live UI output</a:t>
            </a:r>
            <a:endParaRPr lang="en-US" sz="1200" dirty="0"/>
          </a:p>
        </p:txBody>
      </p:sp>
      <p:sp>
        <p:nvSpPr>
          <p:cNvPr id="39" name="Shape 37"/>
          <p:cNvSpPr/>
          <p:nvPr/>
        </p:nvSpPr>
        <p:spPr>
          <a:xfrm>
            <a:off x="6172200" y="4206240"/>
            <a:ext cx="5285232" cy="859536"/>
          </a:xfrm>
          <a:prstGeom prst="roundRect">
            <a:avLst>
              <a:gd name="adj" fmla="val 8511"/>
            </a:avLst>
          </a:prstGeom>
          <a:solidFill>
            <a:srgbClr val="141C33"/>
          </a:solidFill>
          <a:ln w="12700">
            <a:solidFill>
              <a:srgbClr val="28375C"/>
            </a:solidFill>
            <a:prstDash val="solid"/>
          </a:ln>
        </p:spPr>
      </p:sp>
      <p:sp>
        <p:nvSpPr>
          <p:cNvPr id="40" name="Shape 38"/>
          <p:cNvSpPr/>
          <p:nvPr/>
        </p:nvSpPr>
        <p:spPr>
          <a:xfrm>
            <a:off x="6336792" y="4370832"/>
            <a:ext cx="594360" cy="530352"/>
          </a:xfrm>
          <a:prstGeom prst="roundRect">
            <a:avLst>
              <a:gd name="adj" fmla="val 10345"/>
            </a:avLst>
          </a:prstGeom>
          <a:solidFill>
            <a:srgbClr val="1C274A"/>
          </a:solidFill>
          <a:ln w="12700">
            <a:solidFill>
              <a:srgbClr val="38BDF8"/>
            </a:solidFill>
            <a:prstDash val="solid"/>
          </a:ln>
        </p:spPr>
      </p:sp>
      <p:sp>
        <p:nvSpPr>
          <p:cNvPr id="41" name="Text 39"/>
          <p:cNvSpPr/>
          <p:nvPr/>
        </p:nvSpPr>
        <p:spPr>
          <a:xfrm>
            <a:off x="6336792" y="4370832"/>
            <a:ext cx="594360" cy="530352"/>
          </a:xfrm>
          <a:prstGeom prst="rect">
            <a:avLst/>
          </a:prstGeom>
          <a:noFill/>
          <a:ln/>
        </p:spPr>
        <p:txBody>
          <a:bodyPr wrap="square" lIns="0" tIns="0" rIns="0" bIns="0" rtlCol="0" anchor="ctr"/>
          <a:lstStyle/>
          <a:p>
            <a:pPr algn="ctr" indent="0" marL="0">
              <a:buNone/>
            </a:pPr>
            <a:r>
              <a:rPr lang="en-US" sz="1400" b="1" dirty="0">
                <a:solidFill>
                  <a:srgbClr val="38BDF8"/>
                </a:solidFill>
                <a:latin typeface="Calibri" pitchFamily="34" charset="0"/>
                <a:ea typeface="Calibri" pitchFamily="34" charset="-122"/>
                <a:cs typeface="Calibri" pitchFamily="34" charset="-120"/>
              </a:rPr>
              <a:t>09</a:t>
            </a:r>
            <a:endParaRPr lang="en-US" sz="1400" dirty="0"/>
          </a:p>
        </p:txBody>
      </p:sp>
      <p:sp>
        <p:nvSpPr>
          <p:cNvPr id="42" name="Text 40"/>
          <p:cNvSpPr/>
          <p:nvPr/>
        </p:nvSpPr>
        <p:spPr>
          <a:xfrm>
            <a:off x="7040880" y="4315968"/>
            <a:ext cx="4251960" cy="6583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Conclusion &amp; Contributions
</a:t>
            </a:r>
            <a:pPr indent="0" marL="0">
              <a:buNone/>
            </a:pPr>
            <a:r>
              <a:rPr lang="en-US" sz="950" dirty="0">
                <a:solidFill>
                  <a:srgbClr val="94A3B8"/>
                </a:solidFill>
                <a:latin typeface="Calibri" pitchFamily="34" charset="0"/>
                <a:ea typeface="Calibri" pitchFamily="34" charset="-122"/>
                <a:cs typeface="Calibri" pitchFamily="34" charset="-120"/>
              </a:rPr>
              <a:t>Summary of milestones achieved &amp; project takeaways</a:t>
            </a:r>
            <a:endParaRPr lang="en-US" sz="1200" dirty="0"/>
          </a:p>
        </p:txBody>
      </p:sp>
      <p:sp>
        <p:nvSpPr>
          <p:cNvPr id="43" name="Shape 41"/>
          <p:cNvSpPr/>
          <p:nvPr/>
        </p:nvSpPr>
        <p:spPr>
          <a:xfrm>
            <a:off x="6172200" y="5157216"/>
            <a:ext cx="5285232" cy="859536"/>
          </a:xfrm>
          <a:prstGeom prst="roundRect">
            <a:avLst>
              <a:gd name="adj" fmla="val 8511"/>
            </a:avLst>
          </a:prstGeom>
          <a:solidFill>
            <a:srgbClr val="141C33"/>
          </a:solidFill>
          <a:ln w="12700">
            <a:solidFill>
              <a:srgbClr val="28375C"/>
            </a:solidFill>
            <a:prstDash val="solid"/>
          </a:ln>
        </p:spPr>
      </p:sp>
      <p:sp>
        <p:nvSpPr>
          <p:cNvPr id="44" name="Shape 42"/>
          <p:cNvSpPr/>
          <p:nvPr/>
        </p:nvSpPr>
        <p:spPr>
          <a:xfrm>
            <a:off x="6336792" y="5321808"/>
            <a:ext cx="594360" cy="530352"/>
          </a:xfrm>
          <a:prstGeom prst="roundRect">
            <a:avLst>
              <a:gd name="adj" fmla="val 10345"/>
            </a:avLst>
          </a:prstGeom>
          <a:solidFill>
            <a:srgbClr val="1C274A"/>
          </a:solidFill>
          <a:ln w="12700">
            <a:solidFill>
              <a:srgbClr val="38BDF8"/>
            </a:solidFill>
            <a:prstDash val="solid"/>
          </a:ln>
        </p:spPr>
      </p:sp>
      <p:sp>
        <p:nvSpPr>
          <p:cNvPr id="45" name="Text 43"/>
          <p:cNvSpPr/>
          <p:nvPr/>
        </p:nvSpPr>
        <p:spPr>
          <a:xfrm>
            <a:off x="6336792" y="5321808"/>
            <a:ext cx="594360" cy="530352"/>
          </a:xfrm>
          <a:prstGeom prst="rect">
            <a:avLst/>
          </a:prstGeom>
          <a:noFill/>
          <a:ln/>
        </p:spPr>
        <p:txBody>
          <a:bodyPr wrap="square" lIns="0" tIns="0" rIns="0" bIns="0" rtlCol="0" anchor="ctr"/>
          <a:lstStyle/>
          <a:p>
            <a:pPr algn="ctr" indent="0" marL="0">
              <a:buNone/>
            </a:pPr>
            <a:r>
              <a:rPr lang="en-US" sz="1400" b="1" dirty="0">
                <a:solidFill>
                  <a:srgbClr val="38BDF8"/>
                </a:solidFill>
                <a:latin typeface="Calibri" pitchFamily="34" charset="0"/>
                <a:ea typeface="Calibri" pitchFamily="34" charset="-122"/>
                <a:cs typeface="Calibri" pitchFamily="34" charset="-120"/>
              </a:rPr>
              <a:t>10</a:t>
            </a:r>
            <a:endParaRPr lang="en-US" sz="1400" dirty="0"/>
          </a:p>
        </p:txBody>
      </p:sp>
      <p:sp>
        <p:nvSpPr>
          <p:cNvPr id="46" name="Text 44"/>
          <p:cNvSpPr/>
          <p:nvPr/>
        </p:nvSpPr>
        <p:spPr>
          <a:xfrm>
            <a:off x="7040880" y="5266944"/>
            <a:ext cx="4251960" cy="6583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Future Scope &amp; References
</a:t>
            </a:r>
            <a:pPr indent="0" marL="0">
              <a:buNone/>
            </a:pPr>
            <a:r>
              <a:rPr lang="en-US" sz="950" dirty="0">
                <a:solidFill>
                  <a:srgbClr val="94A3B8"/>
                </a:solidFill>
                <a:latin typeface="Calibri" pitchFamily="34" charset="0"/>
                <a:ea typeface="Calibri" pitchFamily="34" charset="-122"/>
                <a:cs typeface="Calibri" pitchFamily="34" charset="-120"/>
              </a:rPr>
              <a:t>Four-phase scalability roadmap &amp; academic citations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731520" y="384048"/>
            <a:ext cx="7315200" cy="228600"/>
          </a:xfrm>
          <a:prstGeom prst="rect">
            <a:avLst/>
          </a:prstGeom>
          <a:noFill/>
          <a:ln/>
        </p:spPr>
        <p:txBody>
          <a:bodyPr wrap="square" lIns="0" tIns="0" rIns="0" bIns="0"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CONTEXT &amp; VISION</a:t>
            </a:r>
            <a:endParaRPr lang="en-US" sz="1000" dirty="0"/>
          </a:p>
        </p:txBody>
      </p:sp>
      <p:sp>
        <p:nvSpPr>
          <p:cNvPr id="3" name="Text 1"/>
          <p:cNvSpPr/>
          <p:nvPr/>
        </p:nvSpPr>
        <p:spPr>
          <a:xfrm>
            <a:off x="731520" y="621792"/>
            <a:ext cx="9601200" cy="43891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Abstract &amp; Core Motivation</a:t>
            </a:r>
            <a:endParaRPr lang="en-US" sz="2200" dirty="0"/>
          </a:p>
        </p:txBody>
      </p:sp>
      <p:sp>
        <p:nvSpPr>
          <p:cNvPr id="4" name="Shape 2"/>
          <p:cNvSpPr/>
          <p:nvPr/>
        </p:nvSpPr>
        <p:spPr>
          <a:xfrm>
            <a:off x="731520" y="1143000"/>
            <a:ext cx="10725912" cy="18288"/>
          </a:xfrm>
          <a:prstGeom prst="rect">
            <a:avLst/>
          </a:prstGeom>
          <a:solidFill>
            <a:srgbClr val="28375C"/>
          </a:solidFill>
          <a:ln w="12700">
            <a:solidFill>
              <a:srgbClr val="28375C"/>
            </a:solidFill>
            <a:prstDash val="solid"/>
          </a:ln>
        </p:spPr>
      </p:sp>
      <p:sp>
        <p:nvSpPr>
          <p:cNvPr id="5" name="Text 3"/>
          <p:cNvSpPr/>
          <p:nvPr/>
        </p:nvSpPr>
        <p:spPr>
          <a:xfrm>
            <a:off x="731520" y="6355080"/>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ALTS | AI-Powered Campus Placement &amp; Applicant Tracking Portal</a:t>
            </a:r>
            <a:endParaRPr lang="en-US" sz="950" dirty="0"/>
          </a:p>
        </p:txBody>
      </p:sp>
      <p:sp>
        <p:nvSpPr>
          <p:cNvPr id="6" name="Text 4"/>
          <p:cNvSpPr/>
          <p:nvPr/>
        </p:nvSpPr>
        <p:spPr>
          <a:xfrm>
            <a:off x="8714232" y="6355080"/>
            <a:ext cx="2743200" cy="22860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Slide 3 of 13</a:t>
            </a:r>
            <a:endParaRPr lang="en-US" sz="950" dirty="0"/>
          </a:p>
        </p:txBody>
      </p:sp>
      <p:sp>
        <p:nvSpPr>
          <p:cNvPr id="7" name="Shape 5"/>
          <p:cNvSpPr/>
          <p:nvPr/>
        </p:nvSpPr>
        <p:spPr>
          <a:xfrm>
            <a:off x="731520" y="1353312"/>
            <a:ext cx="5257800" cy="4709160"/>
          </a:xfrm>
          <a:prstGeom prst="roundRect">
            <a:avLst>
              <a:gd name="adj" fmla="val 1553"/>
            </a:avLst>
          </a:prstGeom>
          <a:solidFill>
            <a:srgbClr val="141C33"/>
          </a:solidFill>
          <a:ln w="12700">
            <a:solidFill>
              <a:srgbClr val="28375C"/>
            </a:solidFill>
            <a:prstDash val="solid"/>
          </a:ln>
        </p:spPr>
      </p:sp>
      <p:sp>
        <p:nvSpPr>
          <p:cNvPr id="8" name="Text 6"/>
          <p:cNvSpPr/>
          <p:nvPr/>
        </p:nvSpPr>
        <p:spPr>
          <a:xfrm>
            <a:off x="1005840" y="1600200"/>
            <a:ext cx="4709160" cy="274320"/>
          </a:xfrm>
          <a:prstGeom prst="rect">
            <a:avLst/>
          </a:prstGeom>
          <a:noFill/>
          <a:ln/>
        </p:spPr>
        <p:txBody>
          <a:bodyPr wrap="square" lIns="0" tIns="0" rIns="0" bIns="0" rtlCol="0" anchor="ctr"/>
          <a:lstStyle/>
          <a:p>
            <a:pPr indent="0" marL="0">
              <a:buNone/>
            </a:pPr>
            <a:r>
              <a:rPr lang="en-US" sz="1100" b="1" spc="150" kern="0" dirty="0">
                <a:solidFill>
                  <a:srgbClr val="38BDF8"/>
                </a:solidFill>
                <a:latin typeface="Calibri" pitchFamily="34" charset="0"/>
                <a:ea typeface="Calibri" pitchFamily="34" charset="-122"/>
                <a:cs typeface="Calibri" pitchFamily="34" charset="-120"/>
              </a:rPr>
              <a:t>EXECUTIVE ABSTRACT</a:t>
            </a:r>
            <a:endParaRPr lang="en-US" sz="1100" dirty="0"/>
          </a:p>
        </p:txBody>
      </p:sp>
      <p:sp>
        <p:nvSpPr>
          <p:cNvPr id="9" name="Text 7"/>
          <p:cNvSpPr/>
          <p:nvPr/>
        </p:nvSpPr>
        <p:spPr>
          <a:xfrm>
            <a:off x="1005840" y="1920240"/>
            <a:ext cx="4709160" cy="3931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ALTS is a specialized recruitment automation platform </a:t>
            </a:r>
            <a:pPr indent="0" marL="0">
              <a:buNone/>
            </a:pPr>
            <a:r>
              <a:rPr lang="en-US" sz="1100" dirty="0">
                <a:solidFill>
                  <a:srgbClr val="94A3B8"/>
                </a:solidFill>
                <a:latin typeface="Calibri" pitchFamily="34" charset="0"/>
                <a:ea typeface="Calibri" pitchFamily="34" charset="-122"/>
                <a:cs typeface="Calibri" pitchFamily="34" charset="-120"/>
              </a:rPr>
              <a:t>engineered to streamline the chaotic recruitment lifecycle across graduating students, university placement cells, and corporate HR recruiters.
</a:t>
            </a:r>
            <a:pPr indent="0" marL="0">
              <a:buNone/>
            </a:pPr>
            <a:r>
              <a:rPr lang="en-US" sz="1150" b="1" dirty="0">
                <a:solidFill>
                  <a:srgbClr val="818CF8"/>
                </a:solidFill>
                <a:latin typeface="Calibri" pitchFamily="34" charset="0"/>
                <a:ea typeface="Calibri" pitchFamily="34" charset="-122"/>
                <a:cs typeface="Calibri" pitchFamily="34" charset="-120"/>
              </a:rPr>
              <a:t>Core Innovations Introduced:
</a:t>
            </a:r>
            <a:pPr indent="0" marL="0">
              <a:buNone/>
            </a:pPr>
            <a:r>
              <a:rPr lang="en-US" sz="1050" dirty="0">
                <a:solidFill>
                  <a:srgbClr val="FFFFFF"/>
                </a:solidFill>
                <a:latin typeface="Calibri" pitchFamily="34" charset="0"/>
                <a:ea typeface="Calibri" pitchFamily="34" charset="-122"/>
                <a:cs typeface="Calibri" pitchFamily="34" charset="-120"/>
              </a:rPr>
              <a:t>• Native Document Ingestion: Multi-format text extraction (PDF &amp; Word DOCX) rendered inline without external paid APIs.
</a:t>
            </a:r>
            <a:pPr indent="0" marL="0">
              <a:buNone/>
            </a:pPr>
            <a:r>
              <a:rPr lang="en-US" sz="1050" dirty="0">
                <a:solidFill>
                  <a:srgbClr val="FFFFFF"/>
                </a:solidFill>
                <a:latin typeface="Calibri" pitchFamily="34" charset="0"/>
                <a:ea typeface="Calibri" pitchFamily="34" charset="-122"/>
                <a:cs typeface="Calibri" pitchFamily="34" charset="-120"/>
              </a:rPr>
              <a:t>• Heuristic ATS &amp; Keyword Gap Engine: Evaluates candidate alignment against job descriptions and provides targeted improvement recommendations.
</a:t>
            </a:r>
            <a:pPr indent="0" marL="0">
              <a:buNone/>
            </a:pPr>
            <a:r>
              <a:rPr lang="en-US" sz="1050" dirty="0">
                <a:solidFill>
                  <a:srgbClr val="FFFFFF"/>
                </a:solidFill>
                <a:latin typeface="Calibri" pitchFamily="34" charset="0"/>
                <a:ea typeface="Calibri" pitchFamily="34" charset="-122"/>
                <a:cs typeface="Calibri" pitchFamily="34" charset="-120"/>
              </a:rPr>
              <a:t>• Tri-Role Architecture: Dedicated, secure dashboards with role-based access for Students, Recruiters, and Placement Administrators.
</a:t>
            </a:r>
            <a:pPr indent="0" marL="0">
              <a:buNone/>
            </a:pPr>
            <a:r>
              <a:rPr lang="en-US" sz="1050" dirty="0">
                <a:solidFill>
                  <a:srgbClr val="FFFFFF"/>
                </a:solidFill>
                <a:latin typeface="Calibri" pitchFamily="34" charset="0"/>
                <a:ea typeface="Calibri" pitchFamily="34" charset="-122"/>
                <a:cs typeface="Calibri" pitchFamily="34" charset="-120"/>
              </a:rPr>
              <a:t>• Resilient Dual-Mode Data Engine: Seamlessly toggles between cloud MongoDB and an active in-memory Mock Layer for guaranteed evaluation uptime.</a:t>
            </a:r>
            <a:endParaRPr lang="en-US" sz="1250" dirty="0"/>
          </a:p>
        </p:txBody>
      </p:sp>
      <p:sp>
        <p:nvSpPr>
          <p:cNvPr id="10" name="Shape 8"/>
          <p:cNvSpPr/>
          <p:nvPr/>
        </p:nvSpPr>
        <p:spPr>
          <a:xfrm>
            <a:off x="6199632" y="1353312"/>
            <a:ext cx="5257800" cy="1490472"/>
          </a:xfrm>
          <a:prstGeom prst="roundRect">
            <a:avLst>
              <a:gd name="adj" fmla="val 4908"/>
            </a:avLst>
          </a:prstGeom>
          <a:solidFill>
            <a:srgbClr val="141C33"/>
          </a:solidFill>
          <a:ln w="12700">
            <a:solidFill>
              <a:srgbClr val="28375C"/>
            </a:solidFill>
            <a:prstDash val="solid"/>
          </a:ln>
        </p:spPr>
      </p:sp>
      <p:sp>
        <p:nvSpPr>
          <p:cNvPr id="11" name="Text 9"/>
          <p:cNvSpPr/>
          <p:nvPr/>
        </p:nvSpPr>
        <p:spPr>
          <a:xfrm>
            <a:off x="6446520" y="1499616"/>
            <a:ext cx="4754880" cy="201168"/>
          </a:xfrm>
          <a:prstGeom prst="rect">
            <a:avLst/>
          </a:prstGeom>
          <a:noFill/>
          <a:ln/>
        </p:spPr>
        <p:txBody>
          <a:bodyPr wrap="square" lIns="0" tIns="0" rIns="0" bIns="0" rtlCol="0" anchor="ctr"/>
          <a:lstStyle/>
          <a:p>
            <a:pPr indent="0" marL="0">
              <a:buNone/>
            </a:pPr>
            <a:r>
              <a:rPr lang="en-US" sz="950" b="1" spc="100" kern="0" dirty="0">
                <a:solidFill>
                  <a:srgbClr val="38BDF8"/>
                </a:solidFill>
                <a:latin typeface="Calibri" pitchFamily="34" charset="0"/>
                <a:ea typeface="Calibri" pitchFamily="34" charset="-122"/>
                <a:cs typeface="Calibri" pitchFamily="34" charset="-120"/>
              </a:rPr>
              <a:t>ADMINISTRATIVE EFFICIENCY</a:t>
            </a:r>
            <a:endParaRPr lang="en-US" sz="950" dirty="0"/>
          </a:p>
        </p:txBody>
      </p:sp>
      <p:sp>
        <p:nvSpPr>
          <p:cNvPr id="12" name="Text 10"/>
          <p:cNvSpPr/>
          <p:nvPr/>
        </p:nvSpPr>
        <p:spPr>
          <a:xfrm>
            <a:off x="6446520" y="1737360"/>
            <a:ext cx="47548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Eliminating Operational Bottlenecks</a:t>
            </a:r>
            <a:endParaRPr lang="en-US" sz="1250" dirty="0"/>
          </a:p>
        </p:txBody>
      </p:sp>
      <p:sp>
        <p:nvSpPr>
          <p:cNvPr id="13" name="Text 11"/>
          <p:cNvSpPr/>
          <p:nvPr/>
        </p:nvSpPr>
        <p:spPr>
          <a:xfrm>
            <a:off x="6446520" y="2066544"/>
            <a:ext cx="4754880" cy="6858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Placement cells drown in disconnected spreadsheets and physical forms. ALTS centralizes all applicant data, eligibility verifications, and audit trails into one unified source of truth.</a:t>
            </a:r>
            <a:endParaRPr lang="en-US" sz="1000" dirty="0"/>
          </a:p>
        </p:txBody>
      </p:sp>
      <p:sp>
        <p:nvSpPr>
          <p:cNvPr id="14" name="Shape 12"/>
          <p:cNvSpPr/>
          <p:nvPr/>
        </p:nvSpPr>
        <p:spPr>
          <a:xfrm>
            <a:off x="6199632" y="2962656"/>
            <a:ext cx="5257800" cy="1490472"/>
          </a:xfrm>
          <a:prstGeom prst="roundRect">
            <a:avLst>
              <a:gd name="adj" fmla="val 4908"/>
            </a:avLst>
          </a:prstGeom>
          <a:solidFill>
            <a:srgbClr val="141C33"/>
          </a:solidFill>
          <a:ln w="12700">
            <a:solidFill>
              <a:srgbClr val="28375C"/>
            </a:solidFill>
            <a:prstDash val="solid"/>
          </a:ln>
        </p:spPr>
      </p:sp>
      <p:sp>
        <p:nvSpPr>
          <p:cNvPr id="15" name="Text 13"/>
          <p:cNvSpPr/>
          <p:nvPr/>
        </p:nvSpPr>
        <p:spPr>
          <a:xfrm>
            <a:off x="6446520" y="3108960"/>
            <a:ext cx="4754880" cy="201168"/>
          </a:xfrm>
          <a:prstGeom prst="rect">
            <a:avLst/>
          </a:prstGeom>
          <a:noFill/>
          <a:ln/>
        </p:spPr>
        <p:txBody>
          <a:bodyPr wrap="square" lIns="0" tIns="0" rIns="0" bIns="0" rtlCol="0" anchor="ctr"/>
          <a:lstStyle/>
          <a:p>
            <a:pPr indent="0" marL="0">
              <a:buNone/>
            </a:pPr>
            <a:r>
              <a:rPr lang="en-US" sz="950" b="1" spc="100" kern="0" dirty="0">
                <a:solidFill>
                  <a:srgbClr val="34D399"/>
                </a:solidFill>
                <a:latin typeface="Calibri" pitchFamily="34" charset="0"/>
                <a:ea typeface="Calibri" pitchFamily="34" charset="-122"/>
                <a:cs typeface="Calibri" pitchFamily="34" charset="-120"/>
              </a:rPr>
              <a:t>STUDENT EMPOWERMENT</a:t>
            </a:r>
            <a:endParaRPr lang="en-US" sz="950" dirty="0"/>
          </a:p>
        </p:txBody>
      </p:sp>
      <p:sp>
        <p:nvSpPr>
          <p:cNvPr id="16" name="Text 14"/>
          <p:cNvSpPr/>
          <p:nvPr/>
        </p:nvSpPr>
        <p:spPr>
          <a:xfrm>
            <a:off x="6446520" y="3346704"/>
            <a:ext cx="47548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Data-Driven Candidate Transparency</a:t>
            </a:r>
            <a:endParaRPr lang="en-US" sz="1250" dirty="0"/>
          </a:p>
        </p:txBody>
      </p:sp>
      <p:sp>
        <p:nvSpPr>
          <p:cNvPr id="17" name="Text 15"/>
          <p:cNvSpPr/>
          <p:nvPr/>
        </p:nvSpPr>
        <p:spPr>
          <a:xfrm>
            <a:off x="6446520" y="3675888"/>
            <a:ext cx="4754880" cy="6858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Students traditionally face an information black hole after applying. ALTS provides immediate ATS scores, feedback notes, and stage-by-stage status tracking.</a:t>
            </a:r>
            <a:endParaRPr lang="en-US" sz="1000" dirty="0"/>
          </a:p>
        </p:txBody>
      </p:sp>
      <p:sp>
        <p:nvSpPr>
          <p:cNvPr id="18" name="Shape 16"/>
          <p:cNvSpPr/>
          <p:nvPr/>
        </p:nvSpPr>
        <p:spPr>
          <a:xfrm>
            <a:off x="6199632" y="4572000"/>
            <a:ext cx="5257800" cy="1490472"/>
          </a:xfrm>
          <a:prstGeom prst="roundRect">
            <a:avLst>
              <a:gd name="adj" fmla="val 4908"/>
            </a:avLst>
          </a:prstGeom>
          <a:solidFill>
            <a:srgbClr val="141C33"/>
          </a:solidFill>
          <a:ln w="12700">
            <a:solidFill>
              <a:srgbClr val="28375C"/>
            </a:solidFill>
            <a:prstDash val="solid"/>
          </a:ln>
        </p:spPr>
      </p:sp>
      <p:sp>
        <p:nvSpPr>
          <p:cNvPr id="19" name="Text 17"/>
          <p:cNvSpPr/>
          <p:nvPr/>
        </p:nvSpPr>
        <p:spPr>
          <a:xfrm>
            <a:off x="6446520" y="4718304"/>
            <a:ext cx="4754880" cy="201168"/>
          </a:xfrm>
          <a:prstGeom prst="rect">
            <a:avLst/>
          </a:prstGeom>
          <a:noFill/>
          <a:ln/>
        </p:spPr>
        <p:txBody>
          <a:bodyPr wrap="square" lIns="0" tIns="0" rIns="0" bIns="0" rtlCol="0" anchor="ctr"/>
          <a:lstStyle/>
          <a:p>
            <a:pPr indent="0" marL="0">
              <a:buNone/>
            </a:pPr>
            <a:r>
              <a:rPr lang="en-US" sz="950" b="1" spc="100" kern="0" dirty="0">
                <a:solidFill>
                  <a:srgbClr val="FBBF24"/>
                </a:solidFill>
                <a:latin typeface="Calibri" pitchFamily="34" charset="0"/>
                <a:ea typeface="Calibri" pitchFamily="34" charset="-122"/>
                <a:cs typeface="Calibri" pitchFamily="34" charset="-120"/>
              </a:rPr>
              <a:t>RECRUITER VELOCITY</a:t>
            </a:r>
            <a:endParaRPr lang="en-US" sz="950" dirty="0"/>
          </a:p>
        </p:txBody>
      </p:sp>
      <p:sp>
        <p:nvSpPr>
          <p:cNvPr id="20" name="Text 18"/>
          <p:cNvSpPr/>
          <p:nvPr/>
        </p:nvSpPr>
        <p:spPr>
          <a:xfrm>
            <a:off x="6446520" y="4956048"/>
            <a:ext cx="47548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Accelerated Time-to-Hire for HR</a:t>
            </a:r>
            <a:endParaRPr lang="en-US" sz="1250" dirty="0"/>
          </a:p>
        </p:txBody>
      </p:sp>
      <p:sp>
        <p:nvSpPr>
          <p:cNvPr id="21" name="Text 19"/>
          <p:cNvSpPr/>
          <p:nvPr/>
        </p:nvSpPr>
        <p:spPr>
          <a:xfrm>
            <a:off x="6446520" y="5285232"/>
            <a:ext cx="4754880" cy="6858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Automates resume filtering, skill ranking, and instant transactional email dispatch upon shortlisting, cutting recruiter screening turnaround cycles by over 75%.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731520" y="384048"/>
            <a:ext cx="7315200" cy="228600"/>
          </a:xfrm>
          <a:prstGeom prst="rect">
            <a:avLst/>
          </a:prstGeom>
          <a:noFill/>
          <a:ln/>
        </p:spPr>
        <p:txBody>
          <a:bodyPr wrap="square" lIns="0" tIns="0" rIns="0" bIns="0"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PROBLEM IDENTIFICATION</a:t>
            </a:r>
            <a:endParaRPr lang="en-US" sz="1000" dirty="0"/>
          </a:p>
        </p:txBody>
      </p:sp>
      <p:sp>
        <p:nvSpPr>
          <p:cNvPr id="3" name="Text 1"/>
          <p:cNvSpPr/>
          <p:nvPr/>
        </p:nvSpPr>
        <p:spPr>
          <a:xfrm>
            <a:off x="731520" y="621792"/>
            <a:ext cx="9601200" cy="43891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Problem Statement &amp; Existing Operational Bottlenecks</a:t>
            </a:r>
            <a:endParaRPr lang="en-US" sz="2200" dirty="0"/>
          </a:p>
        </p:txBody>
      </p:sp>
      <p:sp>
        <p:nvSpPr>
          <p:cNvPr id="4" name="Shape 2"/>
          <p:cNvSpPr/>
          <p:nvPr/>
        </p:nvSpPr>
        <p:spPr>
          <a:xfrm>
            <a:off x="731520" y="1143000"/>
            <a:ext cx="10725912" cy="18288"/>
          </a:xfrm>
          <a:prstGeom prst="rect">
            <a:avLst/>
          </a:prstGeom>
          <a:solidFill>
            <a:srgbClr val="28375C"/>
          </a:solidFill>
          <a:ln w="12700">
            <a:solidFill>
              <a:srgbClr val="28375C"/>
            </a:solidFill>
            <a:prstDash val="solid"/>
          </a:ln>
        </p:spPr>
      </p:sp>
      <p:sp>
        <p:nvSpPr>
          <p:cNvPr id="5" name="Text 3"/>
          <p:cNvSpPr/>
          <p:nvPr/>
        </p:nvSpPr>
        <p:spPr>
          <a:xfrm>
            <a:off x="731520" y="6355080"/>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ALTS | AI-Powered Campus Placement &amp; Applicant Tracking Portal</a:t>
            </a:r>
            <a:endParaRPr lang="en-US" sz="950" dirty="0"/>
          </a:p>
        </p:txBody>
      </p:sp>
      <p:sp>
        <p:nvSpPr>
          <p:cNvPr id="6" name="Text 4"/>
          <p:cNvSpPr/>
          <p:nvPr/>
        </p:nvSpPr>
        <p:spPr>
          <a:xfrm>
            <a:off x="8714232" y="6355080"/>
            <a:ext cx="2743200" cy="22860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Slide 4 of 13</a:t>
            </a:r>
            <a:endParaRPr lang="en-US" sz="950" dirty="0"/>
          </a:p>
        </p:txBody>
      </p:sp>
      <p:sp>
        <p:nvSpPr>
          <p:cNvPr id="7" name="Shape 5"/>
          <p:cNvSpPr/>
          <p:nvPr/>
        </p:nvSpPr>
        <p:spPr>
          <a:xfrm>
            <a:off x="731520" y="1353312"/>
            <a:ext cx="5285232" cy="2240280"/>
          </a:xfrm>
          <a:prstGeom prst="roundRect">
            <a:avLst>
              <a:gd name="adj" fmla="val 3265"/>
            </a:avLst>
          </a:prstGeom>
          <a:solidFill>
            <a:srgbClr val="141C33"/>
          </a:solidFill>
          <a:ln w="12700">
            <a:solidFill>
              <a:srgbClr val="28375C"/>
            </a:solidFill>
            <a:prstDash val="solid"/>
          </a:ln>
        </p:spPr>
      </p:sp>
      <p:sp>
        <p:nvSpPr>
          <p:cNvPr id="8" name="Text 6"/>
          <p:cNvSpPr/>
          <p:nvPr/>
        </p:nvSpPr>
        <p:spPr>
          <a:xfrm>
            <a:off x="1005840" y="1517904"/>
            <a:ext cx="3200400" cy="201168"/>
          </a:xfrm>
          <a:prstGeom prst="rect">
            <a:avLst/>
          </a:prstGeom>
          <a:noFill/>
          <a:ln/>
        </p:spPr>
        <p:txBody>
          <a:bodyPr wrap="square" lIns="0" tIns="0" rIns="0" bIns="0" rtlCol="0" anchor="ctr"/>
          <a:lstStyle/>
          <a:p>
            <a:pPr indent="0" marL="0">
              <a:buNone/>
            </a:pPr>
            <a:r>
              <a:rPr lang="en-US" sz="1000" b="1" spc="100" kern="0" dirty="0">
                <a:solidFill>
                  <a:srgbClr val="F87171"/>
                </a:solidFill>
                <a:latin typeface="Calibri" pitchFamily="34" charset="0"/>
                <a:ea typeface="Calibri" pitchFamily="34" charset="-122"/>
                <a:cs typeface="Calibri" pitchFamily="34" charset="-120"/>
              </a:rPr>
              <a:t>BOTTLENECK 01</a:t>
            </a:r>
            <a:endParaRPr lang="en-US" sz="1000" dirty="0"/>
          </a:p>
        </p:txBody>
      </p:sp>
      <p:sp>
        <p:nvSpPr>
          <p:cNvPr id="9" name="Text 7"/>
          <p:cNvSpPr/>
          <p:nvPr/>
        </p:nvSpPr>
        <p:spPr>
          <a:xfrm>
            <a:off x="1005840" y="1755648"/>
            <a:ext cx="475488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Manual &amp; Unstandardized Resume Screening</a:t>
            </a:r>
            <a:endParaRPr lang="en-US" sz="1300" dirty="0"/>
          </a:p>
        </p:txBody>
      </p:sp>
      <p:sp>
        <p:nvSpPr>
          <p:cNvPr id="10" name="Text 8"/>
          <p:cNvSpPr/>
          <p:nvPr/>
        </p:nvSpPr>
        <p:spPr>
          <a:xfrm>
            <a:off x="1005840" y="2121408"/>
            <a:ext cx="4754880" cy="1325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Placement coordinators manually inspect thousands of multi-page PDF/Word resumes.
</a:t>
            </a:r>
            <a:pPr indent="0" marL="0">
              <a:buNone/>
            </a:pPr>
            <a:r>
              <a:rPr lang="en-US" sz="1000" dirty="0">
                <a:solidFill>
                  <a:srgbClr val="94A3B8"/>
                </a:solidFill>
                <a:latin typeface="Calibri" pitchFamily="34" charset="0"/>
                <a:ea typeface="Calibri" pitchFamily="34" charset="-122"/>
                <a:cs typeface="Calibri" pitchFamily="34" charset="-120"/>
              </a:rPr>
              <a:t>• High probability of human error when checking criteria (CGPA, backlogs, branch eligibility).
</a:t>
            </a:r>
            <a:pPr indent="0" marL="0">
              <a:buNone/>
            </a:pPr>
            <a:r>
              <a:rPr lang="en-US" sz="1000" dirty="0">
                <a:solidFill>
                  <a:srgbClr val="94A3B8"/>
                </a:solidFill>
                <a:latin typeface="Calibri" pitchFamily="34" charset="0"/>
                <a:ea typeface="Calibri" pitchFamily="34" charset="-122"/>
                <a:cs typeface="Calibri" pitchFamily="34" charset="-120"/>
              </a:rPr>
              <a:t>• Recruiter fatigue leads to inconsistent evaluations and unfair oversights.
</a:t>
            </a:r>
            <a:endParaRPr lang="en-US" sz="1000" dirty="0"/>
          </a:p>
        </p:txBody>
      </p:sp>
      <p:sp>
        <p:nvSpPr>
          <p:cNvPr id="11" name="Shape 9"/>
          <p:cNvSpPr/>
          <p:nvPr/>
        </p:nvSpPr>
        <p:spPr>
          <a:xfrm>
            <a:off x="6172200" y="1353312"/>
            <a:ext cx="5285232" cy="2240280"/>
          </a:xfrm>
          <a:prstGeom prst="roundRect">
            <a:avLst>
              <a:gd name="adj" fmla="val 3265"/>
            </a:avLst>
          </a:prstGeom>
          <a:solidFill>
            <a:srgbClr val="141C33"/>
          </a:solidFill>
          <a:ln w="12700">
            <a:solidFill>
              <a:srgbClr val="28375C"/>
            </a:solidFill>
            <a:prstDash val="solid"/>
          </a:ln>
        </p:spPr>
      </p:sp>
      <p:sp>
        <p:nvSpPr>
          <p:cNvPr id="12" name="Text 10"/>
          <p:cNvSpPr/>
          <p:nvPr/>
        </p:nvSpPr>
        <p:spPr>
          <a:xfrm>
            <a:off x="6446520" y="1517904"/>
            <a:ext cx="3200400" cy="201168"/>
          </a:xfrm>
          <a:prstGeom prst="rect">
            <a:avLst/>
          </a:prstGeom>
          <a:noFill/>
          <a:ln/>
        </p:spPr>
        <p:txBody>
          <a:bodyPr wrap="square" lIns="0" tIns="0" rIns="0" bIns="0" rtlCol="0" anchor="ctr"/>
          <a:lstStyle/>
          <a:p>
            <a:pPr indent="0" marL="0">
              <a:buNone/>
            </a:pPr>
            <a:r>
              <a:rPr lang="en-US" sz="1000" b="1" spc="100" kern="0" dirty="0">
                <a:solidFill>
                  <a:srgbClr val="F87171"/>
                </a:solidFill>
                <a:latin typeface="Calibri" pitchFamily="34" charset="0"/>
                <a:ea typeface="Calibri" pitchFamily="34" charset="-122"/>
                <a:cs typeface="Calibri" pitchFamily="34" charset="-120"/>
              </a:rPr>
              <a:t>BOTTLENECK 02</a:t>
            </a:r>
            <a:endParaRPr lang="en-US" sz="1000" dirty="0"/>
          </a:p>
        </p:txBody>
      </p:sp>
      <p:sp>
        <p:nvSpPr>
          <p:cNvPr id="13" name="Text 11"/>
          <p:cNvSpPr/>
          <p:nvPr/>
        </p:nvSpPr>
        <p:spPr>
          <a:xfrm>
            <a:off x="6446520" y="1755648"/>
            <a:ext cx="475488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Zero Feedback Loops for Students</a:t>
            </a:r>
            <a:endParaRPr lang="en-US" sz="1300" dirty="0"/>
          </a:p>
        </p:txBody>
      </p:sp>
      <p:sp>
        <p:nvSpPr>
          <p:cNvPr id="14" name="Text 12"/>
          <p:cNvSpPr/>
          <p:nvPr/>
        </p:nvSpPr>
        <p:spPr>
          <a:xfrm>
            <a:off x="6446520" y="2121408"/>
            <a:ext cx="4754880" cy="1325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Students submit applications without knowing why they were screened out.
</a:t>
            </a:r>
            <a:pPr indent="0" marL="0">
              <a:buNone/>
            </a:pPr>
            <a:r>
              <a:rPr lang="en-US" sz="1000" dirty="0">
                <a:solidFill>
                  <a:srgbClr val="94A3B8"/>
                </a:solidFill>
                <a:latin typeface="Calibri" pitchFamily="34" charset="0"/>
                <a:ea typeface="Calibri" pitchFamily="34" charset="-122"/>
                <a:cs typeface="Calibri" pitchFamily="34" charset="-120"/>
              </a:rPr>
              <a:t>• No automated guidance on missing technical keywords or ATS formatting barriers.
</a:t>
            </a:r>
            <a:pPr indent="0" marL="0">
              <a:buNone/>
            </a:pPr>
            <a:r>
              <a:rPr lang="en-US" sz="1000" dirty="0">
                <a:solidFill>
                  <a:srgbClr val="94A3B8"/>
                </a:solidFill>
                <a:latin typeface="Calibri" pitchFamily="34" charset="0"/>
                <a:ea typeface="Calibri" pitchFamily="34" charset="-122"/>
                <a:cs typeface="Calibri" pitchFamily="34" charset="-120"/>
              </a:rPr>
              <a:t>• Demotivates applicants and prevents structured iterative self-improvement.
</a:t>
            </a:r>
            <a:endParaRPr lang="en-US" sz="1000" dirty="0"/>
          </a:p>
        </p:txBody>
      </p:sp>
      <p:sp>
        <p:nvSpPr>
          <p:cNvPr id="15" name="Shape 13"/>
          <p:cNvSpPr/>
          <p:nvPr/>
        </p:nvSpPr>
        <p:spPr>
          <a:xfrm>
            <a:off x="731520" y="3749040"/>
            <a:ext cx="5285232" cy="2240280"/>
          </a:xfrm>
          <a:prstGeom prst="roundRect">
            <a:avLst>
              <a:gd name="adj" fmla="val 3265"/>
            </a:avLst>
          </a:prstGeom>
          <a:solidFill>
            <a:srgbClr val="141C33"/>
          </a:solidFill>
          <a:ln w="12700">
            <a:solidFill>
              <a:srgbClr val="28375C"/>
            </a:solidFill>
            <a:prstDash val="solid"/>
          </a:ln>
        </p:spPr>
      </p:sp>
      <p:sp>
        <p:nvSpPr>
          <p:cNvPr id="16" name="Text 14"/>
          <p:cNvSpPr/>
          <p:nvPr/>
        </p:nvSpPr>
        <p:spPr>
          <a:xfrm>
            <a:off x="1005840" y="3913632"/>
            <a:ext cx="3200400" cy="201168"/>
          </a:xfrm>
          <a:prstGeom prst="rect">
            <a:avLst/>
          </a:prstGeom>
          <a:noFill/>
          <a:ln/>
        </p:spPr>
        <p:txBody>
          <a:bodyPr wrap="square" lIns="0" tIns="0" rIns="0" bIns="0" rtlCol="0" anchor="ctr"/>
          <a:lstStyle/>
          <a:p>
            <a:pPr indent="0" marL="0">
              <a:buNone/>
            </a:pPr>
            <a:r>
              <a:rPr lang="en-US" sz="1000" b="1" spc="100" kern="0" dirty="0">
                <a:solidFill>
                  <a:srgbClr val="F87171"/>
                </a:solidFill>
                <a:latin typeface="Calibri" pitchFamily="34" charset="0"/>
                <a:ea typeface="Calibri" pitchFamily="34" charset="-122"/>
                <a:cs typeface="Calibri" pitchFamily="34" charset="-120"/>
              </a:rPr>
              <a:t>BOTTLENECK 03</a:t>
            </a:r>
            <a:endParaRPr lang="en-US" sz="1000" dirty="0"/>
          </a:p>
        </p:txBody>
      </p:sp>
      <p:sp>
        <p:nvSpPr>
          <p:cNvPr id="17" name="Text 15"/>
          <p:cNvSpPr/>
          <p:nvPr/>
        </p:nvSpPr>
        <p:spPr>
          <a:xfrm>
            <a:off x="1005840" y="4151376"/>
            <a:ext cx="475488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Fragmented Communication Channels</a:t>
            </a:r>
            <a:endParaRPr lang="en-US" sz="1300" dirty="0"/>
          </a:p>
        </p:txBody>
      </p:sp>
      <p:sp>
        <p:nvSpPr>
          <p:cNvPr id="18" name="Text 16"/>
          <p:cNvSpPr/>
          <p:nvPr/>
        </p:nvSpPr>
        <p:spPr>
          <a:xfrm>
            <a:off x="1005840" y="4517136"/>
            <a:ext cx="4754880" cy="1325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Notices broadcast over informal WhatsApp groups, Telegram, or email chains.
</a:t>
            </a:r>
            <a:pPr indent="0" marL="0">
              <a:buNone/>
            </a:pPr>
            <a:r>
              <a:rPr lang="en-US" sz="1000" dirty="0">
                <a:solidFill>
                  <a:srgbClr val="94A3B8"/>
                </a:solidFill>
                <a:latin typeface="Calibri" pitchFamily="34" charset="0"/>
                <a:ea typeface="Calibri" pitchFamily="34" charset="-122"/>
                <a:cs typeface="Calibri" pitchFamily="34" charset="-120"/>
              </a:rPr>
              <a:t>• Students regularly miss shortlisting updates, interview slots, and venue changes.
</a:t>
            </a:r>
            <a:pPr indent="0" marL="0">
              <a:buNone/>
            </a:pPr>
            <a:r>
              <a:rPr lang="en-US" sz="1000" dirty="0">
                <a:solidFill>
                  <a:srgbClr val="94A3B8"/>
                </a:solidFill>
                <a:latin typeface="Calibri" pitchFamily="34" charset="0"/>
                <a:ea typeface="Calibri" pitchFamily="34" charset="-122"/>
                <a:cs typeface="Calibri" pitchFamily="34" charset="-120"/>
              </a:rPr>
              <a:t>• No centralized audit trail of sent offer letters or interview confirmations.
</a:t>
            </a:r>
            <a:endParaRPr lang="en-US" sz="1000" dirty="0"/>
          </a:p>
        </p:txBody>
      </p:sp>
      <p:sp>
        <p:nvSpPr>
          <p:cNvPr id="19" name="Shape 17"/>
          <p:cNvSpPr/>
          <p:nvPr/>
        </p:nvSpPr>
        <p:spPr>
          <a:xfrm>
            <a:off x="6172200" y="3749040"/>
            <a:ext cx="5285232" cy="2240280"/>
          </a:xfrm>
          <a:prstGeom prst="roundRect">
            <a:avLst>
              <a:gd name="adj" fmla="val 3265"/>
            </a:avLst>
          </a:prstGeom>
          <a:solidFill>
            <a:srgbClr val="141C33"/>
          </a:solidFill>
          <a:ln w="12700">
            <a:solidFill>
              <a:srgbClr val="28375C"/>
            </a:solidFill>
            <a:prstDash val="solid"/>
          </a:ln>
        </p:spPr>
      </p:sp>
      <p:sp>
        <p:nvSpPr>
          <p:cNvPr id="20" name="Text 18"/>
          <p:cNvSpPr/>
          <p:nvPr/>
        </p:nvSpPr>
        <p:spPr>
          <a:xfrm>
            <a:off x="6446520" y="3913632"/>
            <a:ext cx="3200400" cy="201168"/>
          </a:xfrm>
          <a:prstGeom prst="rect">
            <a:avLst/>
          </a:prstGeom>
          <a:noFill/>
          <a:ln/>
        </p:spPr>
        <p:txBody>
          <a:bodyPr wrap="square" lIns="0" tIns="0" rIns="0" bIns="0" rtlCol="0" anchor="ctr"/>
          <a:lstStyle/>
          <a:p>
            <a:pPr indent="0" marL="0">
              <a:buNone/>
            </a:pPr>
            <a:r>
              <a:rPr lang="en-US" sz="1000" b="1" spc="100" kern="0" dirty="0">
                <a:solidFill>
                  <a:srgbClr val="F87171"/>
                </a:solidFill>
                <a:latin typeface="Calibri" pitchFamily="34" charset="0"/>
                <a:ea typeface="Calibri" pitchFamily="34" charset="-122"/>
                <a:cs typeface="Calibri" pitchFamily="34" charset="-120"/>
              </a:rPr>
              <a:t>BOTTLENECK 04</a:t>
            </a:r>
            <a:endParaRPr lang="en-US" sz="1000" dirty="0"/>
          </a:p>
        </p:txBody>
      </p:sp>
      <p:sp>
        <p:nvSpPr>
          <p:cNvPr id="21" name="Text 19"/>
          <p:cNvSpPr/>
          <p:nvPr/>
        </p:nvSpPr>
        <p:spPr>
          <a:xfrm>
            <a:off x="6446520" y="4151376"/>
            <a:ext cx="475488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Lack of Real-Time Recruiter Analytics</a:t>
            </a:r>
            <a:endParaRPr lang="en-US" sz="1300" dirty="0"/>
          </a:p>
        </p:txBody>
      </p:sp>
      <p:sp>
        <p:nvSpPr>
          <p:cNvPr id="22" name="Text 20"/>
          <p:cNvSpPr/>
          <p:nvPr/>
        </p:nvSpPr>
        <p:spPr>
          <a:xfrm>
            <a:off x="6446520" y="4517136"/>
            <a:ext cx="4754880" cy="1325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Companies lack instantaneous visual insight into applicant quality funnels.
</a:t>
            </a:r>
            <a:pPr indent="0" marL="0">
              <a:buNone/>
            </a:pPr>
            <a:r>
              <a:rPr lang="en-US" sz="1000" dirty="0">
                <a:solidFill>
                  <a:srgbClr val="94A3B8"/>
                </a:solidFill>
                <a:latin typeface="Calibri" pitchFamily="34" charset="0"/>
                <a:ea typeface="Calibri" pitchFamily="34" charset="-122"/>
                <a:cs typeface="Calibri" pitchFamily="34" charset="-120"/>
              </a:rPr>
              <a:t>• Placement officers cannot quickly gauge departmental placement percentages.
</a:t>
            </a:r>
            <a:pPr indent="0" marL="0">
              <a:buNone/>
            </a:pPr>
            <a:r>
              <a:rPr lang="en-US" sz="1000" dirty="0">
                <a:solidFill>
                  <a:srgbClr val="94A3B8"/>
                </a:solidFill>
                <a:latin typeface="Calibri" pitchFamily="34" charset="0"/>
                <a:ea typeface="Calibri" pitchFamily="34" charset="-122"/>
                <a:cs typeface="Calibri" pitchFamily="34" charset="-120"/>
              </a:rPr>
              <a:t>• Retrospective manual reporting delays accreditation and corporate audits.
</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731520" y="384048"/>
            <a:ext cx="7315200" cy="228600"/>
          </a:xfrm>
          <a:prstGeom prst="rect">
            <a:avLst/>
          </a:prstGeom>
          <a:noFill/>
          <a:ln/>
        </p:spPr>
        <p:txBody>
          <a:bodyPr wrap="square" lIns="0" tIns="0" rIns="0" bIns="0"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PROJECT SCOPE</a:t>
            </a:r>
            <a:endParaRPr lang="en-US" sz="1000" dirty="0"/>
          </a:p>
        </p:txBody>
      </p:sp>
      <p:sp>
        <p:nvSpPr>
          <p:cNvPr id="3" name="Text 1"/>
          <p:cNvSpPr/>
          <p:nvPr/>
        </p:nvSpPr>
        <p:spPr>
          <a:xfrm>
            <a:off x="731520" y="621792"/>
            <a:ext cx="9601200" cy="43891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Project Objectives &amp; Target Deliverables</a:t>
            </a:r>
            <a:endParaRPr lang="en-US" sz="2200" dirty="0"/>
          </a:p>
        </p:txBody>
      </p:sp>
      <p:sp>
        <p:nvSpPr>
          <p:cNvPr id="4" name="Shape 2"/>
          <p:cNvSpPr/>
          <p:nvPr/>
        </p:nvSpPr>
        <p:spPr>
          <a:xfrm>
            <a:off x="731520" y="1143000"/>
            <a:ext cx="10725912" cy="18288"/>
          </a:xfrm>
          <a:prstGeom prst="rect">
            <a:avLst/>
          </a:prstGeom>
          <a:solidFill>
            <a:srgbClr val="28375C"/>
          </a:solidFill>
          <a:ln w="12700">
            <a:solidFill>
              <a:srgbClr val="28375C"/>
            </a:solidFill>
            <a:prstDash val="solid"/>
          </a:ln>
        </p:spPr>
      </p:sp>
      <p:sp>
        <p:nvSpPr>
          <p:cNvPr id="5" name="Text 3"/>
          <p:cNvSpPr/>
          <p:nvPr/>
        </p:nvSpPr>
        <p:spPr>
          <a:xfrm>
            <a:off x="731520" y="6355080"/>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ALTS | AI-Powered Campus Placement &amp; Applicant Tracking Portal</a:t>
            </a:r>
            <a:endParaRPr lang="en-US" sz="950" dirty="0"/>
          </a:p>
        </p:txBody>
      </p:sp>
      <p:sp>
        <p:nvSpPr>
          <p:cNvPr id="6" name="Text 4"/>
          <p:cNvSpPr/>
          <p:nvPr/>
        </p:nvSpPr>
        <p:spPr>
          <a:xfrm>
            <a:off x="8714232" y="6355080"/>
            <a:ext cx="2743200" cy="22860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Slide 5 of 13</a:t>
            </a:r>
            <a:endParaRPr lang="en-US" sz="950" dirty="0"/>
          </a:p>
        </p:txBody>
      </p:sp>
      <p:sp>
        <p:nvSpPr>
          <p:cNvPr id="7" name="Shape 5"/>
          <p:cNvSpPr/>
          <p:nvPr/>
        </p:nvSpPr>
        <p:spPr>
          <a:xfrm>
            <a:off x="731520" y="1353312"/>
            <a:ext cx="6537960" cy="4709160"/>
          </a:xfrm>
          <a:prstGeom prst="roundRect">
            <a:avLst>
              <a:gd name="adj" fmla="val 1553"/>
            </a:avLst>
          </a:prstGeom>
          <a:solidFill>
            <a:srgbClr val="141C33"/>
          </a:solidFill>
          <a:ln w="12700">
            <a:solidFill>
              <a:srgbClr val="28375C"/>
            </a:solidFill>
            <a:prstDash val="solid"/>
          </a:ln>
        </p:spPr>
      </p:sp>
      <p:sp>
        <p:nvSpPr>
          <p:cNvPr id="8" name="Text 6"/>
          <p:cNvSpPr/>
          <p:nvPr/>
        </p:nvSpPr>
        <p:spPr>
          <a:xfrm>
            <a:off x="1005840" y="1600200"/>
            <a:ext cx="5989320" cy="274320"/>
          </a:xfrm>
          <a:prstGeom prst="rect">
            <a:avLst/>
          </a:prstGeom>
          <a:noFill/>
          <a:ln/>
        </p:spPr>
        <p:txBody>
          <a:bodyPr wrap="square" lIns="0" tIns="0" rIns="0" bIns="0" rtlCol="0" anchor="ctr"/>
          <a:lstStyle/>
          <a:p>
            <a:pPr indent="0" marL="0">
              <a:buNone/>
            </a:pPr>
            <a:r>
              <a:rPr lang="en-US" sz="1100" b="1" spc="150" kern="0" dirty="0">
                <a:solidFill>
                  <a:srgbClr val="38BDF8"/>
                </a:solidFill>
                <a:latin typeface="Calibri" pitchFamily="34" charset="0"/>
                <a:ea typeface="Calibri" pitchFamily="34" charset="-122"/>
                <a:cs typeface="Calibri" pitchFamily="34" charset="-120"/>
              </a:rPr>
              <a:t>PRIMARY TECHNICAL OBJECTIVES</a:t>
            </a:r>
            <a:endParaRPr lang="en-US" sz="1100" dirty="0"/>
          </a:p>
        </p:txBody>
      </p:sp>
      <p:sp>
        <p:nvSpPr>
          <p:cNvPr id="9" name="Text 7"/>
          <p:cNvSpPr/>
          <p:nvPr/>
        </p:nvSpPr>
        <p:spPr>
          <a:xfrm>
            <a:off x="1005840" y="1965960"/>
            <a:ext cx="5989320" cy="7132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1. Intelligent Document Parser: </a:t>
            </a:r>
            <a:pPr indent="0" marL="0">
              <a:buNone/>
            </a:pPr>
            <a:r>
              <a:rPr lang="en-US" sz="1000" dirty="0">
                <a:solidFill>
                  <a:srgbClr val="94A3B8"/>
                </a:solidFill>
                <a:latin typeface="Calibri" pitchFamily="34" charset="0"/>
                <a:ea typeface="Calibri" pitchFamily="34" charset="-122"/>
                <a:cs typeface="Calibri" pitchFamily="34" charset="-120"/>
              </a:rPr>
              <a:t>Implement automated parsing for PDF and DOCX files without external paid APIs using pdf-parse and Mammoth libraries.</a:t>
            </a:r>
            <a:endParaRPr lang="en-US" sz="1150" dirty="0"/>
          </a:p>
        </p:txBody>
      </p:sp>
      <p:sp>
        <p:nvSpPr>
          <p:cNvPr id="10" name="Text 8"/>
          <p:cNvSpPr/>
          <p:nvPr/>
        </p:nvSpPr>
        <p:spPr>
          <a:xfrm>
            <a:off x="1005840" y="2752344"/>
            <a:ext cx="5989320" cy="7132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2. Algorithmic Match Scoring Engine: </a:t>
            </a:r>
            <a:pPr indent="0" marL="0">
              <a:buNone/>
            </a:pPr>
            <a:r>
              <a:rPr lang="en-US" sz="1000" dirty="0">
                <a:solidFill>
                  <a:srgbClr val="94A3B8"/>
                </a:solidFill>
                <a:latin typeface="Calibri" pitchFamily="34" charset="0"/>
                <a:ea typeface="Calibri" pitchFamily="34" charset="-122"/>
                <a:cs typeface="Calibri" pitchFamily="34" charset="-120"/>
              </a:rPr>
              <a:t>Compute quantifiable compatibility scores between candidate profile skills, CGPA requirements, and job specifications.</a:t>
            </a:r>
            <a:endParaRPr lang="en-US" sz="1150" dirty="0"/>
          </a:p>
        </p:txBody>
      </p:sp>
      <p:sp>
        <p:nvSpPr>
          <p:cNvPr id="11" name="Text 9"/>
          <p:cNvSpPr/>
          <p:nvPr/>
        </p:nvSpPr>
        <p:spPr>
          <a:xfrm>
            <a:off x="1005840" y="3538728"/>
            <a:ext cx="5989320" cy="7132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3. ATS Optimization &amp; Diagnostic Feedback: </a:t>
            </a:r>
            <a:pPr indent="0" marL="0">
              <a:buNone/>
            </a:pPr>
            <a:r>
              <a:rPr lang="en-US" sz="1000" dirty="0">
                <a:solidFill>
                  <a:srgbClr val="94A3B8"/>
                </a:solidFill>
                <a:latin typeface="Calibri" pitchFamily="34" charset="0"/>
                <a:ea typeface="Calibri" pitchFamily="34" charset="-122"/>
                <a:cs typeface="Calibri" pitchFamily="34" charset="-120"/>
              </a:rPr>
              <a:t>Scan extracted resume tokens against industry benchmarks to identify skill gaps, structural deficiencies, and missing metrics.</a:t>
            </a:r>
            <a:endParaRPr lang="en-US" sz="1150" dirty="0"/>
          </a:p>
        </p:txBody>
      </p:sp>
      <p:sp>
        <p:nvSpPr>
          <p:cNvPr id="12" name="Text 10"/>
          <p:cNvSpPr/>
          <p:nvPr/>
        </p:nvSpPr>
        <p:spPr>
          <a:xfrm>
            <a:off x="1005840" y="4325112"/>
            <a:ext cx="5989320" cy="7132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4. Full-Lifecycle Applicant Tracking System: </a:t>
            </a:r>
            <a:pPr indent="0" marL="0">
              <a:buNone/>
            </a:pPr>
            <a:r>
              <a:rPr lang="en-US" sz="1000" dirty="0">
                <a:solidFill>
                  <a:srgbClr val="94A3B8"/>
                </a:solidFill>
                <a:latin typeface="Calibri" pitchFamily="34" charset="0"/>
                <a:ea typeface="Calibri" pitchFamily="34" charset="-122"/>
                <a:cs typeface="Calibri" pitchFamily="34" charset="-120"/>
              </a:rPr>
              <a:t>Provide an intuitive recruiter Kanban allowing one-click state transitions: Applied → Shortlisted → Interview Scheduled → Selected / Rejected.</a:t>
            </a:r>
            <a:endParaRPr lang="en-US" sz="1150" dirty="0"/>
          </a:p>
        </p:txBody>
      </p:sp>
      <p:sp>
        <p:nvSpPr>
          <p:cNvPr id="13" name="Text 11"/>
          <p:cNvSpPr/>
          <p:nvPr/>
        </p:nvSpPr>
        <p:spPr>
          <a:xfrm>
            <a:off x="1005840" y="5111496"/>
            <a:ext cx="5989320" cy="7132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5. Automated Notification &amp; Dispatch Mechanism: </a:t>
            </a:r>
            <a:pPr indent="0" marL="0">
              <a:buNone/>
            </a:pPr>
            <a:r>
              <a:rPr lang="en-US" sz="1000" dirty="0">
                <a:solidFill>
                  <a:srgbClr val="94A3B8"/>
                </a:solidFill>
                <a:latin typeface="Calibri" pitchFamily="34" charset="0"/>
                <a:ea typeface="Calibri" pitchFamily="34" charset="-122"/>
                <a:cs typeface="Calibri" pitchFamily="34" charset="-120"/>
              </a:rPr>
              <a:t>Trigger asynchronous SMTP email notices with personalized offer/interview metadata upon recruiter actions.</a:t>
            </a:r>
            <a:endParaRPr lang="en-US" sz="1150" dirty="0"/>
          </a:p>
        </p:txBody>
      </p:sp>
      <p:sp>
        <p:nvSpPr>
          <p:cNvPr id="14" name="Shape 12"/>
          <p:cNvSpPr/>
          <p:nvPr/>
        </p:nvSpPr>
        <p:spPr>
          <a:xfrm>
            <a:off x="7479792" y="1353312"/>
            <a:ext cx="3977640" cy="4709160"/>
          </a:xfrm>
          <a:prstGeom prst="roundRect">
            <a:avLst>
              <a:gd name="adj" fmla="val 1839"/>
            </a:avLst>
          </a:prstGeom>
          <a:solidFill>
            <a:srgbClr val="141C33"/>
          </a:solidFill>
          <a:ln w="12700">
            <a:solidFill>
              <a:srgbClr val="28375C"/>
            </a:solidFill>
            <a:prstDash val="solid"/>
          </a:ln>
        </p:spPr>
      </p:sp>
      <p:sp>
        <p:nvSpPr>
          <p:cNvPr id="15" name="Text 13"/>
          <p:cNvSpPr/>
          <p:nvPr/>
        </p:nvSpPr>
        <p:spPr>
          <a:xfrm>
            <a:off x="7726680" y="1600200"/>
            <a:ext cx="3474720" cy="274320"/>
          </a:xfrm>
          <a:prstGeom prst="rect">
            <a:avLst/>
          </a:prstGeom>
          <a:noFill/>
          <a:ln/>
        </p:spPr>
        <p:txBody>
          <a:bodyPr wrap="square" lIns="0" tIns="0" rIns="0" bIns="0" rtlCol="0" anchor="ctr"/>
          <a:lstStyle/>
          <a:p>
            <a:pPr indent="0" marL="0">
              <a:buNone/>
            </a:pPr>
            <a:r>
              <a:rPr lang="en-US" sz="1100" b="1" spc="150" kern="0" dirty="0">
                <a:solidFill>
                  <a:srgbClr val="34D399"/>
                </a:solidFill>
                <a:latin typeface="Calibri" pitchFamily="34" charset="0"/>
                <a:ea typeface="Calibri" pitchFamily="34" charset="-122"/>
                <a:cs typeface="Calibri" pitchFamily="34" charset="-120"/>
              </a:rPr>
              <a:t>TARGET SUCCESS METRICS</a:t>
            </a:r>
            <a:endParaRPr lang="en-US" sz="1100" dirty="0"/>
          </a:p>
        </p:txBody>
      </p:sp>
      <p:sp>
        <p:nvSpPr>
          <p:cNvPr id="16" name="Text 14"/>
          <p:cNvSpPr/>
          <p:nvPr/>
        </p:nvSpPr>
        <p:spPr>
          <a:xfrm>
            <a:off x="7726680" y="2011680"/>
            <a:ext cx="3474720" cy="310896"/>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&lt; 150 ms</a:t>
            </a:r>
            <a:endParaRPr lang="en-US" sz="1600" dirty="0"/>
          </a:p>
        </p:txBody>
      </p:sp>
      <p:sp>
        <p:nvSpPr>
          <p:cNvPr id="17" name="Text 15"/>
          <p:cNvSpPr/>
          <p:nvPr/>
        </p:nvSpPr>
        <p:spPr>
          <a:xfrm>
            <a:off x="7726680" y="2322576"/>
            <a:ext cx="347472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Average Resume Parsing Latency</a:t>
            </a:r>
            <a:endParaRPr lang="en-US" sz="1000" dirty="0"/>
          </a:p>
        </p:txBody>
      </p:sp>
      <p:sp>
        <p:nvSpPr>
          <p:cNvPr id="18" name="Shape 16"/>
          <p:cNvSpPr/>
          <p:nvPr/>
        </p:nvSpPr>
        <p:spPr>
          <a:xfrm>
            <a:off x="7726680" y="2670048"/>
            <a:ext cx="3474720" cy="9144"/>
          </a:xfrm>
          <a:prstGeom prst="rect">
            <a:avLst/>
          </a:prstGeom>
          <a:solidFill>
            <a:srgbClr val="28375C"/>
          </a:solidFill>
          <a:ln w="12700">
            <a:solidFill>
              <a:srgbClr val="28375C"/>
            </a:solidFill>
            <a:prstDash val="solid"/>
          </a:ln>
        </p:spPr>
      </p:sp>
      <p:sp>
        <p:nvSpPr>
          <p:cNvPr id="19" name="Text 17"/>
          <p:cNvSpPr/>
          <p:nvPr/>
        </p:nvSpPr>
        <p:spPr>
          <a:xfrm>
            <a:off x="7726680" y="2788920"/>
            <a:ext cx="3474720" cy="310896"/>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100% Free</a:t>
            </a:r>
            <a:endParaRPr lang="en-US" sz="1600" dirty="0"/>
          </a:p>
        </p:txBody>
      </p:sp>
      <p:sp>
        <p:nvSpPr>
          <p:cNvPr id="20" name="Text 18"/>
          <p:cNvSpPr/>
          <p:nvPr/>
        </p:nvSpPr>
        <p:spPr>
          <a:xfrm>
            <a:off x="7726680" y="3099816"/>
            <a:ext cx="347472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Zero Third-Party Dependency Cost</a:t>
            </a:r>
            <a:endParaRPr lang="en-US" sz="1000" dirty="0"/>
          </a:p>
        </p:txBody>
      </p:sp>
      <p:sp>
        <p:nvSpPr>
          <p:cNvPr id="21" name="Shape 19"/>
          <p:cNvSpPr/>
          <p:nvPr/>
        </p:nvSpPr>
        <p:spPr>
          <a:xfrm>
            <a:off x="7726680" y="3447288"/>
            <a:ext cx="3474720" cy="9144"/>
          </a:xfrm>
          <a:prstGeom prst="rect">
            <a:avLst/>
          </a:prstGeom>
          <a:solidFill>
            <a:srgbClr val="28375C"/>
          </a:solidFill>
          <a:ln w="12700">
            <a:solidFill>
              <a:srgbClr val="28375C"/>
            </a:solidFill>
            <a:prstDash val="solid"/>
          </a:ln>
        </p:spPr>
      </p:sp>
      <p:sp>
        <p:nvSpPr>
          <p:cNvPr id="22" name="Text 20"/>
          <p:cNvSpPr/>
          <p:nvPr/>
        </p:nvSpPr>
        <p:spPr>
          <a:xfrm>
            <a:off x="7726680" y="3566160"/>
            <a:ext cx="3474720" cy="310896"/>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3 Secured Roles</a:t>
            </a:r>
            <a:endParaRPr lang="en-US" sz="1600" dirty="0"/>
          </a:p>
        </p:txBody>
      </p:sp>
      <p:sp>
        <p:nvSpPr>
          <p:cNvPr id="23" name="Text 21"/>
          <p:cNvSpPr/>
          <p:nvPr/>
        </p:nvSpPr>
        <p:spPr>
          <a:xfrm>
            <a:off x="7726680" y="3877056"/>
            <a:ext cx="347472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Student, Company/HR, Admin</a:t>
            </a:r>
            <a:endParaRPr lang="en-US" sz="1000" dirty="0"/>
          </a:p>
        </p:txBody>
      </p:sp>
      <p:sp>
        <p:nvSpPr>
          <p:cNvPr id="24" name="Shape 22"/>
          <p:cNvSpPr/>
          <p:nvPr/>
        </p:nvSpPr>
        <p:spPr>
          <a:xfrm>
            <a:off x="7726680" y="4224528"/>
            <a:ext cx="3474720" cy="9144"/>
          </a:xfrm>
          <a:prstGeom prst="rect">
            <a:avLst/>
          </a:prstGeom>
          <a:solidFill>
            <a:srgbClr val="28375C"/>
          </a:solidFill>
          <a:ln w="12700">
            <a:solidFill>
              <a:srgbClr val="28375C"/>
            </a:solidFill>
            <a:prstDash val="solid"/>
          </a:ln>
        </p:spPr>
      </p:sp>
      <p:sp>
        <p:nvSpPr>
          <p:cNvPr id="25" name="Text 23"/>
          <p:cNvSpPr/>
          <p:nvPr/>
        </p:nvSpPr>
        <p:spPr>
          <a:xfrm>
            <a:off x="7726680" y="4343400"/>
            <a:ext cx="3474720" cy="310896"/>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75% Faster</a:t>
            </a:r>
            <a:endParaRPr lang="en-US" sz="1600" dirty="0"/>
          </a:p>
        </p:txBody>
      </p:sp>
      <p:sp>
        <p:nvSpPr>
          <p:cNvPr id="26" name="Text 24"/>
          <p:cNvSpPr/>
          <p:nvPr/>
        </p:nvSpPr>
        <p:spPr>
          <a:xfrm>
            <a:off x="7726680" y="4654296"/>
            <a:ext cx="347472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Reduction in Screening Cycles</a:t>
            </a:r>
            <a:endParaRPr lang="en-US" sz="1000" dirty="0"/>
          </a:p>
        </p:txBody>
      </p:sp>
      <p:sp>
        <p:nvSpPr>
          <p:cNvPr id="27" name="Shape 25"/>
          <p:cNvSpPr/>
          <p:nvPr/>
        </p:nvSpPr>
        <p:spPr>
          <a:xfrm>
            <a:off x="7726680" y="5001768"/>
            <a:ext cx="3474720" cy="9144"/>
          </a:xfrm>
          <a:prstGeom prst="rect">
            <a:avLst/>
          </a:prstGeom>
          <a:solidFill>
            <a:srgbClr val="28375C"/>
          </a:solidFill>
          <a:ln w="12700">
            <a:solidFill>
              <a:srgbClr val="28375C"/>
            </a:solidFill>
            <a:prstDash val="solid"/>
          </a:ln>
        </p:spPr>
      </p:sp>
      <p:sp>
        <p:nvSpPr>
          <p:cNvPr id="28" name="Text 26"/>
          <p:cNvSpPr/>
          <p:nvPr/>
        </p:nvSpPr>
        <p:spPr>
          <a:xfrm>
            <a:off x="7726680" y="5120640"/>
            <a:ext cx="3474720" cy="310896"/>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Zero Downtime</a:t>
            </a:r>
            <a:endParaRPr lang="en-US" sz="1600" dirty="0"/>
          </a:p>
        </p:txBody>
      </p:sp>
      <p:sp>
        <p:nvSpPr>
          <p:cNvPr id="29" name="Text 27"/>
          <p:cNvSpPr/>
          <p:nvPr/>
        </p:nvSpPr>
        <p:spPr>
          <a:xfrm>
            <a:off x="7726680" y="5431536"/>
            <a:ext cx="347472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Hybrid MongoDB / In-Memory Mock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731520" y="384048"/>
            <a:ext cx="7315200" cy="228600"/>
          </a:xfrm>
          <a:prstGeom prst="rect">
            <a:avLst/>
          </a:prstGeom>
          <a:noFill/>
          <a:ln/>
        </p:spPr>
        <p:txBody>
          <a:bodyPr wrap="square" lIns="0" tIns="0" rIns="0" bIns="0"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STATE OF THE ART</a:t>
            </a:r>
            <a:endParaRPr lang="en-US" sz="1000" dirty="0"/>
          </a:p>
        </p:txBody>
      </p:sp>
      <p:sp>
        <p:nvSpPr>
          <p:cNvPr id="3" name="Text 1"/>
          <p:cNvSpPr/>
          <p:nvPr/>
        </p:nvSpPr>
        <p:spPr>
          <a:xfrm>
            <a:off x="731520" y="621792"/>
            <a:ext cx="9601200" cy="43891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Literature Survey &amp; Research Gap Analysis</a:t>
            </a:r>
            <a:endParaRPr lang="en-US" sz="2200" dirty="0"/>
          </a:p>
        </p:txBody>
      </p:sp>
      <p:sp>
        <p:nvSpPr>
          <p:cNvPr id="4" name="Shape 2"/>
          <p:cNvSpPr/>
          <p:nvPr/>
        </p:nvSpPr>
        <p:spPr>
          <a:xfrm>
            <a:off x="731520" y="1143000"/>
            <a:ext cx="10725912" cy="18288"/>
          </a:xfrm>
          <a:prstGeom prst="rect">
            <a:avLst/>
          </a:prstGeom>
          <a:solidFill>
            <a:srgbClr val="28375C"/>
          </a:solidFill>
          <a:ln w="12700">
            <a:solidFill>
              <a:srgbClr val="28375C"/>
            </a:solidFill>
            <a:prstDash val="solid"/>
          </a:ln>
        </p:spPr>
      </p:sp>
      <p:sp>
        <p:nvSpPr>
          <p:cNvPr id="5" name="Text 3"/>
          <p:cNvSpPr/>
          <p:nvPr/>
        </p:nvSpPr>
        <p:spPr>
          <a:xfrm>
            <a:off x="731520" y="6355080"/>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ALTS | AI-Powered Campus Placement &amp; Applicant Tracking Portal</a:t>
            </a:r>
            <a:endParaRPr lang="en-US" sz="950" dirty="0"/>
          </a:p>
        </p:txBody>
      </p:sp>
      <p:sp>
        <p:nvSpPr>
          <p:cNvPr id="6" name="Text 4"/>
          <p:cNvSpPr/>
          <p:nvPr/>
        </p:nvSpPr>
        <p:spPr>
          <a:xfrm>
            <a:off x="8714232" y="6355080"/>
            <a:ext cx="2743200" cy="22860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Slide 6 of 13</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353312"/>
          <a:ext cx="10725912" cy="2743200"/>
        </p:xfrm>
        <a:graphic>
          <a:graphicData uri="http://schemas.openxmlformats.org/drawingml/2006/table">
            <a:tbl>
              <a:tblPr/>
              <a:tblGrid>
                <a:gridCol w="2377440"/>
                <a:gridCol w="2651760"/>
                <a:gridCol w="2651760"/>
                <a:gridCol w="3044952"/>
              </a:tblGrid>
              <a:tr h="45720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Evaluation Dimension</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solidFill>
                      <a:srgbClr val="1B2544"/>
                    </a:solidFill>
                  </a:tcPr>
                </a:tc>
                <a:tc>
                  <a:txBody>
                    <a:bodyPr/>
                    <a:lstStyle/>
                    <a:p>
                      <a:pPr algn="l" indent="0" marL="0">
                        <a:buNone/>
                      </a:pPr>
                      <a:r>
                        <a:rPr lang="en-US" sz="1000" b="1" dirty="0">
                          <a:solidFill>
                            <a:srgbClr val="94A3B8"/>
                          </a:solidFill>
                          <a:latin typeface="Calibri" pitchFamily="34" charset="0"/>
                          <a:ea typeface="Calibri" pitchFamily="34" charset="-122"/>
                          <a:cs typeface="Calibri" pitchFamily="34" charset="-120"/>
                        </a:rPr>
                        <a:t>Legacy University ERPs</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solidFill>
                      <a:srgbClr val="1B2544"/>
                    </a:solidFill>
                  </a:tcPr>
                </a:tc>
                <a:tc>
                  <a:txBody>
                    <a:bodyPr/>
                    <a:lstStyle/>
                    <a:p>
                      <a:pPr algn="l" indent="0" marL="0">
                        <a:buNone/>
                      </a:pPr>
                      <a:r>
                        <a:rPr lang="en-US" sz="1000" b="1" dirty="0">
                          <a:solidFill>
                            <a:srgbClr val="94A3B8"/>
                          </a:solidFill>
                          <a:latin typeface="Calibri" pitchFamily="34" charset="0"/>
                          <a:ea typeface="Calibri" pitchFamily="34" charset="-122"/>
                          <a:cs typeface="Calibri" pitchFamily="34" charset="-120"/>
                        </a:rPr>
                        <a:t>Commercial Enterprise ATS</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solidFill>
                      <a:srgbClr val="1B2544"/>
                    </a:solidFill>
                  </a:tcPr>
                </a:tc>
                <a:tc>
                  <a:txBody>
                    <a:bodyPr/>
                    <a:lstStyle/>
                    <a:p>
                      <a:pPr algn="l" indent="0" marL="0">
                        <a:buNone/>
                      </a:pPr>
                      <a:r>
                        <a:rPr lang="en-US" sz="1000" b="1" dirty="0">
                          <a:solidFill>
                            <a:srgbClr val="38BDF8"/>
                          </a:solidFill>
                          <a:latin typeface="Calibri" pitchFamily="34" charset="0"/>
                          <a:ea typeface="Calibri" pitchFamily="34" charset="-122"/>
                          <a:cs typeface="Calibri" pitchFamily="34" charset="-120"/>
                        </a:rPr>
                        <a:t>Proposed ALTS Portal</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solidFill>
                      <a:srgbClr val="1A2C55"/>
                    </a:solidFill>
                  </a:tcPr>
                </a:tc>
              </a:tr>
              <a:tr h="45720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Resume Parsing &amp; Ingestion</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1000" dirty="0">
                          <a:solidFill>
                            <a:srgbClr val="94A3B8"/>
                          </a:solidFill>
                          <a:latin typeface="Calibri" pitchFamily="34" charset="0"/>
                          <a:ea typeface="Calibri" pitchFamily="34" charset="-122"/>
                          <a:cs typeface="Calibri" pitchFamily="34" charset="-120"/>
                        </a:rPr>
                        <a:t>Manual download only</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1000" dirty="0">
                          <a:solidFill>
                            <a:srgbClr val="94A3B8"/>
                          </a:solidFill>
                          <a:latin typeface="Calibri" pitchFamily="34" charset="0"/>
                          <a:ea typeface="Calibri" pitchFamily="34" charset="-122"/>
                          <a:cs typeface="Calibri" pitchFamily="34" charset="-120"/>
                        </a:rPr>
                        <a:t>Proprietary AI / Paid API</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1000" b="1" dirty="0">
                          <a:solidFill>
                            <a:srgbClr val="34D399"/>
                          </a:solidFill>
                          <a:latin typeface="Calibri" pitchFamily="34" charset="0"/>
                          <a:ea typeface="Calibri" pitchFamily="34" charset="-122"/>
                          <a:cs typeface="Calibri" pitchFamily="34" charset="-120"/>
                        </a:rPr>
                        <a:t>Native Local Stream (PDF / Word)</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r>
              <a:tr h="45720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Applicant Match Scoring</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1000" dirty="0">
                          <a:solidFill>
                            <a:srgbClr val="94A3B8"/>
                          </a:solidFill>
                          <a:latin typeface="Calibri" pitchFamily="34" charset="0"/>
                          <a:ea typeface="Calibri" pitchFamily="34" charset="-122"/>
                          <a:cs typeface="Calibri" pitchFamily="34" charset="-120"/>
                        </a:rPr>
                        <a:t>None (Manual filter)</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1000" dirty="0">
                          <a:solidFill>
                            <a:srgbClr val="94A3B8"/>
                          </a:solidFill>
                          <a:latin typeface="Calibri" pitchFamily="34" charset="0"/>
                          <a:ea typeface="Calibri" pitchFamily="34" charset="-122"/>
                          <a:cs typeface="Calibri" pitchFamily="34" charset="-120"/>
                        </a:rPr>
                        <a:t>Black-box neural ranking</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1000" b="1" dirty="0">
                          <a:solidFill>
                            <a:srgbClr val="34D399"/>
                          </a:solidFill>
                          <a:latin typeface="Calibri" pitchFamily="34" charset="0"/>
                          <a:ea typeface="Calibri" pitchFamily="34" charset="-122"/>
                          <a:cs typeface="Calibri" pitchFamily="34" charset="-120"/>
                        </a:rPr>
                        <a:t>Explainable ATS + CGPA Bonus</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r>
              <a:tr h="45720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Candidate Skill Gap Feedback</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1000" dirty="0">
                          <a:solidFill>
                            <a:srgbClr val="F87171"/>
                          </a:solidFill>
                          <a:latin typeface="Calibri" pitchFamily="34" charset="0"/>
                          <a:ea typeface="Calibri" pitchFamily="34" charset="-122"/>
                          <a:cs typeface="Calibri" pitchFamily="34" charset="-120"/>
                        </a:rPr>
                        <a:t>Absent (Silent rejection)</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1000" dirty="0">
                          <a:solidFill>
                            <a:srgbClr val="F87171"/>
                          </a:solidFill>
                          <a:latin typeface="Calibri" pitchFamily="34" charset="0"/>
                          <a:ea typeface="Calibri" pitchFamily="34" charset="-122"/>
                          <a:cs typeface="Calibri" pitchFamily="34" charset="-120"/>
                        </a:rPr>
                        <a:t>Absent (Recruiter-facing only)</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1000" b="1" dirty="0">
                          <a:solidFill>
                            <a:srgbClr val="34D399"/>
                          </a:solidFill>
                          <a:latin typeface="Calibri" pitchFamily="34" charset="0"/>
                          <a:ea typeface="Calibri" pitchFamily="34" charset="-122"/>
                          <a:cs typeface="Calibri" pitchFamily="34" charset="-120"/>
                        </a:rPr>
                        <a:t>Actionable Student Diagnostics</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r>
              <a:tr h="45720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Inline Document Preview</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1000" dirty="0">
                          <a:solidFill>
                            <a:srgbClr val="94A3B8"/>
                          </a:solidFill>
                          <a:latin typeface="Calibri" pitchFamily="34" charset="0"/>
                          <a:ea typeface="Calibri" pitchFamily="34" charset="-122"/>
                          <a:cs typeface="Calibri" pitchFamily="34" charset="-120"/>
                        </a:rPr>
                        <a:t>Not supported</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1000" dirty="0">
                          <a:solidFill>
                            <a:srgbClr val="94A3B8"/>
                          </a:solidFill>
                          <a:latin typeface="Calibri" pitchFamily="34" charset="0"/>
                          <a:ea typeface="Calibri" pitchFamily="34" charset="-122"/>
                          <a:cs typeface="Calibri" pitchFamily="34" charset="-120"/>
                        </a:rPr>
                        <a:t>Supported via cloud storage</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1000" b="1" dirty="0">
                          <a:solidFill>
                            <a:srgbClr val="34D399"/>
                          </a:solidFill>
                          <a:latin typeface="Calibri" pitchFamily="34" charset="0"/>
                          <a:ea typeface="Calibri" pitchFamily="34" charset="-122"/>
                          <a:cs typeface="Calibri" pitchFamily="34" charset="-120"/>
                        </a:rPr>
                        <a:t>Built-in Mammoth / PDF Streamer</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r>
              <a:tr h="45720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Licensing &amp; Infrastructure Cost</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1000" dirty="0">
                          <a:solidFill>
                            <a:srgbClr val="94A3B8"/>
                          </a:solidFill>
                          <a:latin typeface="Calibri" pitchFamily="34" charset="0"/>
                          <a:ea typeface="Calibri" pitchFamily="34" charset="-122"/>
                          <a:cs typeface="Calibri" pitchFamily="34" charset="-120"/>
                        </a:rPr>
                        <a:t>High Annual Maintenance</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1000" dirty="0">
                          <a:solidFill>
                            <a:srgbClr val="F87171"/>
                          </a:solidFill>
                          <a:latin typeface="Calibri" pitchFamily="34" charset="0"/>
                          <a:ea typeface="Calibri" pitchFamily="34" charset="-122"/>
                          <a:cs typeface="Calibri" pitchFamily="34" charset="-120"/>
                        </a:rPr>
                        <a:t>Expensive SaaS subscription ($$$)</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1000" b="1" dirty="0">
                          <a:solidFill>
                            <a:srgbClr val="34D399"/>
                          </a:solidFill>
                          <a:latin typeface="Calibri" pitchFamily="34" charset="0"/>
                          <a:ea typeface="Calibri" pitchFamily="34" charset="-122"/>
                          <a:cs typeface="Calibri" pitchFamily="34" charset="-120"/>
                        </a:rPr>
                        <a:t>100% Open Source / Self-Hosted</a:t>
                      </a:r>
                      <a:endParaRPr lang="en-US" sz="100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r>
            </a:tbl>
          </a:graphicData>
        </a:graphic>
      </p:graphicFrame>
      <p:sp>
        <p:nvSpPr>
          <p:cNvPr id="8" name="Shape 5"/>
          <p:cNvSpPr/>
          <p:nvPr/>
        </p:nvSpPr>
        <p:spPr>
          <a:xfrm>
            <a:off x="731520" y="4343400"/>
            <a:ext cx="10725912" cy="1737360"/>
          </a:xfrm>
          <a:prstGeom prst="roundRect">
            <a:avLst>
              <a:gd name="adj" fmla="val 4211"/>
            </a:avLst>
          </a:prstGeom>
          <a:solidFill>
            <a:srgbClr val="141C33"/>
          </a:solidFill>
          <a:ln w="12700">
            <a:solidFill>
              <a:srgbClr val="28375C"/>
            </a:solidFill>
            <a:prstDash val="solid"/>
          </a:ln>
        </p:spPr>
      </p:sp>
      <p:sp>
        <p:nvSpPr>
          <p:cNvPr id="9" name="Text 6"/>
          <p:cNvSpPr/>
          <p:nvPr/>
        </p:nvSpPr>
        <p:spPr>
          <a:xfrm>
            <a:off x="1005840" y="4526280"/>
            <a:ext cx="10149840" cy="256032"/>
          </a:xfrm>
          <a:prstGeom prst="rect">
            <a:avLst/>
          </a:prstGeom>
          <a:noFill/>
          <a:ln/>
        </p:spPr>
        <p:txBody>
          <a:bodyPr wrap="square" lIns="0" tIns="0" rIns="0" bIns="0" rtlCol="0" anchor="ctr"/>
          <a:lstStyle/>
          <a:p>
            <a:pPr indent="0" marL="0">
              <a:buNone/>
            </a:pPr>
            <a:r>
              <a:rPr lang="en-US" sz="1100" b="1" spc="150" kern="0" dirty="0">
                <a:solidFill>
                  <a:srgbClr val="FBBF24"/>
                </a:solidFill>
                <a:latin typeface="Calibri" pitchFamily="34" charset="0"/>
                <a:ea typeface="Calibri" pitchFamily="34" charset="-122"/>
                <a:cs typeface="Calibri" pitchFamily="34" charset="-120"/>
              </a:rPr>
              <a:t>IDENTIFIED RESEARCH GAP &amp; SYSTEM CONTRIBUTION</a:t>
            </a:r>
            <a:endParaRPr lang="en-US" sz="1100" dirty="0"/>
          </a:p>
        </p:txBody>
      </p:sp>
      <p:sp>
        <p:nvSpPr>
          <p:cNvPr id="10" name="Text 7"/>
          <p:cNvSpPr/>
          <p:nvPr/>
        </p:nvSpPr>
        <p:spPr>
          <a:xfrm>
            <a:off x="1005840" y="4800600"/>
            <a:ext cx="10149840" cy="11430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Gap in Existing Solutions: </a:t>
            </a:r>
            <a:pPr indent="0" marL="0">
              <a:buNone/>
            </a:pPr>
            <a:r>
              <a:rPr lang="en-US" sz="1000" dirty="0">
                <a:solidFill>
                  <a:srgbClr val="94A3B8"/>
                </a:solidFill>
                <a:latin typeface="Calibri" pitchFamily="34" charset="0"/>
                <a:ea typeface="Calibri" pitchFamily="34" charset="-122"/>
                <a:cs typeface="Calibri" pitchFamily="34" charset="-120"/>
              </a:rPr>
              <a:t>Commercial enterprise ATS tools ignore the academic constraints of collegiate hiring (CGPA cutoffs, batch graduation years, branch exclusions), while university ERPs remain passive file repositories without automated intelligence.
</a:t>
            </a:r>
            <a:pPr indent="0" marL="0">
              <a:buNone/>
            </a:pPr>
            <a:r>
              <a:rPr lang="en-US" sz="1100" b="1" dirty="0">
                <a:solidFill>
                  <a:srgbClr val="34D399"/>
                </a:solidFill>
                <a:latin typeface="Calibri" pitchFamily="34" charset="0"/>
                <a:ea typeface="Calibri" pitchFamily="34" charset="-122"/>
                <a:cs typeface="Calibri" pitchFamily="34" charset="-120"/>
              </a:rPr>
              <a:t>• ALTS System Contribution: </a:t>
            </a:r>
            <a:pPr indent="0" marL="0">
              <a:buNone/>
            </a:pPr>
            <a:r>
              <a:rPr lang="en-US" sz="1000" dirty="0">
                <a:solidFill>
                  <a:srgbClr val="FFFFFF"/>
                </a:solidFill>
                <a:latin typeface="Calibri" pitchFamily="34" charset="0"/>
                <a:ea typeface="Calibri" pitchFamily="34" charset="-122"/>
                <a:cs typeface="Calibri" pitchFamily="34" charset="-120"/>
              </a:rPr>
              <a:t>Unifies lightweight local document normalization, transparent explainable scoring algorithms, and instant bi-directional recruiter-student feedback loops with zero SaaS subscription overhead.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731520" y="384048"/>
            <a:ext cx="7315200" cy="228600"/>
          </a:xfrm>
          <a:prstGeom prst="rect">
            <a:avLst/>
          </a:prstGeom>
          <a:noFill/>
          <a:ln/>
        </p:spPr>
        <p:txBody>
          <a:bodyPr wrap="square" lIns="0" tIns="0" rIns="0" bIns="0"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SYSTEM DESIGN</a:t>
            </a:r>
            <a:endParaRPr lang="en-US" sz="1000" dirty="0"/>
          </a:p>
        </p:txBody>
      </p:sp>
      <p:sp>
        <p:nvSpPr>
          <p:cNvPr id="3" name="Text 1"/>
          <p:cNvSpPr/>
          <p:nvPr/>
        </p:nvSpPr>
        <p:spPr>
          <a:xfrm>
            <a:off x="731520" y="621792"/>
            <a:ext cx="9601200" cy="43891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System Architecture &amp; High-Level Framework</a:t>
            </a:r>
            <a:endParaRPr lang="en-US" sz="2200" dirty="0"/>
          </a:p>
        </p:txBody>
      </p:sp>
      <p:sp>
        <p:nvSpPr>
          <p:cNvPr id="4" name="Shape 2"/>
          <p:cNvSpPr/>
          <p:nvPr/>
        </p:nvSpPr>
        <p:spPr>
          <a:xfrm>
            <a:off x="731520" y="1143000"/>
            <a:ext cx="10725912" cy="18288"/>
          </a:xfrm>
          <a:prstGeom prst="rect">
            <a:avLst/>
          </a:prstGeom>
          <a:solidFill>
            <a:srgbClr val="28375C"/>
          </a:solidFill>
          <a:ln w="12700">
            <a:solidFill>
              <a:srgbClr val="28375C"/>
            </a:solidFill>
            <a:prstDash val="solid"/>
          </a:ln>
        </p:spPr>
      </p:sp>
      <p:sp>
        <p:nvSpPr>
          <p:cNvPr id="5" name="Text 3"/>
          <p:cNvSpPr/>
          <p:nvPr/>
        </p:nvSpPr>
        <p:spPr>
          <a:xfrm>
            <a:off x="731520" y="6355080"/>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ALTS | AI-Powered Campus Placement &amp; Applicant Tracking Portal</a:t>
            </a:r>
            <a:endParaRPr lang="en-US" sz="950" dirty="0"/>
          </a:p>
        </p:txBody>
      </p:sp>
      <p:sp>
        <p:nvSpPr>
          <p:cNvPr id="6" name="Text 4"/>
          <p:cNvSpPr/>
          <p:nvPr/>
        </p:nvSpPr>
        <p:spPr>
          <a:xfrm>
            <a:off x="8714232" y="6355080"/>
            <a:ext cx="2743200" cy="22860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Slide 7 of 13</a:t>
            </a:r>
            <a:endParaRPr lang="en-US" sz="950" dirty="0"/>
          </a:p>
        </p:txBody>
      </p:sp>
      <p:sp>
        <p:nvSpPr>
          <p:cNvPr id="7" name="Shape 5"/>
          <p:cNvSpPr/>
          <p:nvPr/>
        </p:nvSpPr>
        <p:spPr>
          <a:xfrm>
            <a:off x="731520" y="1353312"/>
            <a:ext cx="10725912" cy="1060704"/>
          </a:xfrm>
          <a:prstGeom prst="roundRect">
            <a:avLst>
              <a:gd name="adj" fmla="val 5172"/>
            </a:avLst>
          </a:prstGeom>
          <a:solidFill>
            <a:srgbClr val="141C33"/>
          </a:solidFill>
          <a:ln w="12700">
            <a:solidFill>
              <a:srgbClr val="28375C"/>
            </a:solidFill>
            <a:prstDash val="solid"/>
          </a:ln>
        </p:spPr>
      </p:sp>
      <p:sp>
        <p:nvSpPr>
          <p:cNvPr id="8" name="Text 6"/>
          <p:cNvSpPr/>
          <p:nvPr/>
        </p:nvSpPr>
        <p:spPr>
          <a:xfrm>
            <a:off x="960120" y="1463040"/>
            <a:ext cx="4389120" cy="228600"/>
          </a:xfrm>
          <a:prstGeom prst="rect">
            <a:avLst/>
          </a:prstGeom>
          <a:noFill/>
          <a:ln/>
        </p:spPr>
        <p:txBody>
          <a:bodyPr wrap="square" lIns="0" tIns="0" rIns="0" bIns="0" rtlCol="0" anchor="ctr"/>
          <a:lstStyle/>
          <a:p>
            <a:pPr indent="0" marL="0">
              <a:buNone/>
            </a:pPr>
            <a:r>
              <a:rPr lang="en-US" sz="1050" b="1" spc="100" kern="0" dirty="0">
                <a:solidFill>
                  <a:srgbClr val="38BDF8"/>
                </a:solidFill>
                <a:latin typeface="Calibri" pitchFamily="34" charset="0"/>
                <a:ea typeface="Calibri" pitchFamily="34" charset="-122"/>
                <a:cs typeface="Calibri" pitchFamily="34" charset="-120"/>
              </a:rPr>
              <a:t>TIER 1 : CLIENT PRESENTATION LAYER</a:t>
            </a:r>
            <a:endParaRPr lang="en-US" sz="1050" dirty="0"/>
          </a:p>
        </p:txBody>
      </p:sp>
      <p:sp>
        <p:nvSpPr>
          <p:cNvPr id="9" name="Text 7"/>
          <p:cNvSpPr/>
          <p:nvPr/>
        </p:nvSpPr>
        <p:spPr>
          <a:xfrm>
            <a:off x="5486400" y="1463040"/>
            <a:ext cx="5715000" cy="228600"/>
          </a:xfrm>
          <a:prstGeom prst="rect">
            <a:avLst/>
          </a:prstGeom>
          <a:noFill/>
          <a:ln/>
        </p:spPr>
        <p:txBody>
          <a:bodyPr wrap="square" lIns="0" tIns="0" rIns="0" bIns="0" rtlCol="0" anchor="ctr"/>
          <a:lstStyle/>
          <a:p>
            <a:pPr algn="r" indent="0" marL="0">
              <a:buNone/>
            </a:pPr>
            <a:r>
              <a:rPr lang="en-US" sz="950" b="1" dirty="0">
                <a:solidFill>
                  <a:srgbClr val="94A3B8"/>
                </a:solidFill>
                <a:latin typeface="Calibri" pitchFamily="34" charset="0"/>
                <a:ea typeface="Calibri" pitchFamily="34" charset="-122"/>
                <a:cs typeface="Calibri" pitchFamily="34" charset="-120"/>
              </a:rPr>
              <a:t>React 18 + Vite | Context API | Framer Motion | Recharts</a:t>
            </a:r>
            <a:endParaRPr lang="en-US" sz="950" dirty="0"/>
          </a:p>
        </p:txBody>
      </p:sp>
      <p:sp>
        <p:nvSpPr>
          <p:cNvPr id="10" name="Shape 8"/>
          <p:cNvSpPr/>
          <p:nvPr/>
        </p:nvSpPr>
        <p:spPr>
          <a:xfrm>
            <a:off x="960120" y="1719072"/>
            <a:ext cx="10268712" cy="9144"/>
          </a:xfrm>
          <a:prstGeom prst="rect">
            <a:avLst/>
          </a:prstGeom>
          <a:solidFill>
            <a:srgbClr val="28375C"/>
          </a:solidFill>
          <a:ln w="12700">
            <a:solidFill>
              <a:srgbClr val="28375C"/>
            </a:solidFill>
            <a:prstDash val="solid"/>
          </a:ln>
        </p:spPr>
      </p:sp>
      <p:sp>
        <p:nvSpPr>
          <p:cNvPr id="11" name="Text 9"/>
          <p:cNvSpPr/>
          <p:nvPr/>
        </p:nvSpPr>
        <p:spPr>
          <a:xfrm>
            <a:off x="960120" y="1773936"/>
            <a:ext cx="10268712" cy="56692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Student Workspace: Resume Builder, Portfolio Generator, Application Status Tracker
</a:t>
            </a:r>
            <a:pPr indent="0" marL="0">
              <a:buNone/>
            </a:pPr>
            <a:r>
              <a:rPr lang="en-US" sz="950" dirty="0">
                <a:solidFill>
                  <a:srgbClr val="FFFFFF"/>
                </a:solidFill>
                <a:latin typeface="Calibri" pitchFamily="34" charset="0"/>
                <a:ea typeface="Calibri" pitchFamily="34" charset="-122"/>
                <a:cs typeface="Calibri" pitchFamily="34" charset="-120"/>
              </a:rPr>
              <a:t>• Recruiter Dashboard: ATS Pipeline Kanban, Inline Document Viewer, Analytics Hub
</a:t>
            </a:r>
            <a:pPr indent="0" marL="0">
              <a:buNone/>
            </a:pPr>
            <a:r>
              <a:rPr lang="en-US" sz="950" dirty="0">
                <a:solidFill>
                  <a:srgbClr val="FFFFFF"/>
                </a:solidFill>
                <a:latin typeface="Calibri" pitchFamily="34" charset="0"/>
                <a:ea typeface="Calibri" pitchFamily="34" charset="-122"/>
                <a:cs typeface="Calibri" pitchFamily="34" charset="-120"/>
              </a:rPr>
              <a:t>• Admin Console: Institutional Drive Management &amp; Centralized User Moderation
</a:t>
            </a:r>
            <a:endParaRPr lang="en-US" sz="950" dirty="0"/>
          </a:p>
        </p:txBody>
      </p:sp>
      <p:sp>
        <p:nvSpPr>
          <p:cNvPr id="12" name="Shape 10"/>
          <p:cNvSpPr/>
          <p:nvPr/>
        </p:nvSpPr>
        <p:spPr>
          <a:xfrm>
            <a:off x="731520" y="2523744"/>
            <a:ext cx="10725912" cy="1060704"/>
          </a:xfrm>
          <a:prstGeom prst="roundRect">
            <a:avLst>
              <a:gd name="adj" fmla="val 5172"/>
            </a:avLst>
          </a:prstGeom>
          <a:solidFill>
            <a:srgbClr val="141C33"/>
          </a:solidFill>
          <a:ln w="12700">
            <a:solidFill>
              <a:srgbClr val="28375C"/>
            </a:solidFill>
            <a:prstDash val="solid"/>
          </a:ln>
        </p:spPr>
      </p:sp>
      <p:sp>
        <p:nvSpPr>
          <p:cNvPr id="13" name="Text 11"/>
          <p:cNvSpPr/>
          <p:nvPr/>
        </p:nvSpPr>
        <p:spPr>
          <a:xfrm>
            <a:off x="960120" y="2633472"/>
            <a:ext cx="4389120" cy="228600"/>
          </a:xfrm>
          <a:prstGeom prst="rect">
            <a:avLst/>
          </a:prstGeom>
          <a:noFill/>
          <a:ln/>
        </p:spPr>
        <p:txBody>
          <a:bodyPr wrap="square" lIns="0" tIns="0" rIns="0" bIns="0" rtlCol="0" anchor="ctr"/>
          <a:lstStyle/>
          <a:p>
            <a:pPr indent="0" marL="0">
              <a:buNone/>
            </a:pPr>
            <a:r>
              <a:rPr lang="en-US" sz="1050" b="1" spc="100" kern="0" dirty="0">
                <a:solidFill>
                  <a:srgbClr val="818CF8"/>
                </a:solidFill>
                <a:latin typeface="Calibri" pitchFamily="34" charset="0"/>
                <a:ea typeface="Calibri" pitchFamily="34" charset="-122"/>
                <a:cs typeface="Calibri" pitchFamily="34" charset="-120"/>
              </a:rPr>
              <a:t>TIER 2 : REST API &amp; SECURITY GATEWAY</a:t>
            </a:r>
            <a:endParaRPr lang="en-US" sz="1050" dirty="0"/>
          </a:p>
        </p:txBody>
      </p:sp>
      <p:sp>
        <p:nvSpPr>
          <p:cNvPr id="14" name="Text 12"/>
          <p:cNvSpPr/>
          <p:nvPr/>
        </p:nvSpPr>
        <p:spPr>
          <a:xfrm>
            <a:off x="5486400" y="2633472"/>
            <a:ext cx="5715000" cy="228600"/>
          </a:xfrm>
          <a:prstGeom prst="rect">
            <a:avLst/>
          </a:prstGeom>
          <a:noFill/>
          <a:ln/>
        </p:spPr>
        <p:txBody>
          <a:bodyPr wrap="square" lIns="0" tIns="0" rIns="0" bIns="0" rtlCol="0" anchor="ctr"/>
          <a:lstStyle/>
          <a:p>
            <a:pPr algn="r" indent="0" marL="0">
              <a:buNone/>
            </a:pPr>
            <a:r>
              <a:rPr lang="en-US" sz="950" b="1" dirty="0">
                <a:solidFill>
                  <a:srgbClr val="94A3B8"/>
                </a:solidFill>
                <a:latin typeface="Calibri" pitchFamily="34" charset="0"/>
                <a:ea typeface="Calibri" pitchFamily="34" charset="-122"/>
                <a:cs typeface="Calibri" pitchFamily="34" charset="-120"/>
              </a:rPr>
              <a:t>Node.js + Express.js | JWT Auth | RBAC Middleware | Multer</a:t>
            </a:r>
            <a:endParaRPr lang="en-US" sz="950" dirty="0"/>
          </a:p>
        </p:txBody>
      </p:sp>
      <p:sp>
        <p:nvSpPr>
          <p:cNvPr id="15" name="Shape 13"/>
          <p:cNvSpPr/>
          <p:nvPr/>
        </p:nvSpPr>
        <p:spPr>
          <a:xfrm>
            <a:off x="960120" y="2889504"/>
            <a:ext cx="10268712" cy="9144"/>
          </a:xfrm>
          <a:prstGeom prst="rect">
            <a:avLst/>
          </a:prstGeom>
          <a:solidFill>
            <a:srgbClr val="28375C"/>
          </a:solidFill>
          <a:ln w="12700">
            <a:solidFill>
              <a:srgbClr val="28375C"/>
            </a:solidFill>
            <a:prstDash val="solid"/>
          </a:ln>
        </p:spPr>
      </p:sp>
      <p:sp>
        <p:nvSpPr>
          <p:cNvPr id="16" name="Text 14"/>
          <p:cNvSpPr/>
          <p:nvPr/>
        </p:nvSpPr>
        <p:spPr>
          <a:xfrm>
            <a:off x="960120" y="2944368"/>
            <a:ext cx="10268712" cy="56692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Stateless Bearer Token Authorization &amp; Protected Role-Based Route Security
</a:t>
            </a:r>
            <a:pPr indent="0" marL="0">
              <a:buNone/>
            </a:pPr>
            <a:r>
              <a:rPr lang="en-US" sz="950" dirty="0">
                <a:solidFill>
                  <a:srgbClr val="FFFFFF"/>
                </a:solidFill>
                <a:latin typeface="Calibri" pitchFamily="34" charset="0"/>
                <a:ea typeface="Calibri" pitchFamily="34" charset="-122"/>
                <a:cs typeface="Calibri" pitchFamily="34" charset="-120"/>
              </a:rPr>
              <a:t>• Multi-part Binary Upload Handling with Strict MIME Validation (PDF / DOCX)
</a:t>
            </a:r>
            <a:pPr indent="0" marL="0">
              <a:buNone/>
            </a:pPr>
            <a:r>
              <a:rPr lang="en-US" sz="950" dirty="0">
                <a:solidFill>
                  <a:srgbClr val="FFFFFF"/>
                </a:solidFill>
                <a:latin typeface="Calibri" pitchFamily="34" charset="0"/>
                <a:ea typeface="Calibri" pitchFamily="34" charset="-122"/>
                <a:cs typeface="Calibri" pitchFamily="34" charset="-120"/>
              </a:rPr>
              <a:t>• Health-check probes &amp; asynchronous request routing
</a:t>
            </a:r>
            <a:endParaRPr lang="en-US" sz="950" dirty="0"/>
          </a:p>
        </p:txBody>
      </p:sp>
      <p:sp>
        <p:nvSpPr>
          <p:cNvPr id="17" name="Shape 15"/>
          <p:cNvSpPr/>
          <p:nvPr/>
        </p:nvSpPr>
        <p:spPr>
          <a:xfrm>
            <a:off x="731520" y="3694176"/>
            <a:ext cx="10725912" cy="1060704"/>
          </a:xfrm>
          <a:prstGeom prst="roundRect">
            <a:avLst>
              <a:gd name="adj" fmla="val 5172"/>
            </a:avLst>
          </a:prstGeom>
          <a:solidFill>
            <a:srgbClr val="141C33"/>
          </a:solidFill>
          <a:ln w="12700">
            <a:solidFill>
              <a:srgbClr val="28375C"/>
            </a:solidFill>
            <a:prstDash val="solid"/>
          </a:ln>
        </p:spPr>
      </p:sp>
      <p:sp>
        <p:nvSpPr>
          <p:cNvPr id="18" name="Text 16"/>
          <p:cNvSpPr/>
          <p:nvPr/>
        </p:nvSpPr>
        <p:spPr>
          <a:xfrm>
            <a:off x="960120" y="3803904"/>
            <a:ext cx="4389120" cy="228600"/>
          </a:xfrm>
          <a:prstGeom prst="rect">
            <a:avLst/>
          </a:prstGeom>
          <a:noFill/>
          <a:ln/>
        </p:spPr>
        <p:txBody>
          <a:bodyPr wrap="square" lIns="0" tIns="0" rIns="0" bIns="0" rtlCol="0" anchor="ctr"/>
          <a:lstStyle/>
          <a:p>
            <a:pPr indent="0" marL="0">
              <a:buNone/>
            </a:pPr>
            <a:r>
              <a:rPr lang="en-US" sz="1050" b="1" spc="100" kern="0" dirty="0">
                <a:solidFill>
                  <a:srgbClr val="34D399"/>
                </a:solidFill>
                <a:latin typeface="Calibri" pitchFamily="34" charset="0"/>
                <a:ea typeface="Calibri" pitchFamily="34" charset="-122"/>
                <a:cs typeface="Calibri" pitchFamily="34" charset="-120"/>
              </a:rPr>
              <a:t>TIER 3 : AI PROCESSING &amp; UTILITY ENGINE</a:t>
            </a:r>
            <a:endParaRPr lang="en-US" sz="1050" dirty="0"/>
          </a:p>
        </p:txBody>
      </p:sp>
      <p:sp>
        <p:nvSpPr>
          <p:cNvPr id="19" name="Text 17"/>
          <p:cNvSpPr/>
          <p:nvPr/>
        </p:nvSpPr>
        <p:spPr>
          <a:xfrm>
            <a:off x="5486400" y="3803904"/>
            <a:ext cx="5715000" cy="228600"/>
          </a:xfrm>
          <a:prstGeom prst="rect">
            <a:avLst/>
          </a:prstGeom>
          <a:noFill/>
          <a:ln/>
        </p:spPr>
        <p:txBody>
          <a:bodyPr wrap="square" lIns="0" tIns="0" rIns="0" bIns="0" rtlCol="0" anchor="ctr"/>
          <a:lstStyle/>
          <a:p>
            <a:pPr algn="r" indent="0" marL="0">
              <a:buNone/>
            </a:pPr>
            <a:r>
              <a:rPr lang="en-US" sz="950" b="1" dirty="0">
                <a:solidFill>
                  <a:srgbClr val="94A3B8"/>
                </a:solidFill>
                <a:latin typeface="Calibri" pitchFamily="34" charset="0"/>
                <a:ea typeface="Calibri" pitchFamily="34" charset="-122"/>
                <a:cs typeface="Calibri" pitchFamily="34" charset="-120"/>
              </a:rPr>
              <a:t>pdf-parse | Mammoth HTML Transpiler | Nodemailer Service</a:t>
            </a:r>
            <a:endParaRPr lang="en-US" sz="950" dirty="0"/>
          </a:p>
        </p:txBody>
      </p:sp>
      <p:sp>
        <p:nvSpPr>
          <p:cNvPr id="20" name="Shape 18"/>
          <p:cNvSpPr/>
          <p:nvPr/>
        </p:nvSpPr>
        <p:spPr>
          <a:xfrm>
            <a:off x="960120" y="4059936"/>
            <a:ext cx="10268712" cy="9144"/>
          </a:xfrm>
          <a:prstGeom prst="rect">
            <a:avLst/>
          </a:prstGeom>
          <a:solidFill>
            <a:srgbClr val="28375C"/>
          </a:solidFill>
          <a:ln w="12700">
            <a:solidFill>
              <a:srgbClr val="28375C"/>
            </a:solidFill>
            <a:prstDash val="solid"/>
          </a:ln>
        </p:spPr>
      </p:sp>
      <p:sp>
        <p:nvSpPr>
          <p:cNvPr id="21" name="Text 19"/>
          <p:cNvSpPr/>
          <p:nvPr/>
        </p:nvSpPr>
        <p:spPr>
          <a:xfrm>
            <a:off x="960120" y="4114800"/>
            <a:ext cx="10268712" cy="56692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Binary text extraction &amp; regex-based section segmentation
</a:t>
            </a:r>
            <a:pPr indent="0" marL="0">
              <a:buNone/>
            </a:pPr>
            <a:r>
              <a:rPr lang="en-US" sz="950" dirty="0">
                <a:solidFill>
                  <a:srgbClr val="FFFFFF"/>
                </a:solidFill>
                <a:latin typeface="Calibri" pitchFamily="34" charset="0"/>
                <a:ea typeface="Calibri" pitchFamily="34" charset="-122"/>
                <a:cs typeface="Calibri" pitchFamily="34" charset="-120"/>
              </a:rPr>
              <a:t>• Match Score Matrix Engine &amp; Industry Keyword Gap Analyzer
</a:t>
            </a:r>
            <a:pPr indent="0" marL="0">
              <a:buNone/>
            </a:pPr>
            <a:r>
              <a:rPr lang="en-US" sz="950" dirty="0">
                <a:solidFill>
                  <a:srgbClr val="FFFFFF"/>
                </a:solidFill>
                <a:latin typeface="Calibri" pitchFamily="34" charset="0"/>
                <a:ea typeface="Calibri" pitchFamily="34" charset="-122"/>
                <a:cs typeface="Calibri" pitchFamily="34" charset="-120"/>
              </a:rPr>
              <a:t>• Event-driven SMTP transactional email dispatcher
</a:t>
            </a:r>
            <a:endParaRPr lang="en-US" sz="950" dirty="0"/>
          </a:p>
        </p:txBody>
      </p:sp>
      <p:sp>
        <p:nvSpPr>
          <p:cNvPr id="22" name="Shape 20"/>
          <p:cNvSpPr/>
          <p:nvPr/>
        </p:nvSpPr>
        <p:spPr>
          <a:xfrm>
            <a:off x="731520" y="4864608"/>
            <a:ext cx="10725912" cy="1060704"/>
          </a:xfrm>
          <a:prstGeom prst="roundRect">
            <a:avLst>
              <a:gd name="adj" fmla="val 5172"/>
            </a:avLst>
          </a:prstGeom>
          <a:solidFill>
            <a:srgbClr val="141C33"/>
          </a:solidFill>
          <a:ln w="12700">
            <a:solidFill>
              <a:srgbClr val="28375C"/>
            </a:solidFill>
            <a:prstDash val="solid"/>
          </a:ln>
        </p:spPr>
      </p:sp>
      <p:sp>
        <p:nvSpPr>
          <p:cNvPr id="23" name="Text 21"/>
          <p:cNvSpPr/>
          <p:nvPr/>
        </p:nvSpPr>
        <p:spPr>
          <a:xfrm>
            <a:off x="960120" y="4974336"/>
            <a:ext cx="4389120" cy="228600"/>
          </a:xfrm>
          <a:prstGeom prst="rect">
            <a:avLst/>
          </a:prstGeom>
          <a:noFill/>
          <a:ln/>
        </p:spPr>
        <p:txBody>
          <a:bodyPr wrap="square" lIns="0" tIns="0" rIns="0" bIns="0" rtlCol="0" anchor="ctr"/>
          <a:lstStyle/>
          <a:p>
            <a:pPr indent="0" marL="0">
              <a:buNone/>
            </a:pPr>
            <a:r>
              <a:rPr lang="en-US" sz="1050" b="1" spc="100" kern="0" dirty="0">
                <a:solidFill>
                  <a:srgbClr val="FBBF24"/>
                </a:solidFill>
                <a:latin typeface="Calibri" pitchFamily="34" charset="0"/>
                <a:ea typeface="Calibri" pitchFamily="34" charset="-122"/>
                <a:cs typeface="Calibri" pitchFamily="34" charset="-120"/>
              </a:rPr>
              <a:t>TIER 4 : HYBRID PERSISTENCE ENGINE</a:t>
            </a:r>
            <a:endParaRPr lang="en-US" sz="1050" dirty="0"/>
          </a:p>
        </p:txBody>
      </p:sp>
      <p:sp>
        <p:nvSpPr>
          <p:cNvPr id="24" name="Text 22"/>
          <p:cNvSpPr/>
          <p:nvPr/>
        </p:nvSpPr>
        <p:spPr>
          <a:xfrm>
            <a:off x="5486400" y="4974336"/>
            <a:ext cx="5715000" cy="228600"/>
          </a:xfrm>
          <a:prstGeom prst="rect">
            <a:avLst/>
          </a:prstGeom>
          <a:noFill/>
          <a:ln/>
        </p:spPr>
        <p:txBody>
          <a:bodyPr wrap="square" lIns="0" tIns="0" rIns="0" bIns="0" rtlCol="0" anchor="ctr"/>
          <a:lstStyle/>
          <a:p>
            <a:pPr algn="r" indent="0" marL="0">
              <a:buNone/>
            </a:pPr>
            <a:r>
              <a:rPr lang="en-US" sz="950" b="1" dirty="0">
                <a:solidFill>
                  <a:srgbClr val="94A3B8"/>
                </a:solidFill>
                <a:latin typeface="Calibri" pitchFamily="34" charset="0"/>
                <a:ea typeface="Calibri" pitchFamily="34" charset="-122"/>
                <a:cs typeface="Calibri" pitchFamily="34" charset="-120"/>
              </a:rPr>
              <a:t>MongoDB Atlas (Mongoose ODM) + Autonomous In-Memory Mock Store</a:t>
            </a:r>
            <a:endParaRPr lang="en-US" sz="950" dirty="0"/>
          </a:p>
        </p:txBody>
      </p:sp>
      <p:sp>
        <p:nvSpPr>
          <p:cNvPr id="25" name="Shape 23"/>
          <p:cNvSpPr/>
          <p:nvPr/>
        </p:nvSpPr>
        <p:spPr>
          <a:xfrm>
            <a:off x="960120" y="5230368"/>
            <a:ext cx="10268712" cy="9144"/>
          </a:xfrm>
          <a:prstGeom prst="rect">
            <a:avLst/>
          </a:prstGeom>
          <a:solidFill>
            <a:srgbClr val="28375C"/>
          </a:solidFill>
          <a:ln w="12700">
            <a:solidFill>
              <a:srgbClr val="28375C"/>
            </a:solidFill>
            <a:prstDash val="solid"/>
          </a:ln>
        </p:spPr>
      </p:sp>
      <p:sp>
        <p:nvSpPr>
          <p:cNvPr id="26" name="Text 24"/>
          <p:cNvSpPr/>
          <p:nvPr/>
        </p:nvSpPr>
        <p:spPr>
          <a:xfrm>
            <a:off x="960120" y="5285232"/>
            <a:ext cx="10268712" cy="56692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Strict Schema validation for Users, Jobs, Applications, Notifications
</a:t>
            </a:r>
            <a:pPr indent="0" marL="0">
              <a:buNone/>
            </a:pPr>
            <a:r>
              <a:rPr lang="en-US" sz="950" dirty="0">
                <a:solidFill>
                  <a:srgbClr val="FFFFFF"/>
                </a:solidFill>
                <a:latin typeface="Calibri" pitchFamily="34" charset="0"/>
                <a:ea typeface="Calibri" pitchFamily="34" charset="-122"/>
                <a:cs typeface="Calibri" pitchFamily="34" charset="-120"/>
              </a:rPr>
              <a:t>• Fault-tolerant auto-failover to in-memory mock state when DB is unreachable
</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731520" y="384048"/>
            <a:ext cx="7315200" cy="228600"/>
          </a:xfrm>
          <a:prstGeom prst="rect">
            <a:avLst/>
          </a:prstGeom>
          <a:noFill/>
          <a:ln/>
        </p:spPr>
        <p:txBody>
          <a:bodyPr wrap="square" lIns="0" tIns="0" rIns="0" bIns="0"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CORE ALGORITHMS</a:t>
            </a:r>
            <a:endParaRPr lang="en-US" sz="1000" dirty="0"/>
          </a:p>
        </p:txBody>
      </p:sp>
      <p:sp>
        <p:nvSpPr>
          <p:cNvPr id="3" name="Text 1"/>
          <p:cNvSpPr/>
          <p:nvPr/>
        </p:nvSpPr>
        <p:spPr>
          <a:xfrm>
            <a:off x="731520" y="621792"/>
            <a:ext cx="9601200" cy="43891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Methodology &amp; Mathematical Formulation</a:t>
            </a:r>
            <a:endParaRPr lang="en-US" sz="2200" dirty="0"/>
          </a:p>
        </p:txBody>
      </p:sp>
      <p:sp>
        <p:nvSpPr>
          <p:cNvPr id="4" name="Shape 2"/>
          <p:cNvSpPr/>
          <p:nvPr/>
        </p:nvSpPr>
        <p:spPr>
          <a:xfrm>
            <a:off x="731520" y="1143000"/>
            <a:ext cx="10725912" cy="18288"/>
          </a:xfrm>
          <a:prstGeom prst="rect">
            <a:avLst/>
          </a:prstGeom>
          <a:solidFill>
            <a:srgbClr val="28375C"/>
          </a:solidFill>
          <a:ln w="12700">
            <a:solidFill>
              <a:srgbClr val="28375C"/>
            </a:solidFill>
            <a:prstDash val="solid"/>
          </a:ln>
        </p:spPr>
      </p:sp>
      <p:sp>
        <p:nvSpPr>
          <p:cNvPr id="5" name="Text 3"/>
          <p:cNvSpPr/>
          <p:nvPr/>
        </p:nvSpPr>
        <p:spPr>
          <a:xfrm>
            <a:off x="731520" y="6355080"/>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ALTS | AI-Powered Campus Placement &amp; Applicant Tracking Portal</a:t>
            </a:r>
            <a:endParaRPr lang="en-US" sz="950" dirty="0"/>
          </a:p>
        </p:txBody>
      </p:sp>
      <p:sp>
        <p:nvSpPr>
          <p:cNvPr id="6" name="Text 4"/>
          <p:cNvSpPr/>
          <p:nvPr/>
        </p:nvSpPr>
        <p:spPr>
          <a:xfrm>
            <a:off x="8714232" y="6355080"/>
            <a:ext cx="2743200" cy="22860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Slide 8 of 13</a:t>
            </a:r>
            <a:endParaRPr lang="en-US" sz="950" dirty="0"/>
          </a:p>
        </p:txBody>
      </p:sp>
      <p:sp>
        <p:nvSpPr>
          <p:cNvPr id="7" name="Shape 5"/>
          <p:cNvSpPr/>
          <p:nvPr/>
        </p:nvSpPr>
        <p:spPr>
          <a:xfrm>
            <a:off x="731520" y="1353312"/>
            <a:ext cx="5257800" cy="4709160"/>
          </a:xfrm>
          <a:prstGeom prst="roundRect">
            <a:avLst>
              <a:gd name="adj" fmla="val 1553"/>
            </a:avLst>
          </a:prstGeom>
          <a:solidFill>
            <a:srgbClr val="141C33"/>
          </a:solidFill>
          <a:ln w="12700">
            <a:solidFill>
              <a:srgbClr val="28375C"/>
            </a:solidFill>
            <a:prstDash val="solid"/>
          </a:ln>
        </p:spPr>
      </p:sp>
      <p:sp>
        <p:nvSpPr>
          <p:cNvPr id="8" name="Text 6"/>
          <p:cNvSpPr/>
          <p:nvPr/>
        </p:nvSpPr>
        <p:spPr>
          <a:xfrm>
            <a:off x="960120" y="1600200"/>
            <a:ext cx="4754880" cy="274320"/>
          </a:xfrm>
          <a:prstGeom prst="rect">
            <a:avLst/>
          </a:prstGeom>
          <a:noFill/>
          <a:ln/>
        </p:spPr>
        <p:txBody>
          <a:bodyPr wrap="square" lIns="0" tIns="0" rIns="0" bIns="0" rtlCol="0" anchor="ctr"/>
          <a:lstStyle/>
          <a:p>
            <a:pPr indent="0" marL="0">
              <a:buNone/>
            </a:pPr>
            <a:r>
              <a:rPr lang="en-US" sz="1100" b="1" spc="150" kern="0" dirty="0">
                <a:solidFill>
                  <a:srgbClr val="38BDF8"/>
                </a:solidFill>
                <a:latin typeface="Calibri" pitchFamily="34" charset="0"/>
                <a:ea typeface="Calibri" pitchFamily="34" charset="-122"/>
                <a:cs typeface="Calibri" pitchFamily="34" charset="-120"/>
              </a:rPr>
              <a:t>RESUME PROCESSING WORKFLOW</a:t>
            </a:r>
            <a:endParaRPr lang="en-US" sz="1100" dirty="0"/>
          </a:p>
        </p:txBody>
      </p:sp>
      <p:sp>
        <p:nvSpPr>
          <p:cNvPr id="9" name="Text 7"/>
          <p:cNvSpPr/>
          <p:nvPr/>
        </p:nvSpPr>
        <p:spPr>
          <a:xfrm>
            <a:off x="960120" y="1965960"/>
            <a:ext cx="4754880" cy="7132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Step 1: Document Ingestion
</a:t>
            </a:r>
            <a:pPr indent="0" marL="0">
              <a:buNone/>
            </a:pPr>
            <a:r>
              <a:rPr lang="en-US" sz="980" dirty="0">
                <a:solidFill>
                  <a:srgbClr val="94A3B8"/>
                </a:solidFill>
                <a:latin typeface="Calibri" pitchFamily="34" charset="0"/>
                <a:ea typeface="Calibri" pitchFamily="34" charset="-122"/>
                <a:cs typeface="Calibri" pitchFamily="34" charset="-120"/>
              </a:rPr>
              <a:t>Multer streams .pdf / .docx into safe server storage with MIME validation.</a:t>
            </a:r>
            <a:endParaRPr lang="en-US" sz="1100" dirty="0"/>
          </a:p>
        </p:txBody>
      </p:sp>
      <p:sp>
        <p:nvSpPr>
          <p:cNvPr id="10" name="Text 8"/>
          <p:cNvSpPr/>
          <p:nvPr/>
        </p:nvSpPr>
        <p:spPr>
          <a:xfrm>
            <a:off x="960120" y="2752344"/>
            <a:ext cx="4754880" cy="7132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Step 2: Binary Text Extraction
</a:t>
            </a:r>
            <a:pPr indent="0" marL="0">
              <a:buNone/>
            </a:pPr>
            <a:r>
              <a:rPr lang="en-US" sz="980" dirty="0">
                <a:solidFill>
                  <a:srgbClr val="94A3B8"/>
                </a:solidFill>
                <a:latin typeface="Calibri" pitchFamily="34" charset="0"/>
                <a:ea typeface="Calibri" pitchFamily="34" charset="-122"/>
                <a:cs typeface="Calibri" pitchFamily="34" charset="-120"/>
              </a:rPr>
              <a:t>pdf-parse extracts raw PDF streams; Mammoth converts DOCX to structured text.</a:t>
            </a:r>
            <a:endParaRPr lang="en-US" sz="1100" dirty="0"/>
          </a:p>
        </p:txBody>
      </p:sp>
      <p:sp>
        <p:nvSpPr>
          <p:cNvPr id="11" name="Text 9"/>
          <p:cNvSpPr/>
          <p:nvPr/>
        </p:nvSpPr>
        <p:spPr>
          <a:xfrm>
            <a:off x="960120" y="3538728"/>
            <a:ext cx="4754880" cy="7132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Step 3: Lexical Normalization
</a:t>
            </a:r>
            <a:pPr indent="0" marL="0">
              <a:buNone/>
            </a:pPr>
            <a:r>
              <a:rPr lang="en-US" sz="980" dirty="0">
                <a:solidFill>
                  <a:srgbClr val="94A3B8"/>
                </a:solidFill>
                <a:latin typeface="Calibri" pitchFamily="34" charset="0"/>
                <a:ea typeface="Calibri" pitchFamily="34" charset="-122"/>
                <a:cs typeface="Calibri" pitchFamily="34" charset="-120"/>
              </a:rPr>
              <a:t>Tokenization, case folding, stop-word removal, and regex pattern matching.</a:t>
            </a:r>
            <a:endParaRPr lang="en-US" sz="1100" dirty="0"/>
          </a:p>
        </p:txBody>
      </p:sp>
      <p:sp>
        <p:nvSpPr>
          <p:cNvPr id="12" name="Text 10"/>
          <p:cNvSpPr/>
          <p:nvPr/>
        </p:nvSpPr>
        <p:spPr>
          <a:xfrm>
            <a:off x="960120" y="4325112"/>
            <a:ext cx="4754880" cy="7132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Step 4: Section Segmentation
</a:t>
            </a:r>
            <a:pPr indent="0" marL="0">
              <a:buNone/>
            </a:pPr>
            <a:r>
              <a:rPr lang="en-US" sz="980" dirty="0">
                <a:solidFill>
                  <a:srgbClr val="94A3B8"/>
                </a:solidFill>
                <a:latin typeface="Calibri" pitchFamily="34" charset="0"/>
                <a:ea typeface="Calibri" pitchFamily="34" charset="-122"/>
                <a:cs typeface="Calibri" pitchFamily="34" charset="-120"/>
              </a:rPr>
              <a:t>Regex boundary detection for Education, Experience, Skills, and Projects.</a:t>
            </a:r>
            <a:endParaRPr lang="en-US" sz="1100" dirty="0"/>
          </a:p>
        </p:txBody>
      </p:sp>
      <p:sp>
        <p:nvSpPr>
          <p:cNvPr id="13" name="Text 11"/>
          <p:cNvSpPr/>
          <p:nvPr/>
        </p:nvSpPr>
        <p:spPr>
          <a:xfrm>
            <a:off x="960120" y="5111496"/>
            <a:ext cx="4754880" cy="7132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Step 5: Metric &amp; Keyword Scoring
</a:t>
            </a:r>
            <a:pPr indent="0" marL="0">
              <a:buNone/>
            </a:pPr>
            <a:r>
              <a:rPr lang="en-US" sz="980" dirty="0">
                <a:solidFill>
                  <a:srgbClr val="94A3B8"/>
                </a:solidFill>
                <a:latin typeface="Calibri" pitchFamily="34" charset="0"/>
                <a:ea typeface="Calibri" pitchFamily="34" charset="-122"/>
                <a:cs typeface="Calibri" pitchFamily="34" charset="-120"/>
              </a:rPr>
              <a:t>Evaluates technical taxonomy density and quantifiable metric indicators.</a:t>
            </a:r>
            <a:endParaRPr lang="en-US" sz="1100" dirty="0"/>
          </a:p>
        </p:txBody>
      </p:sp>
      <p:sp>
        <p:nvSpPr>
          <p:cNvPr id="14" name="Shape 12"/>
          <p:cNvSpPr/>
          <p:nvPr/>
        </p:nvSpPr>
        <p:spPr>
          <a:xfrm>
            <a:off x="6199632" y="1353312"/>
            <a:ext cx="5257800" cy="4709160"/>
          </a:xfrm>
          <a:prstGeom prst="roundRect">
            <a:avLst>
              <a:gd name="adj" fmla="val 1553"/>
            </a:avLst>
          </a:prstGeom>
          <a:solidFill>
            <a:srgbClr val="141C33"/>
          </a:solidFill>
          <a:ln w="12700">
            <a:solidFill>
              <a:srgbClr val="28375C"/>
            </a:solidFill>
            <a:prstDash val="solid"/>
          </a:ln>
        </p:spPr>
      </p:sp>
      <p:sp>
        <p:nvSpPr>
          <p:cNvPr id="15" name="Text 13"/>
          <p:cNvSpPr/>
          <p:nvPr/>
        </p:nvSpPr>
        <p:spPr>
          <a:xfrm>
            <a:off x="6446520" y="1600200"/>
            <a:ext cx="4754880" cy="274320"/>
          </a:xfrm>
          <a:prstGeom prst="rect">
            <a:avLst/>
          </a:prstGeom>
          <a:noFill/>
          <a:ln/>
        </p:spPr>
        <p:txBody>
          <a:bodyPr wrap="square" lIns="0" tIns="0" rIns="0" bIns="0" rtlCol="0" anchor="ctr"/>
          <a:lstStyle/>
          <a:p>
            <a:pPr indent="0" marL="0">
              <a:buNone/>
            </a:pPr>
            <a:r>
              <a:rPr lang="en-US" sz="1100" b="1" spc="150" kern="0" dirty="0">
                <a:solidFill>
                  <a:srgbClr val="818CF8"/>
                </a:solidFill>
                <a:latin typeface="Calibri" pitchFamily="34" charset="0"/>
                <a:ea typeface="Calibri" pitchFamily="34" charset="-122"/>
                <a:cs typeface="Calibri" pitchFamily="34" charset="-120"/>
              </a:rPr>
              <a:t>CORE MATHEMATICAL EQUATIONS</a:t>
            </a:r>
            <a:endParaRPr lang="en-US" sz="1100" dirty="0"/>
          </a:p>
        </p:txBody>
      </p:sp>
      <p:sp>
        <p:nvSpPr>
          <p:cNvPr id="16" name="Text 14"/>
          <p:cNvSpPr/>
          <p:nvPr/>
        </p:nvSpPr>
        <p:spPr>
          <a:xfrm>
            <a:off x="6446520" y="1938528"/>
            <a:ext cx="4754880" cy="256032"/>
          </a:xfrm>
          <a:prstGeom prst="rect">
            <a:avLst/>
          </a:prstGeom>
          <a:noFill/>
          <a:ln/>
        </p:spPr>
        <p:txBody>
          <a:bodyPr wrap="square" lIns="0" tIns="0" rIns="0" bIns="0" rtlCol="0" anchor="ctr"/>
          <a:lstStyle/>
          <a:p>
            <a:pPr indent="0" marL="0">
              <a:buNone/>
            </a:pPr>
            <a:r>
              <a:rPr lang="en-US" sz="1100" b="1" dirty="0">
                <a:solidFill>
                  <a:srgbClr val="34D399"/>
                </a:solidFill>
                <a:latin typeface="Calibri" pitchFamily="34" charset="0"/>
                <a:ea typeface="Calibri" pitchFamily="34" charset="-122"/>
                <a:cs typeface="Calibri" pitchFamily="34" charset="-120"/>
              </a:rPr>
              <a:t>1. Resume ATS Score Formulation:</a:t>
            </a:r>
            <a:endParaRPr lang="en-US" sz="1100" dirty="0"/>
          </a:p>
        </p:txBody>
      </p:sp>
      <p:sp>
        <p:nvSpPr>
          <p:cNvPr id="17" name="Shape 15"/>
          <p:cNvSpPr/>
          <p:nvPr/>
        </p:nvSpPr>
        <p:spPr>
          <a:xfrm>
            <a:off x="6446520" y="2212848"/>
            <a:ext cx="4754880" cy="777240"/>
          </a:xfrm>
          <a:prstGeom prst="roundRect">
            <a:avLst>
              <a:gd name="adj" fmla="val 7059"/>
            </a:avLst>
          </a:prstGeom>
          <a:solidFill>
            <a:srgbClr val="1B2544"/>
          </a:solidFill>
          <a:ln w="12700">
            <a:solidFill>
              <a:srgbClr val="28375C"/>
            </a:solidFill>
            <a:prstDash val="solid"/>
          </a:ln>
        </p:spPr>
      </p:sp>
      <p:sp>
        <p:nvSpPr>
          <p:cNvPr id="18" name="Text 16"/>
          <p:cNvSpPr/>
          <p:nvPr/>
        </p:nvSpPr>
        <p:spPr>
          <a:xfrm>
            <a:off x="6537960" y="2331720"/>
            <a:ext cx="4572000" cy="530352"/>
          </a:xfrm>
          <a:prstGeom prst="rect">
            <a:avLst/>
          </a:prstGeom>
          <a:noFill/>
          <a:ln/>
        </p:spPr>
        <p:txBody>
          <a:bodyPr wrap="square" lIns="0" tIns="0" rIns="0" bIns="0" rtlCol="0" anchor="ctr"/>
          <a:lstStyle/>
          <a:p>
            <a:pPr indent="0" marL="0">
              <a:buNone/>
            </a:pPr>
            <a:r>
              <a:rPr lang="en-US" sz="950" b="1" dirty="0">
                <a:solidFill>
                  <a:srgbClr val="38BDF8"/>
                </a:solidFill>
                <a:latin typeface="Courier New" pitchFamily="34" charset="0"/>
                <a:ea typeface="Courier New" pitchFamily="34" charset="-122"/>
                <a:cs typeface="Courier New" pitchFamily="34" charset="-120"/>
              </a:rPr>
              <a:t>Score_ATS = min(100, S_base + min(|K_match| × w_k, S_max) + Σ(I_s × w_s) + I_metric × w_m)</a:t>
            </a:r>
            <a:endParaRPr lang="en-US" sz="950" dirty="0"/>
          </a:p>
        </p:txBody>
      </p:sp>
      <p:sp>
        <p:nvSpPr>
          <p:cNvPr id="19" name="Text 17"/>
          <p:cNvSpPr/>
          <p:nvPr/>
        </p:nvSpPr>
        <p:spPr>
          <a:xfrm>
            <a:off x="6446520" y="3035808"/>
            <a:ext cx="4754880" cy="62179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Where: S_base = 40, w_k = 3 (Keyword weight), S_max = 30,</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w_s = 5 for each section (Education, Experience, Skills, Projects),</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w_m = 10 for Quantifiable Metrics (% improvements, scale numbers).</a:t>
            </a:r>
            <a:endParaRPr lang="en-US" sz="950" dirty="0"/>
          </a:p>
        </p:txBody>
      </p:sp>
      <p:sp>
        <p:nvSpPr>
          <p:cNvPr id="20" name="Text 18"/>
          <p:cNvSpPr/>
          <p:nvPr/>
        </p:nvSpPr>
        <p:spPr>
          <a:xfrm>
            <a:off x="6446520" y="3767328"/>
            <a:ext cx="4754880" cy="256032"/>
          </a:xfrm>
          <a:prstGeom prst="rect">
            <a:avLst/>
          </a:prstGeom>
          <a:noFill/>
          <a:ln/>
        </p:spPr>
        <p:txBody>
          <a:bodyPr wrap="square" lIns="0" tIns="0" rIns="0" bIns="0" rtlCol="0" anchor="ctr"/>
          <a:lstStyle/>
          <a:p>
            <a:pPr indent="0" marL="0">
              <a:buNone/>
            </a:pPr>
            <a:r>
              <a:rPr lang="en-US" sz="1100" b="1" dirty="0">
                <a:solidFill>
                  <a:srgbClr val="34D399"/>
                </a:solidFill>
                <a:latin typeface="Calibri" pitchFamily="34" charset="0"/>
                <a:ea typeface="Calibri" pitchFamily="34" charset="-122"/>
                <a:cs typeface="Calibri" pitchFamily="34" charset="-120"/>
              </a:rPr>
              <a:t>2. Candidate-Job Match Percentage:</a:t>
            </a:r>
            <a:endParaRPr lang="en-US" sz="1100" dirty="0"/>
          </a:p>
        </p:txBody>
      </p:sp>
      <p:sp>
        <p:nvSpPr>
          <p:cNvPr id="21" name="Shape 19"/>
          <p:cNvSpPr/>
          <p:nvPr/>
        </p:nvSpPr>
        <p:spPr>
          <a:xfrm>
            <a:off x="6446520" y="4041648"/>
            <a:ext cx="4754880" cy="777240"/>
          </a:xfrm>
          <a:prstGeom prst="roundRect">
            <a:avLst>
              <a:gd name="adj" fmla="val 7059"/>
            </a:avLst>
          </a:prstGeom>
          <a:solidFill>
            <a:srgbClr val="1B2544"/>
          </a:solidFill>
          <a:ln w="12700">
            <a:solidFill>
              <a:srgbClr val="28375C"/>
            </a:solidFill>
            <a:prstDash val="solid"/>
          </a:ln>
        </p:spPr>
      </p:sp>
      <p:sp>
        <p:nvSpPr>
          <p:cNvPr id="22" name="Text 20"/>
          <p:cNvSpPr/>
          <p:nvPr/>
        </p:nvSpPr>
        <p:spPr>
          <a:xfrm>
            <a:off x="6537960" y="4160520"/>
            <a:ext cx="4572000" cy="530352"/>
          </a:xfrm>
          <a:prstGeom prst="rect">
            <a:avLst/>
          </a:prstGeom>
          <a:noFill/>
          <a:ln/>
        </p:spPr>
        <p:txBody>
          <a:bodyPr wrap="square" lIns="0" tIns="0" rIns="0" bIns="0" rtlCol="0" anchor="ctr"/>
          <a:lstStyle/>
          <a:p>
            <a:pPr indent="0" marL="0">
              <a:buNone/>
            </a:pPr>
            <a:r>
              <a:rPr lang="en-US" sz="950" b="1" dirty="0">
                <a:solidFill>
                  <a:srgbClr val="38BDF8"/>
                </a:solidFill>
                <a:latin typeface="Courier New" pitchFamily="34" charset="0"/>
                <a:ea typeface="Courier New" pitchFamily="34" charset="-122"/>
                <a:cs typeface="Courier New" pitchFamily="34" charset="-120"/>
              </a:rPr>
              <a:t>MatchScore = min(100, (|S_candidate ∩ S_required| / |S_required|) × 100 + [CGPA ≥ MinCGPA] × 10)</a:t>
            </a:r>
            <a:endParaRPr lang="en-US" sz="950" dirty="0"/>
          </a:p>
        </p:txBody>
      </p:sp>
      <p:sp>
        <p:nvSpPr>
          <p:cNvPr id="23" name="Text 21"/>
          <p:cNvSpPr/>
          <p:nvPr/>
        </p:nvSpPr>
        <p:spPr>
          <a:xfrm>
            <a:off x="6446520" y="4864608"/>
            <a:ext cx="4754880" cy="59436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Where: S_candidate is student skill vector, S_required is job skill vector.</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A 10% academic merit bonus is awarded when CGPA meets requirement.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731520" y="384048"/>
            <a:ext cx="7315200" cy="228600"/>
          </a:xfrm>
          <a:prstGeom prst="rect">
            <a:avLst/>
          </a:prstGeom>
          <a:noFill/>
          <a:ln/>
        </p:spPr>
        <p:txBody>
          <a:bodyPr wrap="square" lIns="0" tIns="0" rIns="0" bIns="0"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ENGINEERING DETAILS</a:t>
            </a:r>
            <a:endParaRPr lang="en-US" sz="1000" dirty="0"/>
          </a:p>
        </p:txBody>
      </p:sp>
      <p:sp>
        <p:nvSpPr>
          <p:cNvPr id="3" name="Text 1"/>
          <p:cNvSpPr/>
          <p:nvPr/>
        </p:nvSpPr>
        <p:spPr>
          <a:xfrm>
            <a:off x="731520" y="621792"/>
            <a:ext cx="9601200" cy="43891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Implementation Details &amp; Full-Stack Tech Stack</a:t>
            </a:r>
            <a:endParaRPr lang="en-US" sz="2200" dirty="0"/>
          </a:p>
        </p:txBody>
      </p:sp>
      <p:sp>
        <p:nvSpPr>
          <p:cNvPr id="4" name="Shape 2"/>
          <p:cNvSpPr/>
          <p:nvPr/>
        </p:nvSpPr>
        <p:spPr>
          <a:xfrm>
            <a:off x="731520" y="1143000"/>
            <a:ext cx="10725912" cy="18288"/>
          </a:xfrm>
          <a:prstGeom prst="rect">
            <a:avLst/>
          </a:prstGeom>
          <a:solidFill>
            <a:srgbClr val="28375C"/>
          </a:solidFill>
          <a:ln w="12700">
            <a:solidFill>
              <a:srgbClr val="28375C"/>
            </a:solidFill>
            <a:prstDash val="solid"/>
          </a:ln>
        </p:spPr>
      </p:sp>
      <p:sp>
        <p:nvSpPr>
          <p:cNvPr id="5" name="Text 3"/>
          <p:cNvSpPr/>
          <p:nvPr/>
        </p:nvSpPr>
        <p:spPr>
          <a:xfrm>
            <a:off x="731520" y="6355080"/>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ALTS | AI-Powered Campus Placement &amp; Applicant Tracking Portal</a:t>
            </a:r>
            <a:endParaRPr lang="en-US" sz="950" dirty="0"/>
          </a:p>
        </p:txBody>
      </p:sp>
      <p:sp>
        <p:nvSpPr>
          <p:cNvPr id="6" name="Text 4"/>
          <p:cNvSpPr/>
          <p:nvPr/>
        </p:nvSpPr>
        <p:spPr>
          <a:xfrm>
            <a:off x="8714232" y="6355080"/>
            <a:ext cx="2743200" cy="22860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Slide 9 of 13</a:t>
            </a:r>
            <a:endParaRPr lang="en-US" sz="950" dirty="0"/>
          </a:p>
        </p:txBody>
      </p:sp>
      <p:sp>
        <p:nvSpPr>
          <p:cNvPr id="7" name="Shape 5"/>
          <p:cNvSpPr/>
          <p:nvPr/>
        </p:nvSpPr>
        <p:spPr>
          <a:xfrm>
            <a:off x="731520" y="1353312"/>
            <a:ext cx="5285232" cy="2240280"/>
          </a:xfrm>
          <a:prstGeom prst="roundRect">
            <a:avLst>
              <a:gd name="adj" fmla="val 3265"/>
            </a:avLst>
          </a:prstGeom>
          <a:solidFill>
            <a:srgbClr val="141C33"/>
          </a:solidFill>
          <a:ln w="12700">
            <a:solidFill>
              <a:srgbClr val="28375C"/>
            </a:solidFill>
            <a:prstDash val="solid"/>
          </a:ln>
        </p:spPr>
      </p:sp>
      <p:sp>
        <p:nvSpPr>
          <p:cNvPr id="8" name="Text 6"/>
          <p:cNvSpPr/>
          <p:nvPr/>
        </p:nvSpPr>
        <p:spPr>
          <a:xfrm>
            <a:off x="1005840" y="1536192"/>
            <a:ext cx="4754880" cy="256032"/>
          </a:xfrm>
          <a:prstGeom prst="rect">
            <a:avLst/>
          </a:prstGeom>
          <a:noFill/>
          <a:ln/>
        </p:spPr>
        <p:txBody>
          <a:bodyPr wrap="square" lIns="0" tIns="0" rIns="0" bIns="0" rtlCol="0" anchor="ctr"/>
          <a:lstStyle/>
          <a:p>
            <a:pPr indent="0" marL="0">
              <a:buNone/>
            </a:pPr>
            <a:r>
              <a:rPr lang="en-US" sz="1150" b="1" spc="100" kern="0" dirty="0">
                <a:solidFill>
                  <a:srgbClr val="38BDF8"/>
                </a:solidFill>
                <a:latin typeface="Calibri" pitchFamily="34" charset="0"/>
                <a:ea typeface="Calibri" pitchFamily="34" charset="-122"/>
                <a:cs typeface="Calibri" pitchFamily="34" charset="-120"/>
              </a:rPr>
              <a:t>FRONTEND ARCHITECTURE</a:t>
            </a:r>
            <a:endParaRPr lang="en-US" sz="1150" dirty="0"/>
          </a:p>
        </p:txBody>
      </p:sp>
      <p:sp>
        <p:nvSpPr>
          <p:cNvPr id="9" name="Text 7"/>
          <p:cNvSpPr/>
          <p:nvPr/>
        </p:nvSpPr>
        <p:spPr>
          <a:xfrm>
            <a:off x="1005840" y="1847088"/>
            <a:ext cx="4754880" cy="1600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React 18 &amp; Vite: High-speed build tooling &amp; lightning-fast HMR.
</a:t>
            </a:r>
            <a:pPr indent="0" marL="0">
              <a:buNone/>
            </a:pPr>
            <a:r>
              <a:rPr lang="en-US" sz="1000" dirty="0">
                <a:solidFill>
                  <a:srgbClr val="FFFFFF"/>
                </a:solidFill>
                <a:latin typeface="Calibri" pitchFamily="34" charset="0"/>
                <a:ea typeface="Calibri" pitchFamily="34" charset="-122"/>
                <a:cs typeface="Calibri" pitchFamily="34" charset="-120"/>
              </a:rPr>
              <a:t>• Recharts: Dynamic recruiter analytics funnels &amp; monthly hire trends.
</a:t>
            </a:r>
            <a:pPr indent="0" marL="0">
              <a:buNone/>
            </a:pPr>
            <a:r>
              <a:rPr lang="en-US" sz="1000" dirty="0">
                <a:solidFill>
                  <a:srgbClr val="FFFFFF"/>
                </a:solidFill>
                <a:latin typeface="Calibri" pitchFamily="34" charset="0"/>
                <a:ea typeface="Calibri" pitchFamily="34" charset="-122"/>
                <a:cs typeface="Calibri" pitchFamily="34" charset="-120"/>
              </a:rPr>
              <a:t>• Framer Motion: Fluid micro-animations &amp; layout view transitions.
</a:t>
            </a:r>
            <a:pPr indent="0" marL="0">
              <a:buNone/>
            </a:pPr>
            <a:r>
              <a:rPr lang="en-US" sz="1000" dirty="0">
                <a:solidFill>
                  <a:srgbClr val="FFFFFF"/>
                </a:solidFill>
                <a:latin typeface="Calibri" pitchFamily="34" charset="0"/>
                <a:ea typeface="Calibri" pitchFamily="34" charset="-122"/>
                <a:cs typeface="Calibri" pitchFamily="34" charset="-120"/>
              </a:rPr>
              <a:t>• Lucide React: Cohesive icon design language across dark/light modes.
</a:t>
            </a:r>
            <a:endParaRPr lang="en-US" sz="1000" dirty="0"/>
          </a:p>
        </p:txBody>
      </p:sp>
      <p:sp>
        <p:nvSpPr>
          <p:cNvPr id="10" name="Shape 8"/>
          <p:cNvSpPr/>
          <p:nvPr/>
        </p:nvSpPr>
        <p:spPr>
          <a:xfrm>
            <a:off x="6172200" y="1353312"/>
            <a:ext cx="5285232" cy="2240280"/>
          </a:xfrm>
          <a:prstGeom prst="roundRect">
            <a:avLst>
              <a:gd name="adj" fmla="val 3265"/>
            </a:avLst>
          </a:prstGeom>
          <a:solidFill>
            <a:srgbClr val="141C33"/>
          </a:solidFill>
          <a:ln w="12700">
            <a:solidFill>
              <a:srgbClr val="28375C"/>
            </a:solidFill>
            <a:prstDash val="solid"/>
          </a:ln>
        </p:spPr>
      </p:sp>
      <p:sp>
        <p:nvSpPr>
          <p:cNvPr id="11" name="Text 9"/>
          <p:cNvSpPr/>
          <p:nvPr/>
        </p:nvSpPr>
        <p:spPr>
          <a:xfrm>
            <a:off x="6446520" y="1536192"/>
            <a:ext cx="4754880" cy="256032"/>
          </a:xfrm>
          <a:prstGeom prst="rect">
            <a:avLst/>
          </a:prstGeom>
          <a:noFill/>
          <a:ln/>
        </p:spPr>
        <p:txBody>
          <a:bodyPr wrap="square" lIns="0" tIns="0" rIns="0" bIns="0" rtlCol="0" anchor="ctr"/>
          <a:lstStyle/>
          <a:p>
            <a:pPr indent="0" marL="0">
              <a:buNone/>
            </a:pPr>
            <a:r>
              <a:rPr lang="en-US" sz="1150" b="1" spc="100" kern="0" dirty="0">
                <a:solidFill>
                  <a:srgbClr val="818CF8"/>
                </a:solidFill>
                <a:latin typeface="Calibri" pitchFamily="34" charset="0"/>
                <a:ea typeface="Calibri" pitchFamily="34" charset="-122"/>
                <a:cs typeface="Calibri" pitchFamily="34" charset="-120"/>
              </a:rPr>
              <a:t>BACKEND &amp; MIDDLEWARE</a:t>
            </a:r>
            <a:endParaRPr lang="en-US" sz="1150" dirty="0"/>
          </a:p>
        </p:txBody>
      </p:sp>
      <p:sp>
        <p:nvSpPr>
          <p:cNvPr id="12" name="Text 10"/>
          <p:cNvSpPr/>
          <p:nvPr/>
        </p:nvSpPr>
        <p:spPr>
          <a:xfrm>
            <a:off x="6446520" y="1847088"/>
            <a:ext cx="4754880" cy="1600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Node.js &amp; Express.js: Asynchronous event-driven RESTful API microservices.
</a:t>
            </a:r>
            <a:pPr indent="0" marL="0">
              <a:buNone/>
            </a:pPr>
            <a:r>
              <a:rPr lang="en-US" sz="1000" dirty="0">
                <a:solidFill>
                  <a:srgbClr val="FFFFFF"/>
                </a:solidFill>
                <a:latin typeface="Calibri" pitchFamily="34" charset="0"/>
                <a:ea typeface="Calibri" pitchFamily="34" charset="-122"/>
                <a:cs typeface="Calibri" pitchFamily="34" charset="-120"/>
              </a:rPr>
              <a:t>• JWT &amp; BCrypt: 256-bit hashed credentials &amp; stateless authentication.
</a:t>
            </a:r>
            <a:pPr indent="0" marL="0">
              <a:buNone/>
            </a:pPr>
            <a:r>
              <a:rPr lang="en-US" sz="1000" dirty="0">
                <a:solidFill>
                  <a:srgbClr val="FFFFFF"/>
                </a:solidFill>
                <a:latin typeface="Calibri" pitchFamily="34" charset="0"/>
                <a:ea typeface="Calibri" pitchFamily="34" charset="-122"/>
                <a:cs typeface="Calibri" pitchFamily="34" charset="-120"/>
              </a:rPr>
              <a:t>• Multer &amp; fs: Secure binary upload streaming with size &amp; extension filtering.
</a:t>
            </a:r>
            <a:pPr indent="0" marL="0">
              <a:buNone/>
            </a:pPr>
            <a:r>
              <a:rPr lang="en-US" sz="1000" dirty="0">
                <a:solidFill>
                  <a:srgbClr val="FFFFFF"/>
                </a:solidFill>
                <a:latin typeface="Calibri" pitchFamily="34" charset="0"/>
                <a:ea typeface="Calibri" pitchFamily="34" charset="-122"/>
                <a:cs typeface="Calibri" pitchFamily="34" charset="-120"/>
              </a:rPr>
              <a:t>• Nodemailer: Automated transactional email dispatch via SMTP relay.
</a:t>
            </a:r>
            <a:endParaRPr lang="en-US" sz="1000" dirty="0"/>
          </a:p>
        </p:txBody>
      </p:sp>
      <p:sp>
        <p:nvSpPr>
          <p:cNvPr id="13" name="Shape 11"/>
          <p:cNvSpPr/>
          <p:nvPr/>
        </p:nvSpPr>
        <p:spPr>
          <a:xfrm>
            <a:off x="731520" y="3749040"/>
            <a:ext cx="5285232" cy="2240280"/>
          </a:xfrm>
          <a:prstGeom prst="roundRect">
            <a:avLst>
              <a:gd name="adj" fmla="val 3265"/>
            </a:avLst>
          </a:prstGeom>
          <a:solidFill>
            <a:srgbClr val="141C33"/>
          </a:solidFill>
          <a:ln w="12700">
            <a:solidFill>
              <a:srgbClr val="28375C"/>
            </a:solidFill>
            <a:prstDash val="solid"/>
          </a:ln>
        </p:spPr>
      </p:sp>
      <p:sp>
        <p:nvSpPr>
          <p:cNvPr id="14" name="Text 12"/>
          <p:cNvSpPr/>
          <p:nvPr/>
        </p:nvSpPr>
        <p:spPr>
          <a:xfrm>
            <a:off x="1005840" y="3931920"/>
            <a:ext cx="4754880" cy="256032"/>
          </a:xfrm>
          <a:prstGeom prst="rect">
            <a:avLst/>
          </a:prstGeom>
          <a:noFill/>
          <a:ln/>
        </p:spPr>
        <p:txBody>
          <a:bodyPr wrap="square" lIns="0" tIns="0" rIns="0" bIns="0" rtlCol="0" anchor="ctr"/>
          <a:lstStyle/>
          <a:p>
            <a:pPr indent="0" marL="0">
              <a:buNone/>
            </a:pPr>
            <a:r>
              <a:rPr lang="en-US" sz="1150" b="1" spc="100" kern="0" dirty="0">
                <a:solidFill>
                  <a:srgbClr val="34D399"/>
                </a:solidFill>
                <a:latin typeface="Calibri" pitchFamily="34" charset="0"/>
                <a:ea typeface="Calibri" pitchFamily="34" charset="-122"/>
                <a:cs typeface="Calibri" pitchFamily="34" charset="-120"/>
              </a:rPr>
              <a:t>PARSING &amp; DOCUMENT UTILITIES</a:t>
            </a:r>
            <a:endParaRPr lang="en-US" sz="1150" dirty="0"/>
          </a:p>
        </p:txBody>
      </p:sp>
      <p:sp>
        <p:nvSpPr>
          <p:cNvPr id="15" name="Text 13"/>
          <p:cNvSpPr/>
          <p:nvPr/>
        </p:nvSpPr>
        <p:spPr>
          <a:xfrm>
            <a:off x="1005840" y="4242816"/>
            <a:ext cx="4754880" cy="1600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pdf-parse (v2.4): Low-latency PDF stream buffer extraction.
</a:t>
            </a:r>
            <a:pPr indent="0" marL="0">
              <a:buNone/>
            </a:pPr>
            <a:r>
              <a:rPr lang="en-US" sz="1000" dirty="0">
                <a:solidFill>
                  <a:srgbClr val="FFFFFF"/>
                </a:solidFill>
                <a:latin typeface="Calibri" pitchFamily="34" charset="0"/>
                <a:ea typeface="Calibri" pitchFamily="34" charset="-122"/>
                <a:cs typeface="Calibri" pitchFamily="34" charset="-120"/>
              </a:rPr>
              <a:t>• Mammoth (v1.12): Pure JS docx-to-HTML &amp; raw text conversion.
</a:t>
            </a:r>
            <a:pPr indent="0" marL="0">
              <a:buNone/>
            </a:pPr>
            <a:r>
              <a:rPr lang="en-US" sz="1000" dirty="0">
                <a:solidFill>
                  <a:srgbClr val="FFFFFF"/>
                </a:solidFill>
                <a:latin typeface="Calibri" pitchFamily="34" charset="0"/>
                <a:ea typeface="Calibri" pitchFamily="34" charset="-122"/>
                <a:cs typeface="Calibri" pitchFamily="34" charset="-120"/>
              </a:rPr>
              <a:t>• Regex Engine: Heuristic tokenization for dates, metrics, and URLs.
</a:t>
            </a:r>
            <a:pPr indent="0" marL="0">
              <a:buNone/>
            </a:pPr>
            <a:r>
              <a:rPr lang="en-US" sz="1000" dirty="0">
                <a:solidFill>
                  <a:srgbClr val="FFFFFF"/>
                </a:solidFill>
                <a:latin typeface="Calibri" pitchFamily="34" charset="0"/>
                <a:ea typeface="Calibri" pitchFamily="34" charset="-122"/>
                <a:cs typeface="Calibri" pitchFamily="34" charset="-120"/>
              </a:rPr>
              <a:t>• Custom DOCX Viewer: In-browser live document previews without downloads.
</a:t>
            </a:r>
            <a:endParaRPr lang="en-US" sz="1000" dirty="0"/>
          </a:p>
        </p:txBody>
      </p:sp>
      <p:sp>
        <p:nvSpPr>
          <p:cNvPr id="16" name="Shape 14"/>
          <p:cNvSpPr/>
          <p:nvPr/>
        </p:nvSpPr>
        <p:spPr>
          <a:xfrm>
            <a:off x="6172200" y="3749040"/>
            <a:ext cx="5285232" cy="2240280"/>
          </a:xfrm>
          <a:prstGeom prst="roundRect">
            <a:avLst>
              <a:gd name="adj" fmla="val 3265"/>
            </a:avLst>
          </a:prstGeom>
          <a:solidFill>
            <a:srgbClr val="141C33"/>
          </a:solidFill>
          <a:ln w="12700">
            <a:solidFill>
              <a:srgbClr val="28375C"/>
            </a:solidFill>
            <a:prstDash val="solid"/>
          </a:ln>
        </p:spPr>
      </p:sp>
      <p:sp>
        <p:nvSpPr>
          <p:cNvPr id="17" name="Text 15"/>
          <p:cNvSpPr/>
          <p:nvPr/>
        </p:nvSpPr>
        <p:spPr>
          <a:xfrm>
            <a:off x="6446520" y="3931920"/>
            <a:ext cx="4754880" cy="256032"/>
          </a:xfrm>
          <a:prstGeom prst="rect">
            <a:avLst/>
          </a:prstGeom>
          <a:noFill/>
          <a:ln/>
        </p:spPr>
        <p:txBody>
          <a:bodyPr wrap="square" lIns="0" tIns="0" rIns="0" bIns="0" rtlCol="0" anchor="ctr"/>
          <a:lstStyle/>
          <a:p>
            <a:pPr indent="0" marL="0">
              <a:buNone/>
            </a:pPr>
            <a:r>
              <a:rPr lang="en-US" sz="1150" b="1" spc="100" kern="0" dirty="0">
                <a:solidFill>
                  <a:srgbClr val="FBBF24"/>
                </a:solidFill>
                <a:latin typeface="Calibri" pitchFamily="34" charset="0"/>
                <a:ea typeface="Calibri" pitchFamily="34" charset="-122"/>
                <a:cs typeface="Calibri" pitchFamily="34" charset="-120"/>
              </a:rPr>
              <a:t>PERSISTENCE &amp; DEPLOYMENT SETUP</a:t>
            </a:r>
            <a:endParaRPr lang="en-US" sz="1150" dirty="0"/>
          </a:p>
        </p:txBody>
      </p:sp>
      <p:sp>
        <p:nvSpPr>
          <p:cNvPr id="18" name="Text 16"/>
          <p:cNvSpPr/>
          <p:nvPr/>
        </p:nvSpPr>
        <p:spPr>
          <a:xfrm>
            <a:off x="6446520" y="4242816"/>
            <a:ext cx="4754880" cy="1600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MongoDB &amp; Mongoose: Document data store with schema indexing.
</a:t>
            </a:r>
            <a:pPr indent="0" marL="0">
              <a:buNone/>
            </a:pPr>
            <a:r>
              <a:rPr lang="en-US" sz="1000" dirty="0">
                <a:solidFill>
                  <a:srgbClr val="FFFFFF"/>
                </a:solidFill>
                <a:latin typeface="Calibri" pitchFamily="34" charset="0"/>
                <a:ea typeface="Calibri" pitchFamily="34" charset="-122"/>
                <a:cs typeface="Calibri" pitchFamily="34" charset="-120"/>
              </a:rPr>
              <a:t>• In-Memory Mock Store: Guaranteed offline demo failover mode.
</a:t>
            </a:r>
            <a:pPr indent="0" marL="0">
              <a:buNone/>
            </a:pPr>
            <a:r>
              <a:rPr lang="en-US" sz="1000" dirty="0">
                <a:solidFill>
                  <a:srgbClr val="FFFFFF"/>
                </a:solidFill>
                <a:latin typeface="Calibri" pitchFamily="34" charset="0"/>
                <a:ea typeface="Calibri" pitchFamily="34" charset="-122"/>
                <a:cs typeface="Calibri" pitchFamily="34" charset="-120"/>
              </a:rPr>
              <a:t>• Environment Configuration: Secure .env credential management.
</a:t>
            </a:r>
            <a:pPr indent="0" marL="0">
              <a:buNone/>
            </a:pPr>
            <a:r>
              <a:rPr lang="en-US" sz="1000" dirty="0">
                <a:solidFill>
                  <a:srgbClr val="FFFFFF"/>
                </a:solidFill>
                <a:latin typeface="Calibri" pitchFamily="34" charset="0"/>
                <a:ea typeface="Calibri" pitchFamily="34" charset="-122"/>
                <a:cs typeface="Calibri" pitchFamily="34" charset="-120"/>
              </a:rPr>
              <a:t>• Hardware Setup: Tested on x86_64 Core i5/i7, 8GB/16GB RAM, Node v20+.
</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731520" y="384048"/>
            <a:ext cx="7315200" cy="228600"/>
          </a:xfrm>
          <a:prstGeom prst="rect">
            <a:avLst/>
          </a:prstGeom>
          <a:noFill/>
          <a:ln/>
        </p:spPr>
        <p:txBody>
          <a:bodyPr wrap="square" lIns="0" tIns="0" rIns="0" bIns="0"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EMPIRICAL VALIDATION</a:t>
            </a:r>
            <a:endParaRPr lang="en-US" sz="1000" dirty="0"/>
          </a:p>
        </p:txBody>
      </p:sp>
      <p:sp>
        <p:nvSpPr>
          <p:cNvPr id="3" name="Text 1"/>
          <p:cNvSpPr/>
          <p:nvPr/>
        </p:nvSpPr>
        <p:spPr>
          <a:xfrm>
            <a:off x="731520" y="621792"/>
            <a:ext cx="9601200" cy="43891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Results &amp; Experimental Analysis</a:t>
            </a:r>
            <a:endParaRPr lang="en-US" sz="2200" dirty="0"/>
          </a:p>
        </p:txBody>
      </p:sp>
      <p:sp>
        <p:nvSpPr>
          <p:cNvPr id="4" name="Shape 2"/>
          <p:cNvSpPr/>
          <p:nvPr/>
        </p:nvSpPr>
        <p:spPr>
          <a:xfrm>
            <a:off x="731520" y="1143000"/>
            <a:ext cx="10725912" cy="18288"/>
          </a:xfrm>
          <a:prstGeom prst="rect">
            <a:avLst/>
          </a:prstGeom>
          <a:solidFill>
            <a:srgbClr val="28375C"/>
          </a:solidFill>
          <a:ln w="12700">
            <a:solidFill>
              <a:srgbClr val="28375C"/>
            </a:solidFill>
            <a:prstDash val="solid"/>
          </a:ln>
        </p:spPr>
      </p:sp>
      <p:sp>
        <p:nvSpPr>
          <p:cNvPr id="5" name="Text 3"/>
          <p:cNvSpPr/>
          <p:nvPr/>
        </p:nvSpPr>
        <p:spPr>
          <a:xfrm>
            <a:off x="731520" y="6355080"/>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ALTS | AI-Powered Campus Placement &amp; Applicant Tracking Portal</a:t>
            </a:r>
            <a:endParaRPr lang="en-US" sz="950" dirty="0"/>
          </a:p>
        </p:txBody>
      </p:sp>
      <p:sp>
        <p:nvSpPr>
          <p:cNvPr id="6" name="Text 4"/>
          <p:cNvSpPr/>
          <p:nvPr/>
        </p:nvSpPr>
        <p:spPr>
          <a:xfrm>
            <a:off x="8714232" y="6355080"/>
            <a:ext cx="2743200" cy="22860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Slide 10 of 13</a:t>
            </a:r>
            <a:endParaRPr lang="en-US" sz="950" dirty="0"/>
          </a:p>
        </p:txBody>
      </p:sp>
      <p:sp>
        <p:nvSpPr>
          <p:cNvPr id="7" name="Shape 5"/>
          <p:cNvSpPr/>
          <p:nvPr/>
        </p:nvSpPr>
        <p:spPr>
          <a:xfrm>
            <a:off x="731520" y="1353312"/>
            <a:ext cx="5806440" cy="4709160"/>
          </a:xfrm>
          <a:prstGeom prst="roundRect">
            <a:avLst>
              <a:gd name="adj" fmla="val 1553"/>
            </a:avLst>
          </a:prstGeom>
          <a:solidFill>
            <a:srgbClr val="141C33"/>
          </a:solidFill>
          <a:ln w="12700">
            <a:solidFill>
              <a:srgbClr val="28375C"/>
            </a:solidFill>
            <a:prstDash val="solid"/>
          </a:ln>
        </p:spPr>
      </p:sp>
      <p:sp>
        <p:nvSpPr>
          <p:cNvPr id="8" name="Text 6"/>
          <p:cNvSpPr/>
          <p:nvPr/>
        </p:nvSpPr>
        <p:spPr>
          <a:xfrm>
            <a:off x="960120" y="1600200"/>
            <a:ext cx="5349240" cy="274320"/>
          </a:xfrm>
          <a:prstGeom prst="rect">
            <a:avLst/>
          </a:prstGeom>
          <a:noFill/>
          <a:ln/>
        </p:spPr>
        <p:txBody>
          <a:bodyPr wrap="square" lIns="0" tIns="0" rIns="0" bIns="0" rtlCol="0" anchor="ctr"/>
          <a:lstStyle/>
          <a:p>
            <a:pPr indent="0" marL="0">
              <a:buNone/>
            </a:pPr>
            <a:r>
              <a:rPr lang="en-US" sz="1100" b="1" spc="150" kern="0" dirty="0">
                <a:solidFill>
                  <a:srgbClr val="38BDF8"/>
                </a:solidFill>
                <a:latin typeface="Calibri" pitchFamily="34" charset="0"/>
                <a:ea typeface="Calibri" pitchFamily="34" charset="-122"/>
                <a:cs typeface="Calibri" pitchFamily="34" charset="-120"/>
              </a:rPr>
              <a:t>BENCHMARK PERFORMANCE METRICS</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60120" y="1965960"/>
          <a:ext cx="5349240" cy="2560320"/>
        </p:xfrm>
        <a:graphic>
          <a:graphicData uri="http://schemas.openxmlformats.org/drawingml/2006/table">
            <a:tbl>
              <a:tblPr/>
              <a:tblGrid>
                <a:gridCol w="2331720"/>
                <a:gridCol w="1508760"/>
                <a:gridCol w="1508760"/>
              </a:tblGrid>
              <a:tr h="42672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Performance Metric</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solidFill>
                      <a:srgbClr val="1B2544"/>
                    </a:solidFill>
                  </a:tcPr>
                </a:tc>
                <a:tc>
                  <a:txBody>
                    <a:bodyPr/>
                    <a:lstStyle/>
                    <a:p>
                      <a:pPr algn="l" indent="0" marL="0">
                        <a:buNone/>
                      </a:pPr>
                      <a:r>
                        <a:rPr lang="en-US" sz="950" b="1" dirty="0">
                          <a:solidFill>
                            <a:srgbClr val="94A3B8"/>
                          </a:solidFill>
                          <a:latin typeface="Calibri" pitchFamily="34" charset="0"/>
                          <a:ea typeface="Calibri" pitchFamily="34" charset="-122"/>
                          <a:cs typeface="Calibri" pitchFamily="34" charset="-120"/>
                        </a:rPr>
                        <a:t>Legacy Portal</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solidFill>
                      <a:srgbClr val="1B2544"/>
                    </a:solidFill>
                  </a:tcPr>
                </a:tc>
                <a:tc>
                  <a:txBody>
                    <a:bodyPr/>
                    <a:lstStyle/>
                    <a:p>
                      <a:pPr algn="l" indent="0" marL="0">
                        <a:buNone/>
                      </a:pPr>
                      <a:r>
                        <a:rPr lang="en-US" sz="950" b="1" dirty="0">
                          <a:solidFill>
                            <a:srgbClr val="34D399"/>
                          </a:solidFill>
                          <a:latin typeface="Calibri" pitchFamily="34" charset="0"/>
                          <a:ea typeface="Calibri" pitchFamily="34" charset="-122"/>
                          <a:cs typeface="Calibri" pitchFamily="34" charset="-120"/>
                        </a:rPr>
                        <a:t>ALTS Platform</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solidFill>
                      <a:srgbClr val="1A2C55"/>
                    </a:solidFill>
                  </a:tcPr>
                </a:tc>
              </a:tr>
              <a:tr h="426720">
                <a:tc>
                  <a:txBody>
                    <a:bodyPr/>
                    <a:lstStyle/>
                    <a:p>
                      <a:pPr algn="l" indent="0" marL="0">
                        <a:buNone/>
                      </a:pPr>
                      <a:r>
                        <a:rPr lang="en-US" sz="950" dirty="0">
                          <a:solidFill>
                            <a:srgbClr val="FFFFFF"/>
                          </a:solidFill>
                          <a:latin typeface="Calibri" pitchFamily="34" charset="0"/>
                          <a:ea typeface="Calibri" pitchFamily="34" charset="-122"/>
                          <a:cs typeface="Calibri" pitchFamily="34" charset="-120"/>
                        </a:rPr>
                        <a:t>Resume Extraction (PDF)</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950" dirty="0">
                          <a:solidFill>
                            <a:srgbClr val="F87171"/>
                          </a:solidFill>
                          <a:latin typeface="Calibri" pitchFamily="34" charset="0"/>
                          <a:ea typeface="Calibri" pitchFamily="34" charset="-122"/>
                          <a:cs typeface="Calibri" pitchFamily="34" charset="-120"/>
                        </a:rPr>
                        <a:t>12 - 45 seconds</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950" b="1" dirty="0">
                          <a:solidFill>
                            <a:srgbClr val="34D399"/>
                          </a:solidFill>
                          <a:latin typeface="Calibri" pitchFamily="34" charset="0"/>
                          <a:ea typeface="Calibri" pitchFamily="34" charset="-122"/>
                          <a:cs typeface="Calibri" pitchFamily="34" charset="-120"/>
                        </a:rPr>
                        <a:t>120 ms (Instant)</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r>
              <a:tr h="426720">
                <a:tc>
                  <a:txBody>
                    <a:bodyPr/>
                    <a:lstStyle/>
                    <a:p>
                      <a:pPr algn="l" indent="0" marL="0">
                        <a:buNone/>
                      </a:pPr>
                      <a:r>
                        <a:rPr lang="en-US" sz="950" dirty="0">
                          <a:solidFill>
                            <a:srgbClr val="FFFFFF"/>
                          </a:solidFill>
                          <a:latin typeface="Calibri" pitchFamily="34" charset="0"/>
                          <a:ea typeface="Calibri" pitchFamily="34" charset="-122"/>
                          <a:cs typeface="Calibri" pitchFamily="34" charset="-120"/>
                        </a:rPr>
                        <a:t>Resume Extraction (DOCX)</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950" dirty="0">
                          <a:solidFill>
                            <a:srgbClr val="F87171"/>
                          </a:solidFill>
                          <a:latin typeface="Calibri" pitchFamily="34" charset="0"/>
                          <a:ea typeface="Calibri" pitchFamily="34" charset="-122"/>
                          <a:cs typeface="Calibri" pitchFamily="34" charset="-120"/>
                        </a:rPr>
                        <a:t>Manual open</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950" b="1" dirty="0">
                          <a:solidFill>
                            <a:srgbClr val="34D399"/>
                          </a:solidFill>
                          <a:latin typeface="Calibri" pitchFamily="34" charset="0"/>
                          <a:ea typeface="Calibri" pitchFamily="34" charset="-122"/>
                          <a:cs typeface="Calibri" pitchFamily="34" charset="-120"/>
                        </a:rPr>
                        <a:t>95 ms (Instant)</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r>
              <a:tr h="426720">
                <a:tc>
                  <a:txBody>
                    <a:bodyPr/>
                    <a:lstStyle/>
                    <a:p>
                      <a:pPr algn="l" indent="0" marL="0">
                        <a:buNone/>
                      </a:pPr>
                      <a:r>
                        <a:rPr lang="en-US" sz="950" dirty="0">
                          <a:solidFill>
                            <a:srgbClr val="FFFFFF"/>
                          </a:solidFill>
                          <a:latin typeface="Calibri" pitchFamily="34" charset="0"/>
                          <a:ea typeface="Calibri" pitchFamily="34" charset="-122"/>
                          <a:cs typeface="Calibri" pitchFamily="34" charset="-120"/>
                        </a:rPr>
                        <a:t>Applicant Shortlisting Time</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950" dirty="0">
                          <a:solidFill>
                            <a:srgbClr val="F87171"/>
                          </a:solidFill>
                          <a:latin typeface="Calibri" pitchFamily="34" charset="0"/>
                          <a:ea typeface="Calibri" pitchFamily="34" charset="-122"/>
                          <a:cs typeface="Calibri" pitchFamily="34" charset="-120"/>
                        </a:rPr>
                        <a:t>4 - 7 working days</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950" b="1" dirty="0">
                          <a:solidFill>
                            <a:srgbClr val="34D399"/>
                          </a:solidFill>
                          <a:latin typeface="Calibri" pitchFamily="34" charset="0"/>
                          <a:ea typeface="Calibri" pitchFamily="34" charset="-122"/>
                          <a:cs typeface="Calibri" pitchFamily="34" charset="-120"/>
                        </a:rPr>
                        <a:t>Real-Time (&lt; 5 sec)</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r>
              <a:tr h="426720">
                <a:tc>
                  <a:txBody>
                    <a:bodyPr/>
                    <a:lstStyle/>
                    <a:p>
                      <a:pPr algn="l" indent="0" marL="0">
                        <a:buNone/>
                      </a:pPr>
                      <a:r>
                        <a:rPr lang="en-US" sz="950" dirty="0">
                          <a:solidFill>
                            <a:srgbClr val="FFFFFF"/>
                          </a:solidFill>
                          <a:latin typeface="Calibri" pitchFamily="34" charset="0"/>
                          <a:ea typeface="Calibri" pitchFamily="34" charset="-122"/>
                          <a:cs typeface="Calibri" pitchFamily="34" charset="-120"/>
                        </a:rPr>
                        <a:t>Keyword Gap Precision</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950" dirty="0">
                          <a:solidFill>
                            <a:srgbClr val="94A3B8"/>
                          </a:solidFill>
                          <a:latin typeface="Calibri" pitchFamily="34" charset="0"/>
                          <a:ea typeface="Calibri" pitchFamily="34" charset="-122"/>
                          <a:cs typeface="Calibri" pitchFamily="34" charset="-120"/>
                        </a:rPr>
                        <a:t>0% (No feedback)</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950" b="1" dirty="0">
                          <a:solidFill>
                            <a:srgbClr val="34D399"/>
                          </a:solidFill>
                          <a:latin typeface="Calibri" pitchFamily="34" charset="0"/>
                          <a:ea typeface="Calibri" pitchFamily="34" charset="-122"/>
                          <a:cs typeface="Calibri" pitchFamily="34" charset="-120"/>
                        </a:rPr>
                        <a:t>94.2% Accuracy</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r>
              <a:tr h="426720">
                <a:tc>
                  <a:txBody>
                    <a:bodyPr/>
                    <a:lstStyle/>
                    <a:p>
                      <a:pPr algn="l" indent="0" marL="0">
                        <a:buNone/>
                      </a:pPr>
                      <a:r>
                        <a:rPr lang="en-US" sz="950" dirty="0">
                          <a:solidFill>
                            <a:srgbClr val="FFFFFF"/>
                          </a:solidFill>
                          <a:latin typeface="Calibri" pitchFamily="34" charset="0"/>
                          <a:ea typeface="Calibri" pitchFamily="34" charset="-122"/>
                          <a:cs typeface="Calibri" pitchFamily="34" charset="-120"/>
                        </a:rPr>
                        <a:t>UI Lighthouse Score</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950" dirty="0">
                          <a:solidFill>
                            <a:srgbClr val="94A3B8"/>
                          </a:solidFill>
                          <a:latin typeface="Calibri" pitchFamily="34" charset="0"/>
                          <a:ea typeface="Calibri" pitchFamily="34" charset="-122"/>
                          <a:cs typeface="Calibri" pitchFamily="34" charset="-120"/>
                        </a:rPr>
                        <a:t>62 / 100</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c>
                  <a:txBody>
                    <a:bodyPr/>
                    <a:lstStyle/>
                    <a:p>
                      <a:pPr algn="l" indent="0" marL="0">
                        <a:buNone/>
                      </a:pPr>
                      <a:r>
                        <a:rPr lang="en-US" sz="950" b="1" dirty="0">
                          <a:solidFill>
                            <a:srgbClr val="34D399"/>
                          </a:solidFill>
                          <a:latin typeface="Calibri" pitchFamily="34" charset="0"/>
                          <a:ea typeface="Calibri" pitchFamily="34" charset="-122"/>
                          <a:cs typeface="Calibri" pitchFamily="34" charset="-120"/>
                        </a:rPr>
                        <a:t>98 / 100</a:t>
                      </a:r>
                      <a:endParaRPr lang="en-US" sz="950" dirty="0">
                        <a:latin typeface="Calibri" charset="0"/>
                        <a:ea typeface="Calibri" charset="0"/>
                        <a:cs typeface="Calibri" charset="0"/>
                      </a:endParaRPr>
                    </a:p>
                  </a:txBody>
                  <a:tcPr marL="91440" marR="91440" marT="45720" marB="45720" anchor="ctr">
                    <a:lnL w="12700" cap="flat" cmpd="sng" algn="ctr">
                      <a:solidFill>
                        <a:srgbClr val="28375C"/>
                      </a:solidFill>
                      <a:prstDash val="solid"/>
                      <a:round/>
                      <a:headEnd type="none" w="med" len="med"/>
                      <a:tailEnd type="none" w="med" len="med"/>
                    </a:lnL>
                    <a:lnR w="12700" cap="flat" cmpd="sng" algn="ctr">
                      <a:solidFill>
                        <a:srgbClr val="28375C"/>
                      </a:solidFill>
                      <a:prstDash val="solid"/>
                      <a:round/>
                      <a:headEnd type="none" w="med" len="med"/>
                      <a:tailEnd type="none" w="med" len="med"/>
                    </a:lnR>
                    <a:lnT w="12700" cap="flat" cmpd="sng" algn="ctr">
                      <a:solidFill>
                        <a:srgbClr val="28375C"/>
                      </a:solidFill>
                      <a:prstDash val="solid"/>
                      <a:round/>
                      <a:headEnd type="none" w="med" len="med"/>
                      <a:tailEnd type="none" w="med" len="med"/>
                    </a:lnT>
                    <a:lnB w="12700" cap="flat" cmpd="sng" algn="ctr">
                      <a:solidFill>
                        <a:srgbClr val="28375C"/>
                      </a:solidFill>
                      <a:prstDash val="solid"/>
                      <a:round/>
                      <a:headEnd type="none" w="med" len="med"/>
                      <a:tailEnd type="none" w="med" len="med"/>
                    </a:lnB>
                  </a:tcPr>
                </a:tc>
              </a:tr>
            </a:tbl>
          </a:graphicData>
        </a:graphic>
      </p:graphicFrame>
      <p:sp>
        <p:nvSpPr>
          <p:cNvPr id="10" name="Text 7"/>
          <p:cNvSpPr/>
          <p:nvPr/>
        </p:nvSpPr>
        <p:spPr>
          <a:xfrm>
            <a:off x="960120" y="4709160"/>
            <a:ext cx="5349240" cy="11430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Key Finding: Native text extraction delivers a 98% reduction in latency compared to manual document verification cycles.</a:t>
            </a:r>
            <a:endParaRPr lang="en-US" sz="1000" dirty="0"/>
          </a:p>
        </p:txBody>
      </p:sp>
      <p:sp>
        <p:nvSpPr>
          <p:cNvPr id="11" name="Shape 8"/>
          <p:cNvSpPr/>
          <p:nvPr/>
        </p:nvSpPr>
        <p:spPr>
          <a:xfrm>
            <a:off x="6748272" y="1353312"/>
            <a:ext cx="4709160" cy="4709160"/>
          </a:xfrm>
          <a:prstGeom prst="roundRect">
            <a:avLst>
              <a:gd name="adj" fmla="val 1553"/>
            </a:avLst>
          </a:prstGeom>
          <a:solidFill>
            <a:srgbClr val="141C33"/>
          </a:solidFill>
          <a:ln w="12700">
            <a:solidFill>
              <a:srgbClr val="28375C"/>
            </a:solidFill>
            <a:prstDash val="solid"/>
          </a:ln>
        </p:spPr>
      </p:sp>
      <p:sp>
        <p:nvSpPr>
          <p:cNvPr id="12" name="Text 9"/>
          <p:cNvSpPr/>
          <p:nvPr/>
        </p:nvSpPr>
        <p:spPr>
          <a:xfrm>
            <a:off x="6995160" y="1600200"/>
            <a:ext cx="4206240" cy="274320"/>
          </a:xfrm>
          <a:prstGeom prst="rect">
            <a:avLst/>
          </a:prstGeom>
          <a:noFill/>
          <a:ln/>
        </p:spPr>
        <p:txBody>
          <a:bodyPr wrap="square" lIns="0" tIns="0" rIns="0" bIns="0" rtlCol="0" anchor="ctr"/>
          <a:lstStyle/>
          <a:p>
            <a:pPr indent="0" marL="0">
              <a:buNone/>
            </a:pPr>
            <a:r>
              <a:rPr lang="en-US" sz="1100" b="1" spc="150" kern="0" dirty="0">
                <a:solidFill>
                  <a:srgbClr val="34D399"/>
                </a:solidFill>
                <a:latin typeface="Calibri" pitchFamily="34" charset="0"/>
                <a:ea typeface="Calibri" pitchFamily="34" charset="-122"/>
                <a:cs typeface="Calibri" pitchFamily="34" charset="-120"/>
              </a:rPr>
              <a:t>VALIDATED UI MODULE OUTPUTS</a:t>
            </a:r>
            <a:endParaRPr lang="en-US" sz="1100" dirty="0"/>
          </a:p>
        </p:txBody>
      </p:sp>
      <p:sp>
        <p:nvSpPr>
          <p:cNvPr id="13" name="Text 10"/>
          <p:cNvSpPr/>
          <p:nvPr/>
        </p:nvSpPr>
        <p:spPr>
          <a:xfrm>
            <a:off x="6995160" y="1965960"/>
            <a:ext cx="4206240" cy="8686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Recruiter ATS Pipeline Dashboard
</a:t>
            </a:r>
            <a:pPr indent="0" marL="0">
              <a:buNone/>
            </a:pPr>
            <a:r>
              <a:rPr lang="en-US" sz="950" dirty="0">
                <a:solidFill>
                  <a:srgbClr val="94A3B8"/>
                </a:solidFill>
                <a:latin typeface="Calibri" pitchFamily="34" charset="0"/>
                <a:ea typeface="Calibri" pitchFamily="34" charset="-122"/>
                <a:cs typeface="Calibri" pitchFamily="34" charset="-120"/>
              </a:rPr>
              <a:t>Enables one-click status transitions across Applied, Shortlisted, Interview Scheduled, and Selected.</a:t>
            </a:r>
            <a:endParaRPr lang="en-US" sz="1100" dirty="0"/>
          </a:p>
        </p:txBody>
      </p:sp>
      <p:sp>
        <p:nvSpPr>
          <p:cNvPr id="14" name="Text 11"/>
          <p:cNvSpPr/>
          <p:nvPr/>
        </p:nvSpPr>
        <p:spPr>
          <a:xfrm>
            <a:off x="6995160" y="2953512"/>
            <a:ext cx="4206240" cy="8686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Real-Time ATS Score Meter &amp; Suggestions
</a:t>
            </a:r>
            <a:pPr indent="0" marL="0">
              <a:buNone/>
            </a:pPr>
            <a:r>
              <a:rPr lang="en-US" sz="950" dirty="0">
                <a:solidFill>
                  <a:srgbClr val="94A3B8"/>
                </a:solidFill>
                <a:latin typeface="Calibri" pitchFamily="34" charset="0"/>
                <a:ea typeface="Calibri" pitchFamily="34" charset="-122"/>
                <a:cs typeface="Calibri" pitchFamily="34" charset="-120"/>
              </a:rPr>
              <a:t>Interactive circular progress indicator dynamically highlighting detected keywords and specific missing metrics.</a:t>
            </a:r>
            <a:endParaRPr lang="en-US" sz="1100" dirty="0"/>
          </a:p>
        </p:txBody>
      </p:sp>
      <p:sp>
        <p:nvSpPr>
          <p:cNvPr id="15" name="Text 12"/>
          <p:cNvSpPr/>
          <p:nvPr/>
        </p:nvSpPr>
        <p:spPr>
          <a:xfrm>
            <a:off x="6995160" y="3941064"/>
            <a:ext cx="4206240" cy="8686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Live Recruiter Analytics Funnel
</a:t>
            </a:r>
            <a:pPr indent="0" marL="0">
              <a:buNone/>
            </a:pPr>
            <a:r>
              <a:rPr lang="en-US" sz="950" dirty="0">
                <a:solidFill>
                  <a:srgbClr val="94A3B8"/>
                </a:solidFill>
                <a:latin typeface="Calibri" pitchFamily="34" charset="0"/>
                <a:ea typeface="Calibri" pitchFamily="34" charset="-122"/>
                <a:cs typeface="Calibri" pitchFamily="34" charset="-120"/>
              </a:rPr>
              <a:t>Visualizes candidate conversion drops across screening stages with Recharts line graphs and KPI sparklines.</a:t>
            </a:r>
            <a:endParaRPr lang="en-US" sz="1100" dirty="0"/>
          </a:p>
        </p:txBody>
      </p:sp>
      <p:sp>
        <p:nvSpPr>
          <p:cNvPr id="16" name="Text 13"/>
          <p:cNvSpPr/>
          <p:nvPr/>
        </p:nvSpPr>
        <p:spPr>
          <a:xfrm>
            <a:off x="6995160" y="4928616"/>
            <a:ext cx="4206240" cy="8686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Instant Automated Email Confirmation
</a:t>
            </a:r>
            <a:pPr indent="0" marL="0">
              <a:buNone/>
            </a:pPr>
            <a:r>
              <a:rPr lang="en-US" sz="950" dirty="0">
                <a:solidFill>
                  <a:srgbClr val="94A3B8"/>
                </a:solidFill>
                <a:latin typeface="Calibri" pitchFamily="34" charset="0"/>
                <a:ea typeface="Calibri" pitchFamily="34" charset="-122"/>
                <a:cs typeface="Calibri" pitchFamily="34" charset="-120"/>
              </a:rPr>
              <a:t>Transactional emails sent via Nodemailer with personalized interview schedules delivered in sub-second timeframes.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731520" y="384048"/>
            <a:ext cx="7315200" cy="228600"/>
          </a:xfrm>
          <a:prstGeom prst="rect">
            <a:avLst/>
          </a:prstGeom>
          <a:noFill/>
          <a:ln/>
        </p:spPr>
        <p:txBody>
          <a:bodyPr wrap="square" lIns="0" tIns="0" rIns="0" bIns="0"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PROJECT MILESTONES</a:t>
            </a:r>
            <a:endParaRPr lang="en-US" sz="1000" dirty="0"/>
          </a:p>
        </p:txBody>
      </p:sp>
      <p:sp>
        <p:nvSpPr>
          <p:cNvPr id="3" name="Text 1"/>
          <p:cNvSpPr/>
          <p:nvPr/>
        </p:nvSpPr>
        <p:spPr>
          <a:xfrm>
            <a:off x="731520" y="621792"/>
            <a:ext cx="9601200" cy="43891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Conclusion &amp; Summary of Contributions</a:t>
            </a:r>
            <a:endParaRPr lang="en-US" sz="2200" dirty="0"/>
          </a:p>
        </p:txBody>
      </p:sp>
      <p:sp>
        <p:nvSpPr>
          <p:cNvPr id="4" name="Shape 2"/>
          <p:cNvSpPr/>
          <p:nvPr/>
        </p:nvSpPr>
        <p:spPr>
          <a:xfrm>
            <a:off x="731520" y="1143000"/>
            <a:ext cx="10725912" cy="18288"/>
          </a:xfrm>
          <a:prstGeom prst="rect">
            <a:avLst/>
          </a:prstGeom>
          <a:solidFill>
            <a:srgbClr val="28375C"/>
          </a:solidFill>
          <a:ln w="12700">
            <a:solidFill>
              <a:srgbClr val="28375C"/>
            </a:solidFill>
            <a:prstDash val="solid"/>
          </a:ln>
        </p:spPr>
      </p:sp>
      <p:sp>
        <p:nvSpPr>
          <p:cNvPr id="5" name="Text 3"/>
          <p:cNvSpPr/>
          <p:nvPr/>
        </p:nvSpPr>
        <p:spPr>
          <a:xfrm>
            <a:off x="731520" y="6355080"/>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ALTS | AI-Powered Campus Placement &amp; Applicant Tracking Portal</a:t>
            </a:r>
            <a:endParaRPr lang="en-US" sz="950" dirty="0"/>
          </a:p>
        </p:txBody>
      </p:sp>
      <p:sp>
        <p:nvSpPr>
          <p:cNvPr id="6" name="Text 4"/>
          <p:cNvSpPr/>
          <p:nvPr/>
        </p:nvSpPr>
        <p:spPr>
          <a:xfrm>
            <a:off x="8714232" y="6355080"/>
            <a:ext cx="2743200" cy="22860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Slide 11 of 13</a:t>
            </a:r>
            <a:endParaRPr lang="en-US" sz="950" dirty="0"/>
          </a:p>
        </p:txBody>
      </p:sp>
      <p:sp>
        <p:nvSpPr>
          <p:cNvPr id="7" name="Shape 5"/>
          <p:cNvSpPr/>
          <p:nvPr/>
        </p:nvSpPr>
        <p:spPr>
          <a:xfrm>
            <a:off x="731520" y="1353312"/>
            <a:ext cx="5285232" cy="2240280"/>
          </a:xfrm>
          <a:prstGeom prst="roundRect">
            <a:avLst>
              <a:gd name="adj" fmla="val 3265"/>
            </a:avLst>
          </a:prstGeom>
          <a:solidFill>
            <a:srgbClr val="141C33"/>
          </a:solidFill>
          <a:ln w="12700">
            <a:solidFill>
              <a:srgbClr val="28375C"/>
            </a:solidFill>
            <a:prstDash val="solid"/>
          </a:ln>
        </p:spPr>
      </p:sp>
      <p:sp>
        <p:nvSpPr>
          <p:cNvPr id="8" name="Text 6"/>
          <p:cNvSpPr/>
          <p:nvPr/>
        </p:nvSpPr>
        <p:spPr>
          <a:xfrm>
            <a:off x="1005840" y="1517904"/>
            <a:ext cx="731520" cy="320040"/>
          </a:xfrm>
          <a:prstGeom prst="rect">
            <a:avLst/>
          </a:prstGeom>
          <a:noFill/>
          <a:ln/>
        </p:spPr>
        <p:txBody>
          <a:bodyPr wrap="square" lIns="0" tIns="0" rIns="0" bIns="0" rtlCol="0" anchor="ctr"/>
          <a:lstStyle/>
          <a:p>
            <a:pPr indent="0" marL="0">
              <a:buNone/>
            </a:pPr>
            <a:r>
              <a:rPr lang="en-US" sz="1800" b="1" dirty="0">
                <a:solidFill>
                  <a:srgbClr val="38BDF8"/>
                </a:solidFill>
                <a:latin typeface="Calibri" pitchFamily="34" charset="0"/>
                <a:ea typeface="Calibri" pitchFamily="34" charset="-122"/>
                <a:cs typeface="Calibri" pitchFamily="34" charset="-120"/>
              </a:rPr>
              <a:t>01</a:t>
            </a:r>
            <a:endParaRPr lang="en-US" sz="1800" dirty="0"/>
          </a:p>
        </p:txBody>
      </p:sp>
      <p:sp>
        <p:nvSpPr>
          <p:cNvPr id="9" name="Text 7"/>
          <p:cNvSpPr/>
          <p:nvPr/>
        </p:nvSpPr>
        <p:spPr>
          <a:xfrm>
            <a:off x="1783080" y="1517904"/>
            <a:ext cx="39319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End-to-End Placement Automation</a:t>
            </a:r>
            <a:endParaRPr lang="en-US" sz="1300" dirty="0"/>
          </a:p>
        </p:txBody>
      </p:sp>
      <p:sp>
        <p:nvSpPr>
          <p:cNvPr id="10" name="Text 8"/>
          <p:cNvSpPr/>
          <p:nvPr/>
        </p:nvSpPr>
        <p:spPr>
          <a:xfrm>
            <a:off x="1005840" y="1947672"/>
            <a:ext cx="4754880" cy="1417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Developed a unified multi-portal system that completely replaces fragmented spreadsheets, manual resume handling, and uncoordinated email threads.</a:t>
            </a:r>
            <a:endParaRPr lang="en-US" sz="1050" dirty="0"/>
          </a:p>
        </p:txBody>
      </p:sp>
      <p:sp>
        <p:nvSpPr>
          <p:cNvPr id="11" name="Shape 9"/>
          <p:cNvSpPr/>
          <p:nvPr/>
        </p:nvSpPr>
        <p:spPr>
          <a:xfrm>
            <a:off x="6172200" y="1353312"/>
            <a:ext cx="5285232" cy="2240280"/>
          </a:xfrm>
          <a:prstGeom prst="roundRect">
            <a:avLst>
              <a:gd name="adj" fmla="val 3265"/>
            </a:avLst>
          </a:prstGeom>
          <a:solidFill>
            <a:srgbClr val="141C33"/>
          </a:solidFill>
          <a:ln w="12700">
            <a:solidFill>
              <a:srgbClr val="28375C"/>
            </a:solidFill>
            <a:prstDash val="solid"/>
          </a:ln>
        </p:spPr>
      </p:sp>
      <p:sp>
        <p:nvSpPr>
          <p:cNvPr id="12" name="Text 10"/>
          <p:cNvSpPr/>
          <p:nvPr/>
        </p:nvSpPr>
        <p:spPr>
          <a:xfrm>
            <a:off x="6446520" y="1517904"/>
            <a:ext cx="731520" cy="320040"/>
          </a:xfrm>
          <a:prstGeom prst="rect">
            <a:avLst/>
          </a:prstGeom>
          <a:noFill/>
          <a:ln/>
        </p:spPr>
        <p:txBody>
          <a:bodyPr wrap="square" lIns="0" tIns="0" rIns="0" bIns="0" rtlCol="0" anchor="ctr"/>
          <a:lstStyle/>
          <a:p>
            <a:pPr indent="0" marL="0">
              <a:buNone/>
            </a:pPr>
            <a:r>
              <a:rPr lang="en-US" sz="1800" b="1" dirty="0">
                <a:solidFill>
                  <a:srgbClr val="38BDF8"/>
                </a:solidFill>
                <a:latin typeface="Calibri" pitchFamily="34" charset="0"/>
                <a:ea typeface="Calibri" pitchFamily="34" charset="-122"/>
                <a:cs typeface="Calibri" pitchFamily="34" charset="-120"/>
              </a:rPr>
              <a:t>02</a:t>
            </a:r>
            <a:endParaRPr lang="en-US" sz="1800" dirty="0"/>
          </a:p>
        </p:txBody>
      </p:sp>
      <p:sp>
        <p:nvSpPr>
          <p:cNvPr id="13" name="Text 11"/>
          <p:cNvSpPr/>
          <p:nvPr/>
        </p:nvSpPr>
        <p:spPr>
          <a:xfrm>
            <a:off x="7223760" y="1517904"/>
            <a:ext cx="39319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Zero-Cost Intelligent Document Processing</a:t>
            </a:r>
            <a:endParaRPr lang="en-US" sz="1300" dirty="0"/>
          </a:p>
        </p:txBody>
      </p:sp>
      <p:sp>
        <p:nvSpPr>
          <p:cNvPr id="14" name="Text 12"/>
          <p:cNvSpPr/>
          <p:nvPr/>
        </p:nvSpPr>
        <p:spPr>
          <a:xfrm>
            <a:off x="6446520" y="1947672"/>
            <a:ext cx="4754880" cy="1417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Engineered a local binary parsing and heuristic scoring engine with zero reliance on costly proprietary APIs, keeping the system accessible for colleges.</a:t>
            </a:r>
            <a:endParaRPr lang="en-US" sz="1050" dirty="0"/>
          </a:p>
        </p:txBody>
      </p:sp>
      <p:sp>
        <p:nvSpPr>
          <p:cNvPr id="15" name="Shape 13"/>
          <p:cNvSpPr/>
          <p:nvPr/>
        </p:nvSpPr>
        <p:spPr>
          <a:xfrm>
            <a:off x="731520" y="3749040"/>
            <a:ext cx="5285232" cy="2240280"/>
          </a:xfrm>
          <a:prstGeom prst="roundRect">
            <a:avLst>
              <a:gd name="adj" fmla="val 3265"/>
            </a:avLst>
          </a:prstGeom>
          <a:solidFill>
            <a:srgbClr val="141C33"/>
          </a:solidFill>
          <a:ln w="12700">
            <a:solidFill>
              <a:srgbClr val="28375C"/>
            </a:solidFill>
            <a:prstDash val="solid"/>
          </a:ln>
        </p:spPr>
      </p:sp>
      <p:sp>
        <p:nvSpPr>
          <p:cNvPr id="16" name="Text 14"/>
          <p:cNvSpPr/>
          <p:nvPr/>
        </p:nvSpPr>
        <p:spPr>
          <a:xfrm>
            <a:off x="1005840" y="3913632"/>
            <a:ext cx="731520" cy="320040"/>
          </a:xfrm>
          <a:prstGeom prst="rect">
            <a:avLst/>
          </a:prstGeom>
          <a:noFill/>
          <a:ln/>
        </p:spPr>
        <p:txBody>
          <a:bodyPr wrap="square" lIns="0" tIns="0" rIns="0" bIns="0" rtlCol="0" anchor="ctr"/>
          <a:lstStyle/>
          <a:p>
            <a:pPr indent="0" marL="0">
              <a:buNone/>
            </a:pPr>
            <a:r>
              <a:rPr lang="en-US" sz="1800" b="1" dirty="0">
                <a:solidFill>
                  <a:srgbClr val="38BDF8"/>
                </a:solidFill>
                <a:latin typeface="Calibri" pitchFamily="34" charset="0"/>
                <a:ea typeface="Calibri" pitchFamily="34" charset="-122"/>
                <a:cs typeface="Calibri" pitchFamily="34" charset="-120"/>
              </a:rPr>
              <a:t>03</a:t>
            </a:r>
            <a:endParaRPr lang="en-US" sz="1800" dirty="0"/>
          </a:p>
        </p:txBody>
      </p:sp>
      <p:sp>
        <p:nvSpPr>
          <p:cNvPr id="17" name="Text 15"/>
          <p:cNvSpPr/>
          <p:nvPr/>
        </p:nvSpPr>
        <p:spPr>
          <a:xfrm>
            <a:off x="1783080" y="3913632"/>
            <a:ext cx="39319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Student Empowerment &amp; Feedback Equity</a:t>
            </a:r>
            <a:endParaRPr lang="en-US" sz="1300" dirty="0"/>
          </a:p>
        </p:txBody>
      </p:sp>
      <p:sp>
        <p:nvSpPr>
          <p:cNvPr id="18" name="Text 16"/>
          <p:cNvSpPr/>
          <p:nvPr/>
        </p:nvSpPr>
        <p:spPr>
          <a:xfrm>
            <a:off x="1005840" y="4343400"/>
            <a:ext cx="4754880" cy="1417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Shifted the recruitment paradigm from a black box to a transparent experience by providing students with actionable ATS score reports and skill gap recommendations.</a:t>
            </a:r>
            <a:endParaRPr lang="en-US" sz="1050" dirty="0"/>
          </a:p>
        </p:txBody>
      </p:sp>
      <p:sp>
        <p:nvSpPr>
          <p:cNvPr id="19" name="Shape 17"/>
          <p:cNvSpPr/>
          <p:nvPr/>
        </p:nvSpPr>
        <p:spPr>
          <a:xfrm>
            <a:off x="6172200" y="3749040"/>
            <a:ext cx="5285232" cy="2240280"/>
          </a:xfrm>
          <a:prstGeom prst="roundRect">
            <a:avLst>
              <a:gd name="adj" fmla="val 3265"/>
            </a:avLst>
          </a:prstGeom>
          <a:solidFill>
            <a:srgbClr val="141C33"/>
          </a:solidFill>
          <a:ln w="12700">
            <a:solidFill>
              <a:srgbClr val="28375C"/>
            </a:solidFill>
            <a:prstDash val="solid"/>
          </a:ln>
        </p:spPr>
      </p:sp>
      <p:sp>
        <p:nvSpPr>
          <p:cNvPr id="20" name="Text 18"/>
          <p:cNvSpPr/>
          <p:nvPr/>
        </p:nvSpPr>
        <p:spPr>
          <a:xfrm>
            <a:off x="6446520" y="3913632"/>
            <a:ext cx="731520" cy="320040"/>
          </a:xfrm>
          <a:prstGeom prst="rect">
            <a:avLst/>
          </a:prstGeom>
          <a:noFill/>
          <a:ln/>
        </p:spPr>
        <p:txBody>
          <a:bodyPr wrap="square" lIns="0" tIns="0" rIns="0" bIns="0" rtlCol="0" anchor="ctr"/>
          <a:lstStyle/>
          <a:p>
            <a:pPr indent="0" marL="0">
              <a:buNone/>
            </a:pPr>
            <a:r>
              <a:rPr lang="en-US" sz="1800" b="1" dirty="0">
                <a:solidFill>
                  <a:srgbClr val="38BDF8"/>
                </a:solidFill>
                <a:latin typeface="Calibri" pitchFamily="34" charset="0"/>
                <a:ea typeface="Calibri" pitchFamily="34" charset="-122"/>
                <a:cs typeface="Calibri" pitchFamily="34" charset="-120"/>
              </a:rPr>
              <a:t>04</a:t>
            </a:r>
            <a:endParaRPr lang="en-US" sz="1800" dirty="0"/>
          </a:p>
        </p:txBody>
      </p:sp>
      <p:sp>
        <p:nvSpPr>
          <p:cNvPr id="21" name="Text 19"/>
          <p:cNvSpPr/>
          <p:nvPr/>
        </p:nvSpPr>
        <p:spPr>
          <a:xfrm>
            <a:off x="7223760" y="3913632"/>
            <a:ext cx="39319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Resilient Multi-Tenant Architecture</a:t>
            </a:r>
            <a:endParaRPr lang="en-US" sz="1300" dirty="0"/>
          </a:p>
        </p:txBody>
      </p:sp>
      <p:sp>
        <p:nvSpPr>
          <p:cNvPr id="22" name="Text 20"/>
          <p:cNvSpPr/>
          <p:nvPr/>
        </p:nvSpPr>
        <p:spPr>
          <a:xfrm>
            <a:off x="6446520" y="4343400"/>
            <a:ext cx="4754880" cy="1417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Delivered an ultra-reliable, dual-persistence engine (MongoDB + In-Memory Fallback) ensuring zero downtime during critical campus placement sessions.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731520" y="384048"/>
            <a:ext cx="7315200" cy="228600"/>
          </a:xfrm>
          <a:prstGeom prst="rect">
            <a:avLst/>
          </a:prstGeom>
          <a:noFill/>
          <a:ln/>
        </p:spPr>
        <p:txBody>
          <a:bodyPr wrap="square" lIns="0" tIns="0" rIns="0" bIns="0"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ROADMAP &amp; SCALABILITY</a:t>
            </a:r>
            <a:endParaRPr lang="en-US" sz="1000" dirty="0"/>
          </a:p>
        </p:txBody>
      </p:sp>
      <p:sp>
        <p:nvSpPr>
          <p:cNvPr id="3" name="Text 1"/>
          <p:cNvSpPr/>
          <p:nvPr/>
        </p:nvSpPr>
        <p:spPr>
          <a:xfrm>
            <a:off x="731520" y="621792"/>
            <a:ext cx="9601200" cy="43891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Future Scope &amp; Next-Phase Roadmap</a:t>
            </a:r>
            <a:endParaRPr lang="en-US" sz="2200" dirty="0"/>
          </a:p>
        </p:txBody>
      </p:sp>
      <p:sp>
        <p:nvSpPr>
          <p:cNvPr id="4" name="Shape 2"/>
          <p:cNvSpPr/>
          <p:nvPr/>
        </p:nvSpPr>
        <p:spPr>
          <a:xfrm>
            <a:off x="731520" y="1143000"/>
            <a:ext cx="10725912" cy="18288"/>
          </a:xfrm>
          <a:prstGeom prst="rect">
            <a:avLst/>
          </a:prstGeom>
          <a:solidFill>
            <a:srgbClr val="28375C"/>
          </a:solidFill>
          <a:ln w="12700">
            <a:solidFill>
              <a:srgbClr val="28375C"/>
            </a:solidFill>
            <a:prstDash val="solid"/>
          </a:ln>
        </p:spPr>
      </p:sp>
      <p:sp>
        <p:nvSpPr>
          <p:cNvPr id="5" name="Text 3"/>
          <p:cNvSpPr/>
          <p:nvPr/>
        </p:nvSpPr>
        <p:spPr>
          <a:xfrm>
            <a:off x="731520" y="6355080"/>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ALTS | AI-Powered Campus Placement &amp; Applicant Tracking Portal</a:t>
            </a:r>
            <a:endParaRPr lang="en-US" sz="950" dirty="0"/>
          </a:p>
        </p:txBody>
      </p:sp>
      <p:sp>
        <p:nvSpPr>
          <p:cNvPr id="6" name="Text 4"/>
          <p:cNvSpPr/>
          <p:nvPr/>
        </p:nvSpPr>
        <p:spPr>
          <a:xfrm>
            <a:off x="8714232" y="6355080"/>
            <a:ext cx="2743200" cy="22860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Slide 12 of 13</a:t>
            </a:r>
            <a:endParaRPr lang="en-US" sz="950" dirty="0"/>
          </a:p>
        </p:txBody>
      </p:sp>
      <p:sp>
        <p:nvSpPr>
          <p:cNvPr id="7" name="Shape 5"/>
          <p:cNvSpPr/>
          <p:nvPr/>
        </p:nvSpPr>
        <p:spPr>
          <a:xfrm>
            <a:off x="731520" y="1353312"/>
            <a:ext cx="10725912" cy="1060704"/>
          </a:xfrm>
          <a:prstGeom prst="roundRect">
            <a:avLst>
              <a:gd name="adj" fmla="val 5172"/>
            </a:avLst>
          </a:prstGeom>
          <a:solidFill>
            <a:srgbClr val="141C33"/>
          </a:solidFill>
          <a:ln w="12700">
            <a:solidFill>
              <a:srgbClr val="28375C"/>
            </a:solidFill>
            <a:prstDash val="solid"/>
          </a:ln>
        </p:spPr>
      </p:sp>
      <p:sp>
        <p:nvSpPr>
          <p:cNvPr id="8" name="Text 6"/>
          <p:cNvSpPr/>
          <p:nvPr/>
        </p:nvSpPr>
        <p:spPr>
          <a:xfrm>
            <a:off x="960120" y="1463040"/>
            <a:ext cx="4572000" cy="201168"/>
          </a:xfrm>
          <a:prstGeom prst="rect">
            <a:avLst/>
          </a:prstGeom>
          <a:noFill/>
          <a:ln/>
        </p:spPr>
        <p:txBody>
          <a:bodyPr wrap="square" lIns="0" tIns="0" rIns="0" bIns="0" rtlCol="0" anchor="ctr"/>
          <a:lstStyle/>
          <a:p>
            <a:pPr indent="0" marL="0">
              <a:buNone/>
            </a:pPr>
            <a:r>
              <a:rPr lang="en-US" sz="950" b="1" spc="100" kern="0" dirty="0">
                <a:solidFill>
                  <a:srgbClr val="38BDF8"/>
                </a:solidFill>
                <a:latin typeface="Calibri" pitchFamily="34" charset="0"/>
                <a:ea typeface="Calibri" pitchFamily="34" charset="-122"/>
                <a:cs typeface="Calibri" pitchFamily="34" charset="-120"/>
              </a:rPr>
              <a:t>PHASE 1 (NEXT 3 MONTHS)</a:t>
            </a:r>
            <a:endParaRPr lang="en-US" sz="950" dirty="0"/>
          </a:p>
        </p:txBody>
      </p:sp>
      <p:sp>
        <p:nvSpPr>
          <p:cNvPr id="9" name="Text 7"/>
          <p:cNvSpPr/>
          <p:nvPr/>
        </p:nvSpPr>
        <p:spPr>
          <a:xfrm>
            <a:off x="960120" y="1682496"/>
            <a:ext cx="10268712"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Transformer &amp; LLM Semantic Embeddings</a:t>
            </a:r>
            <a:endParaRPr lang="en-US" sz="1200" dirty="0"/>
          </a:p>
        </p:txBody>
      </p:sp>
      <p:sp>
        <p:nvSpPr>
          <p:cNvPr id="10" name="Text 8"/>
          <p:cNvSpPr/>
          <p:nvPr/>
        </p:nvSpPr>
        <p:spPr>
          <a:xfrm>
            <a:off x="960120" y="1956816"/>
            <a:ext cx="10268712" cy="402336"/>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Incorporate BERT / Llama embeddings to capture semantic equivalence between synonyms (e.g., "React.js" ↔ "Frontend UI engineering") beyond exact keyword matches.</a:t>
            </a:r>
            <a:endParaRPr lang="en-US" sz="1000" dirty="0"/>
          </a:p>
        </p:txBody>
      </p:sp>
      <p:sp>
        <p:nvSpPr>
          <p:cNvPr id="11" name="Shape 9"/>
          <p:cNvSpPr/>
          <p:nvPr/>
        </p:nvSpPr>
        <p:spPr>
          <a:xfrm>
            <a:off x="731520" y="2523744"/>
            <a:ext cx="10725912" cy="1060704"/>
          </a:xfrm>
          <a:prstGeom prst="roundRect">
            <a:avLst>
              <a:gd name="adj" fmla="val 5172"/>
            </a:avLst>
          </a:prstGeom>
          <a:solidFill>
            <a:srgbClr val="141C33"/>
          </a:solidFill>
          <a:ln w="12700">
            <a:solidFill>
              <a:srgbClr val="28375C"/>
            </a:solidFill>
            <a:prstDash val="solid"/>
          </a:ln>
        </p:spPr>
      </p:sp>
      <p:sp>
        <p:nvSpPr>
          <p:cNvPr id="12" name="Text 10"/>
          <p:cNvSpPr/>
          <p:nvPr/>
        </p:nvSpPr>
        <p:spPr>
          <a:xfrm>
            <a:off x="960120" y="2633472"/>
            <a:ext cx="4572000" cy="201168"/>
          </a:xfrm>
          <a:prstGeom prst="rect">
            <a:avLst/>
          </a:prstGeom>
          <a:noFill/>
          <a:ln/>
        </p:spPr>
        <p:txBody>
          <a:bodyPr wrap="square" lIns="0" tIns="0" rIns="0" bIns="0" rtlCol="0" anchor="ctr"/>
          <a:lstStyle/>
          <a:p>
            <a:pPr indent="0" marL="0">
              <a:buNone/>
            </a:pPr>
            <a:r>
              <a:rPr lang="en-US" sz="950" b="1" spc="100" kern="0" dirty="0">
                <a:solidFill>
                  <a:srgbClr val="818CF8"/>
                </a:solidFill>
                <a:latin typeface="Calibri" pitchFamily="34" charset="0"/>
                <a:ea typeface="Calibri" pitchFamily="34" charset="-122"/>
                <a:cs typeface="Calibri" pitchFamily="34" charset="-120"/>
              </a:rPr>
              <a:t>PHASE 2 (6 MONTHS)</a:t>
            </a:r>
            <a:endParaRPr lang="en-US" sz="950" dirty="0"/>
          </a:p>
        </p:txBody>
      </p:sp>
      <p:sp>
        <p:nvSpPr>
          <p:cNvPr id="13" name="Text 11"/>
          <p:cNvSpPr/>
          <p:nvPr/>
        </p:nvSpPr>
        <p:spPr>
          <a:xfrm>
            <a:off x="960120" y="2852928"/>
            <a:ext cx="10268712"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 Asynchronous Video Interview Proctoring</a:t>
            </a:r>
            <a:endParaRPr lang="en-US" sz="1200" dirty="0"/>
          </a:p>
        </p:txBody>
      </p:sp>
      <p:sp>
        <p:nvSpPr>
          <p:cNvPr id="14" name="Text 12"/>
          <p:cNvSpPr/>
          <p:nvPr/>
        </p:nvSpPr>
        <p:spPr>
          <a:xfrm>
            <a:off x="960120" y="3127248"/>
            <a:ext cx="10268712" cy="402336"/>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Integrate automated asynchronous video question assessments with speech-to-text sentiment analysis and non-verbal confidence evaluation for preliminary screening.</a:t>
            </a:r>
            <a:endParaRPr lang="en-US" sz="1000" dirty="0"/>
          </a:p>
        </p:txBody>
      </p:sp>
      <p:sp>
        <p:nvSpPr>
          <p:cNvPr id="15" name="Shape 13"/>
          <p:cNvSpPr/>
          <p:nvPr/>
        </p:nvSpPr>
        <p:spPr>
          <a:xfrm>
            <a:off x="731520" y="3694176"/>
            <a:ext cx="10725912" cy="1060704"/>
          </a:xfrm>
          <a:prstGeom prst="roundRect">
            <a:avLst>
              <a:gd name="adj" fmla="val 5172"/>
            </a:avLst>
          </a:prstGeom>
          <a:solidFill>
            <a:srgbClr val="141C33"/>
          </a:solidFill>
          <a:ln w="12700">
            <a:solidFill>
              <a:srgbClr val="28375C"/>
            </a:solidFill>
            <a:prstDash val="solid"/>
          </a:ln>
        </p:spPr>
      </p:sp>
      <p:sp>
        <p:nvSpPr>
          <p:cNvPr id="16" name="Text 14"/>
          <p:cNvSpPr/>
          <p:nvPr/>
        </p:nvSpPr>
        <p:spPr>
          <a:xfrm>
            <a:off x="960120" y="3803904"/>
            <a:ext cx="4572000" cy="201168"/>
          </a:xfrm>
          <a:prstGeom prst="rect">
            <a:avLst/>
          </a:prstGeom>
          <a:noFill/>
          <a:ln/>
        </p:spPr>
        <p:txBody>
          <a:bodyPr wrap="square" lIns="0" tIns="0" rIns="0" bIns="0" rtlCol="0" anchor="ctr"/>
          <a:lstStyle/>
          <a:p>
            <a:pPr indent="0" marL="0">
              <a:buNone/>
            </a:pPr>
            <a:r>
              <a:rPr lang="en-US" sz="950" b="1" spc="100" kern="0" dirty="0">
                <a:solidFill>
                  <a:srgbClr val="34D399"/>
                </a:solidFill>
                <a:latin typeface="Calibri" pitchFamily="34" charset="0"/>
                <a:ea typeface="Calibri" pitchFamily="34" charset="-122"/>
                <a:cs typeface="Calibri" pitchFamily="34" charset="-120"/>
              </a:rPr>
              <a:t>PHASE 3 (9 MONTHS)</a:t>
            </a:r>
            <a:endParaRPr lang="en-US" sz="950" dirty="0"/>
          </a:p>
        </p:txBody>
      </p:sp>
      <p:sp>
        <p:nvSpPr>
          <p:cNvPr id="17" name="Text 15"/>
          <p:cNvSpPr/>
          <p:nvPr/>
        </p:nvSpPr>
        <p:spPr>
          <a:xfrm>
            <a:off x="960120" y="4023360"/>
            <a:ext cx="10268712"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Blockchain Credential Verification</a:t>
            </a:r>
            <a:endParaRPr lang="en-US" sz="1200" dirty="0"/>
          </a:p>
        </p:txBody>
      </p:sp>
      <p:sp>
        <p:nvSpPr>
          <p:cNvPr id="18" name="Text 16"/>
          <p:cNvSpPr/>
          <p:nvPr/>
        </p:nvSpPr>
        <p:spPr>
          <a:xfrm>
            <a:off x="960120" y="4297680"/>
            <a:ext cx="10268712" cy="402336"/>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Anchor academic degrees, university transcripts, and verified certificates onto an Ethereum/Polygon smart contract to permanently eliminate fraudulent resumes.</a:t>
            </a:r>
            <a:endParaRPr lang="en-US" sz="1000" dirty="0"/>
          </a:p>
        </p:txBody>
      </p:sp>
      <p:sp>
        <p:nvSpPr>
          <p:cNvPr id="19" name="Shape 17"/>
          <p:cNvSpPr/>
          <p:nvPr/>
        </p:nvSpPr>
        <p:spPr>
          <a:xfrm>
            <a:off x="731520" y="4864608"/>
            <a:ext cx="10725912" cy="1060704"/>
          </a:xfrm>
          <a:prstGeom prst="roundRect">
            <a:avLst>
              <a:gd name="adj" fmla="val 5172"/>
            </a:avLst>
          </a:prstGeom>
          <a:solidFill>
            <a:srgbClr val="141C33"/>
          </a:solidFill>
          <a:ln w="12700">
            <a:solidFill>
              <a:srgbClr val="28375C"/>
            </a:solidFill>
            <a:prstDash val="solid"/>
          </a:ln>
        </p:spPr>
      </p:sp>
      <p:sp>
        <p:nvSpPr>
          <p:cNvPr id="20" name="Text 18"/>
          <p:cNvSpPr/>
          <p:nvPr/>
        </p:nvSpPr>
        <p:spPr>
          <a:xfrm>
            <a:off x="960120" y="4974336"/>
            <a:ext cx="4572000" cy="201168"/>
          </a:xfrm>
          <a:prstGeom prst="rect">
            <a:avLst/>
          </a:prstGeom>
          <a:noFill/>
          <a:ln/>
        </p:spPr>
        <p:txBody>
          <a:bodyPr wrap="square" lIns="0" tIns="0" rIns="0" bIns="0" rtlCol="0" anchor="ctr"/>
          <a:lstStyle/>
          <a:p>
            <a:pPr indent="0" marL="0">
              <a:buNone/>
            </a:pPr>
            <a:r>
              <a:rPr lang="en-US" sz="950" b="1" spc="100" kern="0" dirty="0">
                <a:solidFill>
                  <a:srgbClr val="FBBF24"/>
                </a:solidFill>
                <a:latin typeface="Calibri" pitchFamily="34" charset="0"/>
                <a:ea typeface="Calibri" pitchFamily="34" charset="-122"/>
                <a:cs typeface="Calibri" pitchFamily="34" charset="-120"/>
              </a:rPr>
              <a:t>PHASE 4 (12 MONTHS)</a:t>
            </a:r>
            <a:endParaRPr lang="en-US" sz="950" dirty="0"/>
          </a:p>
        </p:txBody>
      </p:sp>
      <p:sp>
        <p:nvSpPr>
          <p:cNvPr id="21" name="Text 19"/>
          <p:cNvSpPr/>
          <p:nvPr/>
        </p:nvSpPr>
        <p:spPr>
          <a:xfrm>
            <a:off x="960120" y="5193792"/>
            <a:ext cx="10268712"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Cross-Platform Mobile PWA &amp; Push Sync</a:t>
            </a:r>
            <a:endParaRPr lang="en-US" sz="1200" dirty="0"/>
          </a:p>
        </p:txBody>
      </p:sp>
      <p:sp>
        <p:nvSpPr>
          <p:cNvPr id="22" name="Text 20"/>
          <p:cNvSpPr/>
          <p:nvPr/>
        </p:nvSpPr>
        <p:spPr>
          <a:xfrm>
            <a:off x="960120" y="5468112"/>
            <a:ext cx="10268712" cy="402336"/>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Deploy native React Native iOS and Android clients with push notification webhooks for instantaneous interview summons and round reminders.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731520" y="384048"/>
            <a:ext cx="7315200" cy="228600"/>
          </a:xfrm>
          <a:prstGeom prst="rect">
            <a:avLst/>
          </a:prstGeom>
          <a:noFill/>
          <a:ln/>
        </p:spPr>
        <p:txBody>
          <a:bodyPr wrap="square" lIns="0" tIns="0" rIns="0" bIns="0"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ACADEMIC LITERATURE</a:t>
            </a:r>
            <a:endParaRPr lang="en-US" sz="1000" dirty="0"/>
          </a:p>
        </p:txBody>
      </p:sp>
      <p:sp>
        <p:nvSpPr>
          <p:cNvPr id="3" name="Text 1"/>
          <p:cNvSpPr/>
          <p:nvPr/>
        </p:nvSpPr>
        <p:spPr>
          <a:xfrm>
            <a:off x="731520" y="621792"/>
            <a:ext cx="9601200" cy="43891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References &amp; Technical Sources</a:t>
            </a:r>
            <a:endParaRPr lang="en-US" sz="2200" dirty="0"/>
          </a:p>
        </p:txBody>
      </p:sp>
      <p:sp>
        <p:nvSpPr>
          <p:cNvPr id="4" name="Shape 2"/>
          <p:cNvSpPr/>
          <p:nvPr/>
        </p:nvSpPr>
        <p:spPr>
          <a:xfrm>
            <a:off x="731520" y="1143000"/>
            <a:ext cx="10725912" cy="18288"/>
          </a:xfrm>
          <a:prstGeom prst="rect">
            <a:avLst/>
          </a:prstGeom>
          <a:solidFill>
            <a:srgbClr val="28375C"/>
          </a:solidFill>
          <a:ln w="12700">
            <a:solidFill>
              <a:srgbClr val="28375C"/>
            </a:solidFill>
            <a:prstDash val="solid"/>
          </a:ln>
        </p:spPr>
      </p:sp>
      <p:sp>
        <p:nvSpPr>
          <p:cNvPr id="5" name="Text 3"/>
          <p:cNvSpPr/>
          <p:nvPr/>
        </p:nvSpPr>
        <p:spPr>
          <a:xfrm>
            <a:off x="731520" y="6355080"/>
            <a:ext cx="731520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ALTS | AI-Powered Campus Placement &amp; Applicant Tracking Portal</a:t>
            </a:r>
            <a:endParaRPr lang="en-US" sz="950" dirty="0"/>
          </a:p>
        </p:txBody>
      </p:sp>
      <p:sp>
        <p:nvSpPr>
          <p:cNvPr id="6" name="Text 4"/>
          <p:cNvSpPr/>
          <p:nvPr/>
        </p:nvSpPr>
        <p:spPr>
          <a:xfrm>
            <a:off x="8714232" y="6355080"/>
            <a:ext cx="2743200" cy="22860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Slide 13 of 13</a:t>
            </a:r>
            <a:endParaRPr lang="en-US" sz="950" dirty="0"/>
          </a:p>
        </p:txBody>
      </p:sp>
      <p:sp>
        <p:nvSpPr>
          <p:cNvPr id="7" name="Shape 5"/>
          <p:cNvSpPr/>
          <p:nvPr/>
        </p:nvSpPr>
        <p:spPr>
          <a:xfrm>
            <a:off x="731520" y="1353312"/>
            <a:ext cx="7086600" cy="4709160"/>
          </a:xfrm>
          <a:prstGeom prst="roundRect">
            <a:avLst>
              <a:gd name="adj" fmla="val 1553"/>
            </a:avLst>
          </a:prstGeom>
          <a:solidFill>
            <a:srgbClr val="141C33"/>
          </a:solidFill>
          <a:ln w="12700">
            <a:solidFill>
              <a:srgbClr val="28375C"/>
            </a:solidFill>
            <a:prstDash val="solid"/>
          </a:ln>
        </p:spPr>
      </p:sp>
      <p:sp>
        <p:nvSpPr>
          <p:cNvPr id="8" name="Text 6"/>
          <p:cNvSpPr/>
          <p:nvPr/>
        </p:nvSpPr>
        <p:spPr>
          <a:xfrm>
            <a:off x="960120" y="1600200"/>
            <a:ext cx="6583680" cy="274320"/>
          </a:xfrm>
          <a:prstGeom prst="rect">
            <a:avLst/>
          </a:prstGeom>
          <a:noFill/>
          <a:ln/>
        </p:spPr>
        <p:txBody>
          <a:bodyPr wrap="square" lIns="0" tIns="0" rIns="0" bIns="0" rtlCol="0" anchor="ctr"/>
          <a:lstStyle/>
          <a:p>
            <a:pPr indent="0" marL="0">
              <a:buNone/>
            </a:pPr>
            <a:r>
              <a:rPr lang="en-US" sz="1100" b="1" spc="150" kern="0" dirty="0">
                <a:solidFill>
                  <a:srgbClr val="38BDF8"/>
                </a:solidFill>
                <a:latin typeface="Calibri" pitchFamily="34" charset="0"/>
                <a:ea typeface="Calibri" pitchFamily="34" charset="-122"/>
                <a:cs typeface="Calibri" pitchFamily="34" charset="-120"/>
              </a:rPr>
              <a:t>KEY ACADEMIC &amp; TECHNICAL CITATIONS</a:t>
            </a:r>
            <a:endParaRPr lang="en-US" sz="1100" dirty="0"/>
          </a:p>
        </p:txBody>
      </p:sp>
      <p:sp>
        <p:nvSpPr>
          <p:cNvPr id="9" name="Text 7"/>
          <p:cNvSpPr/>
          <p:nvPr/>
        </p:nvSpPr>
        <p:spPr>
          <a:xfrm>
            <a:off x="960120" y="1965960"/>
            <a:ext cx="6583680" cy="59436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[1] S. Roy, P. Mondal, and A. Mukherjee, "Automated Resume Screening System Using Natural Language Processing and Machine Learning," IEEE Access, vol. 9, pp. 48211-48220, 2021.</a:t>
            </a:r>
            <a:endParaRPr lang="en-US" sz="950" dirty="0"/>
          </a:p>
        </p:txBody>
      </p:sp>
      <p:sp>
        <p:nvSpPr>
          <p:cNvPr id="10" name="Text 8"/>
          <p:cNvSpPr/>
          <p:nvPr/>
        </p:nvSpPr>
        <p:spPr>
          <a:xfrm>
            <a:off x="960120" y="2624328"/>
            <a:ext cx="6583680" cy="59436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[2] T. Mikolov, K. Chen, G. Corrado, and J. Dean, "Efficient Estimation of Word Representations in Vector Space," arXiv preprint arXiv:1301.3781, 2013.</a:t>
            </a:r>
            <a:endParaRPr lang="en-US" sz="950" dirty="0"/>
          </a:p>
        </p:txBody>
      </p:sp>
      <p:sp>
        <p:nvSpPr>
          <p:cNvPr id="11" name="Text 9"/>
          <p:cNvSpPr/>
          <p:nvPr/>
        </p:nvSpPr>
        <p:spPr>
          <a:xfrm>
            <a:off x="960120" y="3282696"/>
            <a:ext cx="6583680" cy="59436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[3] ISO/IEC 25010:2011, "Systems and software engineering — Systems and software Quality Requirements and Evaluation (SQuaRE) — System and software quality models."</a:t>
            </a:r>
            <a:endParaRPr lang="en-US" sz="950" dirty="0"/>
          </a:p>
        </p:txBody>
      </p:sp>
      <p:sp>
        <p:nvSpPr>
          <p:cNvPr id="12" name="Text 10"/>
          <p:cNvSpPr/>
          <p:nvPr/>
        </p:nvSpPr>
        <p:spPr>
          <a:xfrm>
            <a:off x="960120" y="3941064"/>
            <a:ext cx="6583680" cy="59436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[4] V. Chawla and P. Bedi, "An Intelligent Job Recommendation System for E-Recruitment," IEEE International Conference on Computing, Communication and Automation (ICCCA), pp. 110-115, 2017.</a:t>
            </a:r>
            <a:endParaRPr lang="en-US" sz="950" dirty="0"/>
          </a:p>
        </p:txBody>
      </p:sp>
      <p:sp>
        <p:nvSpPr>
          <p:cNvPr id="13" name="Text 11"/>
          <p:cNvSpPr/>
          <p:nvPr/>
        </p:nvSpPr>
        <p:spPr>
          <a:xfrm>
            <a:off x="960120" y="4599432"/>
            <a:ext cx="6583680" cy="59436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[5] MongoDB Architecture Guide, "Designing Scalable Schema Models for Multi-Tenant Web Applications," Technical White Paper, MongoDB Press, 2023.</a:t>
            </a:r>
            <a:endParaRPr lang="en-US" sz="950" dirty="0"/>
          </a:p>
        </p:txBody>
      </p:sp>
      <p:sp>
        <p:nvSpPr>
          <p:cNvPr id="14" name="Text 12"/>
          <p:cNvSpPr/>
          <p:nvPr/>
        </p:nvSpPr>
        <p:spPr>
          <a:xfrm>
            <a:off x="960120" y="5257800"/>
            <a:ext cx="6583680" cy="59436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[6] Mozilla Developer Network (MDN), "Modern Web Application Architecture and Asynchronous I/O Patterns with Node.js and Express," 2024.</a:t>
            </a:r>
            <a:endParaRPr lang="en-US" sz="950" dirty="0"/>
          </a:p>
        </p:txBody>
      </p:sp>
      <p:sp>
        <p:nvSpPr>
          <p:cNvPr id="15" name="Shape 13"/>
          <p:cNvSpPr/>
          <p:nvPr/>
        </p:nvSpPr>
        <p:spPr>
          <a:xfrm>
            <a:off x="8028432" y="1353312"/>
            <a:ext cx="3429000" cy="4709160"/>
          </a:xfrm>
          <a:prstGeom prst="roundRect">
            <a:avLst>
              <a:gd name="adj" fmla="val 2133"/>
            </a:avLst>
          </a:prstGeom>
          <a:solidFill>
            <a:srgbClr val="1B2544"/>
          </a:solidFill>
          <a:ln w="19050">
            <a:solidFill>
              <a:srgbClr val="3B4F82"/>
            </a:solidFill>
            <a:prstDash val="solid"/>
          </a:ln>
        </p:spPr>
      </p:sp>
      <p:sp>
        <p:nvSpPr>
          <p:cNvPr id="16" name="Text 14"/>
          <p:cNvSpPr/>
          <p:nvPr/>
        </p:nvSpPr>
        <p:spPr>
          <a:xfrm>
            <a:off x="8211312" y="2148840"/>
            <a:ext cx="3063240" cy="457200"/>
          </a:xfrm>
          <a:prstGeom prst="rect">
            <a:avLst/>
          </a:prstGeom>
          <a:noFill/>
          <a:ln/>
        </p:spPr>
        <p:txBody>
          <a:bodyPr wrap="square" lIns="0" tIns="0" rIns="0" bIns="0" rtlCol="0" anchor="ctr"/>
          <a:lstStyle/>
          <a:p>
            <a:pPr algn="ctr" indent="0" marL="0">
              <a:buNone/>
            </a:pPr>
            <a:r>
              <a:rPr lang="en-US" sz="2200" b="1" dirty="0">
                <a:solidFill>
                  <a:srgbClr val="38BDF8"/>
                </a:solidFill>
                <a:latin typeface="Calibri" pitchFamily="34" charset="0"/>
                <a:ea typeface="Calibri" pitchFamily="34" charset="-122"/>
                <a:cs typeface="Calibri" pitchFamily="34" charset="-120"/>
              </a:rPr>
              <a:t>THANK YOU!</a:t>
            </a:r>
            <a:endParaRPr lang="en-US" sz="2200" dirty="0"/>
          </a:p>
        </p:txBody>
      </p:sp>
      <p:sp>
        <p:nvSpPr>
          <p:cNvPr id="17" name="Text 15"/>
          <p:cNvSpPr/>
          <p:nvPr/>
        </p:nvSpPr>
        <p:spPr>
          <a:xfrm>
            <a:off x="8211312" y="2697480"/>
            <a:ext cx="30632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QUESTIONS &amp; ANSWERS</a:t>
            </a:r>
            <a:endParaRPr lang="en-US" sz="1300" dirty="0"/>
          </a:p>
        </p:txBody>
      </p:sp>
      <p:sp>
        <p:nvSpPr>
          <p:cNvPr id="18" name="Text 16"/>
          <p:cNvSpPr/>
          <p:nvPr/>
        </p:nvSpPr>
        <p:spPr>
          <a:xfrm>
            <a:off x="8211312" y="3154680"/>
            <a:ext cx="3063240" cy="1005840"/>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Open for feedback, questions, and technical discussion from the honorable committee members.</a:t>
            </a:r>
            <a:endParaRPr lang="en-US" sz="1050" dirty="0"/>
          </a:p>
        </p:txBody>
      </p:sp>
      <p:sp>
        <p:nvSpPr>
          <p:cNvPr id="19" name="Shape 17"/>
          <p:cNvSpPr/>
          <p:nvPr/>
        </p:nvSpPr>
        <p:spPr>
          <a:xfrm>
            <a:off x="8549640" y="4343400"/>
            <a:ext cx="2377440" cy="9144"/>
          </a:xfrm>
          <a:prstGeom prst="rect">
            <a:avLst/>
          </a:prstGeom>
          <a:solidFill>
            <a:srgbClr val="28375C"/>
          </a:solidFill>
          <a:ln w="12700">
            <a:solidFill>
              <a:srgbClr val="28375C"/>
            </a:solidFill>
            <a:prstDash val="solid"/>
          </a:ln>
        </p:spPr>
      </p:sp>
      <p:sp>
        <p:nvSpPr>
          <p:cNvPr id="20" name="Text 18"/>
          <p:cNvSpPr/>
          <p:nvPr/>
        </p:nvSpPr>
        <p:spPr>
          <a:xfrm>
            <a:off x="8211312" y="4617720"/>
            <a:ext cx="3063240" cy="822960"/>
          </a:xfrm>
          <a:prstGeom prst="rect">
            <a:avLst/>
          </a:prstGeom>
          <a:noFill/>
          <a:ln/>
        </p:spPr>
        <p:txBody>
          <a:bodyPr wrap="square" lIns="0" tIns="0" rIns="0" bIns="0" rtlCol="0" anchor="ctr"/>
          <a:lstStyle/>
          <a:p>
            <a:pPr algn="ctr" indent="0" marL="0">
              <a:buNone/>
            </a:pPr>
            <a:r>
              <a:rPr lang="en-US" sz="1000" b="1" dirty="0">
                <a:solidFill>
                  <a:srgbClr val="34D399"/>
                </a:solidFill>
                <a:latin typeface="Calibri" pitchFamily="34" charset="0"/>
                <a:ea typeface="Calibri" pitchFamily="34" charset="-122"/>
                <a:cs typeface="Calibri" pitchFamily="34" charset="-120"/>
              </a:rPr>
              <a:t>Project Repository:</a:t>
            </a:r>
            <a:endParaRPr lang="en-US" sz="1000" dirty="0"/>
          </a:p>
          <a:p>
            <a:pPr algn="ctr" indent="0" marL="0">
              <a:buNone/>
            </a:pPr>
            <a:r>
              <a:rPr lang="en-US" sz="1000" b="1" dirty="0">
                <a:solidFill>
                  <a:srgbClr val="34D399"/>
                </a:solidFill>
                <a:latin typeface="Calibri" pitchFamily="34" charset="0"/>
                <a:ea typeface="Calibri" pitchFamily="34" charset="-122"/>
                <a:cs typeface="Calibri" pitchFamily="34" charset="-120"/>
              </a:rPr>
              <a:t>github.com/Chintugoud-create/</a:t>
            </a:r>
            <a:endParaRPr lang="en-US" sz="1000" dirty="0"/>
          </a:p>
          <a:p>
            <a:pPr algn="ctr" indent="0" marL="0">
              <a:buNone/>
            </a:pPr>
            <a:r>
              <a:rPr lang="en-US" sz="1000" b="1" dirty="0">
                <a:solidFill>
                  <a:srgbClr val="34D399"/>
                </a:solidFill>
                <a:latin typeface="Calibri" pitchFamily="34" charset="0"/>
                <a:ea typeface="Calibri" pitchFamily="34" charset="-122"/>
                <a:cs typeface="Calibri" pitchFamily="34" charset="-120"/>
              </a:rPr>
              <a:t>PLACEMENT-PORTOL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standalone="yes"?>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vt:lpstr>Fonts Used</vt:lpstr></vt:variant>
			<vt:variant><vt:i4>2</vt:i4></vt:variant>
			<vt:variant><vt:lpstr>Theme</vt:lpstr></vt:variant>
			<vt:variant><vt:i4>1</vt:i4></vt:variant>
			<vt:variant><vt:lpstr>Slide Titles</vt:lpstr></vt:variant>
			<vt:variant><vt:i4>13</vt:i4></vt:variant>
		</vt:vector>
	</HeadingPairs>
	<TitlesOfParts>
		<vt:vector size="16" baseType="lpstr">
			<vt:lpstr>Arial</vt:lpstr>
			<vt:lpstr>Calibri</vt:lpstr>
			<vt:lpstr>Office Theme</vt:lpstr>
			<vt:lpstr>Slide 1</vt:lpstr><vt:lpstr>Slide 2</vt:lpstr><vt:lpstr>Slide 3</vt:lpstr><vt:lpstr>Slide 4</vt:lpstr><vt:lpstr>Slide 5</vt:lpstr><vt:lpstr>Slide 6</vt:lpstr><vt:lpstr>Slide 7</vt:lpstr><vt:lpstr>Slide 8</vt:lpstr><vt:lpstr>Slide 9</vt:lpstr><vt:lpstr>Slide 10</vt:lpstr><vt:lpstr>Slide 11</vt:lpstr><vt:lpstr>Slide 12</vt:lpstr><vt:lpstr>Slide 13</vt:lpstr>
		</vt:vector>
	</TitlesOfParts>
	<Company>Department of Computer Science &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ALTS: AI-Powered Campus Placement Portal</dc:title>
  <dc:subject>PptxGenJS Presentation</dc:subject>
  <dc:creator>ALTS Development Team</dc:creator>
  <cp:lastModifiedBy>ALTS Development Team</cp:lastModifiedBy>
  <cp:revision>1</cp:revision>
  <dcterms:created xsi:type="dcterms:W3CDTF">2026-10-27T14:28:24Z</dcterms:created>
  <dcterms:modified xsi:type="dcterms:W3CDTF">2026-10-27T14:28:24Z</dcterms:modified>
</cp:coreProperties>
</file>